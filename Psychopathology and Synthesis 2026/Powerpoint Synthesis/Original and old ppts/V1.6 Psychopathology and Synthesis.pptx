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7"/>
  </p:notesMasterIdLst>
  <p:sldIdLst>
    <p:sldId id="387" r:id="rId5"/>
    <p:sldId id="500" r:id="rId6"/>
    <p:sldId id="393" r:id="rId7"/>
    <p:sldId id="554" r:id="rId8"/>
    <p:sldId id="546" r:id="rId9"/>
    <p:sldId id="547" r:id="rId10"/>
    <p:sldId id="569" r:id="rId11"/>
    <p:sldId id="557" r:id="rId12"/>
    <p:sldId id="482" r:id="rId13"/>
    <p:sldId id="399" r:id="rId14"/>
    <p:sldId id="400" r:id="rId15"/>
    <p:sldId id="574" r:id="rId16"/>
    <p:sldId id="573" r:id="rId17"/>
    <p:sldId id="570" r:id="rId18"/>
    <p:sldId id="392" r:id="rId19"/>
    <p:sldId id="388" r:id="rId20"/>
    <p:sldId id="389" r:id="rId21"/>
    <p:sldId id="571" r:id="rId22"/>
    <p:sldId id="539" r:id="rId23"/>
    <p:sldId id="459" r:id="rId24"/>
    <p:sldId id="390" r:id="rId25"/>
    <p:sldId id="572" r:id="rId26"/>
    <p:sldId id="549" r:id="rId27"/>
    <p:sldId id="550" r:id="rId28"/>
    <p:sldId id="552" r:id="rId29"/>
    <p:sldId id="553" r:id="rId30"/>
    <p:sldId id="568" r:id="rId31"/>
    <p:sldId id="567" r:id="rId32"/>
    <p:sldId id="551" r:id="rId33"/>
    <p:sldId id="529" r:id="rId34"/>
    <p:sldId id="357" r:id="rId35"/>
    <p:sldId id="391" r:id="rId36"/>
  </p:sldIdLst>
  <p:sldSz cx="12192000" cy="6858000"/>
  <p:notesSz cx="7011988" cy="92979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58287E3-2986-4574-B527-35BDA0CFDEEE}">
          <p14:sldIdLst>
            <p14:sldId id="387"/>
            <p14:sldId id="500"/>
            <p14:sldId id="393"/>
            <p14:sldId id="554"/>
            <p14:sldId id="546"/>
            <p14:sldId id="547"/>
            <p14:sldId id="569"/>
            <p14:sldId id="557"/>
            <p14:sldId id="482"/>
            <p14:sldId id="399"/>
            <p14:sldId id="400"/>
            <p14:sldId id="574"/>
            <p14:sldId id="573"/>
            <p14:sldId id="570"/>
            <p14:sldId id="392"/>
            <p14:sldId id="388"/>
            <p14:sldId id="389"/>
            <p14:sldId id="571"/>
            <p14:sldId id="539"/>
            <p14:sldId id="459"/>
            <p14:sldId id="390"/>
            <p14:sldId id="572"/>
            <p14:sldId id="549"/>
            <p14:sldId id="550"/>
            <p14:sldId id="552"/>
            <p14:sldId id="553"/>
            <p14:sldId id="568"/>
            <p14:sldId id="567"/>
            <p14:sldId id="551"/>
            <p14:sldId id="529"/>
            <p14:sldId id="357"/>
            <p14:sldId id="39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9D88"/>
    <a:srgbClr val="2A60B6"/>
    <a:srgbClr val="FFFFFF"/>
    <a:srgbClr val="95B1B5"/>
    <a:srgbClr val="8C8C8C"/>
    <a:srgbClr val="888888"/>
    <a:srgbClr val="5FB9A4"/>
    <a:srgbClr val="557377"/>
    <a:srgbClr val="557777"/>
    <a:srgbClr val="5EBA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73B459-BFDF-429B-9F09-35D70B7E18DA}" v="1" dt="2024-04-05T12:00:07.0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71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FB7F19-93B8-44E0-A839-6DA3E39BC99D}" type="doc">
      <dgm:prSet loTypeId="urn:microsoft.com/office/officeart/2008/layout/LinedList" loCatId="list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51F9EF7-6F9A-44B2-91B6-E646F000CCB4}">
      <dgm:prSet/>
      <dgm:spPr/>
      <dgm:t>
        <a:bodyPr/>
        <a:lstStyle/>
        <a:p>
          <a:r>
            <a:rPr lang="en-US" b="1" i="0" dirty="0"/>
            <a:t>Sensory Processing Differences and Interventions</a:t>
          </a:r>
          <a:endParaRPr lang="en-US" dirty="0"/>
        </a:p>
      </dgm:t>
    </dgm:pt>
    <dgm:pt modelId="{FDF2471E-584C-4658-99CC-E6CE5E2D94B4}" type="parTrans" cxnId="{FA2B4FA3-9DC2-4FD7-9A16-EDC53FF6CDFD}">
      <dgm:prSet/>
      <dgm:spPr/>
      <dgm:t>
        <a:bodyPr/>
        <a:lstStyle/>
        <a:p>
          <a:endParaRPr lang="en-US"/>
        </a:p>
      </dgm:t>
    </dgm:pt>
    <dgm:pt modelId="{89283C76-07FD-4412-B87D-37184A7274CA}" type="sibTrans" cxnId="{FA2B4FA3-9DC2-4FD7-9A16-EDC53FF6CDFD}">
      <dgm:prSet/>
      <dgm:spPr/>
      <dgm:t>
        <a:bodyPr/>
        <a:lstStyle/>
        <a:p>
          <a:endParaRPr lang="en-US"/>
        </a:p>
      </dgm:t>
    </dgm:pt>
    <dgm:pt modelId="{4A4A7E1F-5F16-4F25-961F-B7AF9C06D46D}">
      <dgm:prSet/>
      <dgm:spPr/>
      <dgm:t>
        <a:bodyPr/>
        <a:lstStyle/>
        <a:p>
          <a:r>
            <a:rPr lang="en-US" b="1" i="0" dirty="0"/>
            <a:t>Executive Functioning Challenges and Support</a:t>
          </a:r>
          <a:endParaRPr lang="en-US" dirty="0"/>
        </a:p>
      </dgm:t>
    </dgm:pt>
    <dgm:pt modelId="{01D03379-3BE3-41F7-96FF-B4AB6083D174}" type="parTrans" cxnId="{400754F8-4A00-4F52-856F-5AD58193FF09}">
      <dgm:prSet/>
      <dgm:spPr/>
      <dgm:t>
        <a:bodyPr/>
        <a:lstStyle/>
        <a:p>
          <a:endParaRPr lang="en-US"/>
        </a:p>
      </dgm:t>
    </dgm:pt>
    <dgm:pt modelId="{EDEC7D0A-BC8D-4CCA-9EDE-9A7F18C3E66C}" type="sibTrans" cxnId="{400754F8-4A00-4F52-856F-5AD58193FF09}">
      <dgm:prSet/>
      <dgm:spPr/>
      <dgm:t>
        <a:bodyPr/>
        <a:lstStyle/>
        <a:p>
          <a:endParaRPr lang="en-US"/>
        </a:p>
      </dgm:t>
    </dgm:pt>
    <dgm:pt modelId="{FE351EC9-C7C7-48DC-B29E-9D51C6533FEF}">
      <dgm:prSet/>
      <dgm:spPr/>
      <dgm:t>
        <a:bodyPr/>
        <a:lstStyle/>
        <a:p>
          <a:r>
            <a:rPr lang="en-US" b="1" i="0" dirty="0"/>
            <a:t>Social Communication Nuances and Interventions</a:t>
          </a:r>
          <a:endParaRPr lang="en-US" dirty="0"/>
        </a:p>
      </dgm:t>
    </dgm:pt>
    <dgm:pt modelId="{D4799920-223B-482D-802F-A1A5FBB50EB9}" type="parTrans" cxnId="{1FC7D270-4B56-4E55-B44F-A92612BE6EA9}">
      <dgm:prSet/>
      <dgm:spPr/>
      <dgm:t>
        <a:bodyPr/>
        <a:lstStyle/>
        <a:p>
          <a:endParaRPr lang="en-US"/>
        </a:p>
      </dgm:t>
    </dgm:pt>
    <dgm:pt modelId="{283030FC-53A0-4083-8154-D7B945A6E292}" type="sibTrans" cxnId="{1FC7D270-4B56-4E55-B44F-A92612BE6EA9}">
      <dgm:prSet/>
      <dgm:spPr/>
      <dgm:t>
        <a:bodyPr/>
        <a:lstStyle/>
        <a:p>
          <a:endParaRPr lang="en-US"/>
        </a:p>
      </dgm:t>
    </dgm:pt>
    <dgm:pt modelId="{573457F9-9203-4A3D-A294-07B587B1DAEB}">
      <dgm:prSet/>
      <dgm:spPr/>
      <dgm:t>
        <a:bodyPr/>
        <a:lstStyle/>
        <a:p>
          <a:r>
            <a:rPr lang="en-US" b="1" i="0" dirty="0"/>
            <a:t> </a:t>
          </a:r>
          <a:endParaRPr lang="en-US" dirty="0"/>
        </a:p>
      </dgm:t>
    </dgm:pt>
    <dgm:pt modelId="{417E6970-E1DB-42D4-B46C-A66F047942F9}" type="parTrans" cxnId="{9D4FBE62-A582-4856-B82D-62F982DD5607}">
      <dgm:prSet/>
      <dgm:spPr/>
      <dgm:t>
        <a:bodyPr/>
        <a:lstStyle/>
        <a:p>
          <a:endParaRPr lang="en-US"/>
        </a:p>
      </dgm:t>
    </dgm:pt>
    <dgm:pt modelId="{8CDB5EB6-0965-4D08-93A4-D806E3DDE990}" type="sibTrans" cxnId="{9D4FBE62-A582-4856-B82D-62F982DD5607}">
      <dgm:prSet/>
      <dgm:spPr/>
      <dgm:t>
        <a:bodyPr/>
        <a:lstStyle/>
        <a:p>
          <a:endParaRPr lang="en-US"/>
        </a:p>
      </dgm:t>
    </dgm:pt>
    <dgm:pt modelId="{7B1407D2-D921-4E6E-AE28-52EEDDD91185}">
      <dgm:prSet/>
      <dgm:spPr/>
      <dgm:t>
        <a:bodyPr/>
        <a:lstStyle/>
        <a:p>
          <a:r>
            <a:rPr lang="en-US" b="1" i="0" dirty="0"/>
            <a:t>Co-occurring Mental Health Conditions in Neurodiversity</a:t>
          </a:r>
          <a:endParaRPr lang="en-US" dirty="0"/>
        </a:p>
      </dgm:t>
    </dgm:pt>
    <dgm:pt modelId="{03C795CA-E039-4FF8-BF57-4C4EAC5A1624}" type="parTrans" cxnId="{B90FB5C6-6451-412B-81DF-082C6F1F3326}">
      <dgm:prSet/>
      <dgm:spPr/>
      <dgm:t>
        <a:bodyPr/>
        <a:lstStyle/>
        <a:p>
          <a:endParaRPr lang="en-US"/>
        </a:p>
      </dgm:t>
    </dgm:pt>
    <dgm:pt modelId="{8C833F90-AD71-4E3F-8A47-6A89AF760218}" type="sibTrans" cxnId="{B90FB5C6-6451-412B-81DF-082C6F1F3326}">
      <dgm:prSet/>
      <dgm:spPr/>
      <dgm:t>
        <a:bodyPr/>
        <a:lstStyle/>
        <a:p>
          <a:endParaRPr lang="en-US"/>
        </a:p>
      </dgm:t>
    </dgm:pt>
    <dgm:pt modelId="{A43615E6-FD83-4959-B899-F6544F6EFD1B}">
      <dgm:prSet/>
      <dgm:spPr/>
      <dgm:t>
        <a:bodyPr/>
        <a:lstStyle/>
        <a:p>
          <a:r>
            <a:rPr lang="en-US" b="1" i="0" dirty="0"/>
            <a:t>Trauma and Neurodiversity</a:t>
          </a:r>
          <a:endParaRPr lang="en-US" dirty="0"/>
        </a:p>
      </dgm:t>
    </dgm:pt>
    <dgm:pt modelId="{77761E72-4E43-4667-BA89-59E9BB55E1D2}" type="parTrans" cxnId="{57F375A2-5A51-4A90-A3B6-F09B4608802C}">
      <dgm:prSet/>
      <dgm:spPr/>
      <dgm:t>
        <a:bodyPr/>
        <a:lstStyle/>
        <a:p>
          <a:endParaRPr lang="en-US"/>
        </a:p>
      </dgm:t>
    </dgm:pt>
    <dgm:pt modelId="{3FCA5A8D-8A37-448F-B8DA-9DAB05D1F42A}" type="sibTrans" cxnId="{57F375A2-5A51-4A90-A3B6-F09B4608802C}">
      <dgm:prSet/>
      <dgm:spPr/>
      <dgm:t>
        <a:bodyPr/>
        <a:lstStyle/>
        <a:p>
          <a:endParaRPr lang="en-US"/>
        </a:p>
      </dgm:t>
    </dgm:pt>
    <dgm:pt modelId="{4DBD1ACF-A005-4F36-97FE-A2C52BB0212B}">
      <dgm:prSet/>
      <dgm:spPr/>
      <dgm:t>
        <a:bodyPr/>
        <a:lstStyle/>
        <a:p>
          <a:r>
            <a:rPr lang="en-US" b="1" i="0" dirty="0"/>
            <a:t> </a:t>
          </a:r>
          <a:endParaRPr lang="en-US" dirty="0"/>
        </a:p>
      </dgm:t>
    </dgm:pt>
    <dgm:pt modelId="{FB68D8F9-46FF-4D8A-8CB0-16A5CD54E1E1}" type="parTrans" cxnId="{7812B4D0-B8AB-4761-AE62-0D6571DBA5D6}">
      <dgm:prSet/>
      <dgm:spPr/>
      <dgm:t>
        <a:bodyPr/>
        <a:lstStyle/>
        <a:p>
          <a:endParaRPr lang="en-US"/>
        </a:p>
      </dgm:t>
    </dgm:pt>
    <dgm:pt modelId="{3661B85D-C349-420F-8DAF-2BA0A36C57B1}" type="sibTrans" cxnId="{7812B4D0-B8AB-4761-AE62-0D6571DBA5D6}">
      <dgm:prSet/>
      <dgm:spPr/>
      <dgm:t>
        <a:bodyPr/>
        <a:lstStyle/>
        <a:p>
          <a:endParaRPr lang="en-US"/>
        </a:p>
      </dgm:t>
    </dgm:pt>
    <dgm:pt modelId="{6CB59D6B-A552-4137-927B-46AEEEA61026}">
      <dgm:prSet/>
      <dgm:spPr/>
      <dgm:t>
        <a:bodyPr/>
        <a:lstStyle/>
        <a:p>
          <a:r>
            <a:rPr lang="en-US" b="1" i="0" dirty="0"/>
            <a:t>Intersectionality and Neurodiversity</a:t>
          </a:r>
          <a:endParaRPr lang="en-US" dirty="0"/>
        </a:p>
      </dgm:t>
    </dgm:pt>
    <dgm:pt modelId="{0D615341-B647-4222-BEC6-ADDFA6A4BB27}" type="parTrans" cxnId="{89CFB0D2-346D-4F00-A85B-BBFBFFB2D889}">
      <dgm:prSet/>
      <dgm:spPr/>
      <dgm:t>
        <a:bodyPr/>
        <a:lstStyle/>
        <a:p>
          <a:endParaRPr lang="en-US"/>
        </a:p>
      </dgm:t>
    </dgm:pt>
    <dgm:pt modelId="{7C99C2DF-3125-4E8F-9A55-3936EAB82B9B}" type="sibTrans" cxnId="{89CFB0D2-346D-4F00-A85B-BBFBFFB2D889}">
      <dgm:prSet/>
      <dgm:spPr/>
      <dgm:t>
        <a:bodyPr/>
        <a:lstStyle/>
        <a:p>
          <a:endParaRPr lang="en-US"/>
        </a:p>
      </dgm:t>
    </dgm:pt>
    <dgm:pt modelId="{573634B4-B1F9-46DC-9388-E95037CE3CD3}" type="pres">
      <dgm:prSet presAssocID="{C4FB7F19-93B8-44E0-A839-6DA3E39BC99D}" presName="vert0" presStyleCnt="0">
        <dgm:presLayoutVars>
          <dgm:dir/>
          <dgm:animOne val="branch"/>
          <dgm:animLvl val="lvl"/>
        </dgm:presLayoutVars>
      </dgm:prSet>
      <dgm:spPr/>
    </dgm:pt>
    <dgm:pt modelId="{F5D3CADB-CF16-444F-854C-6025C3CDB7A2}" type="pres">
      <dgm:prSet presAssocID="{451F9EF7-6F9A-44B2-91B6-E646F000CCB4}" presName="thickLine" presStyleLbl="alignNode1" presStyleIdx="0" presStyleCnt="8"/>
      <dgm:spPr/>
    </dgm:pt>
    <dgm:pt modelId="{3B4CE28E-56EE-4D9F-B926-FD5E8644CA63}" type="pres">
      <dgm:prSet presAssocID="{451F9EF7-6F9A-44B2-91B6-E646F000CCB4}" presName="horz1" presStyleCnt="0"/>
      <dgm:spPr/>
    </dgm:pt>
    <dgm:pt modelId="{5D2C837C-690C-4ABC-9F85-D6F0339D9866}" type="pres">
      <dgm:prSet presAssocID="{451F9EF7-6F9A-44B2-91B6-E646F000CCB4}" presName="tx1" presStyleLbl="revTx" presStyleIdx="0" presStyleCnt="8"/>
      <dgm:spPr/>
    </dgm:pt>
    <dgm:pt modelId="{F42712DD-B406-4383-BDF2-483185C3266E}" type="pres">
      <dgm:prSet presAssocID="{451F9EF7-6F9A-44B2-91B6-E646F000CCB4}" presName="vert1" presStyleCnt="0"/>
      <dgm:spPr/>
    </dgm:pt>
    <dgm:pt modelId="{8CD879EF-6809-4811-ACC3-A35B6D163AC9}" type="pres">
      <dgm:prSet presAssocID="{4A4A7E1F-5F16-4F25-961F-B7AF9C06D46D}" presName="thickLine" presStyleLbl="alignNode1" presStyleIdx="1" presStyleCnt="8"/>
      <dgm:spPr/>
    </dgm:pt>
    <dgm:pt modelId="{4C00394F-06B2-47D3-A4A0-826E03A3281C}" type="pres">
      <dgm:prSet presAssocID="{4A4A7E1F-5F16-4F25-961F-B7AF9C06D46D}" presName="horz1" presStyleCnt="0"/>
      <dgm:spPr/>
    </dgm:pt>
    <dgm:pt modelId="{664BD004-65D8-40A3-B66A-AD88AD7FBC92}" type="pres">
      <dgm:prSet presAssocID="{4A4A7E1F-5F16-4F25-961F-B7AF9C06D46D}" presName="tx1" presStyleLbl="revTx" presStyleIdx="1" presStyleCnt="8"/>
      <dgm:spPr/>
    </dgm:pt>
    <dgm:pt modelId="{361C43DF-4577-4513-88ED-FE13C6A90145}" type="pres">
      <dgm:prSet presAssocID="{4A4A7E1F-5F16-4F25-961F-B7AF9C06D46D}" presName="vert1" presStyleCnt="0"/>
      <dgm:spPr/>
    </dgm:pt>
    <dgm:pt modelId="{EAE12455-C277-42BC-90DF-ACDAB0D8526E}" type="pres">
      <dgm:prSet presAssocID="{FE351EC9-C7C7-48DC-B29E-9D51C6533FEF}" presName="thickLine" presStyleLbl="alignNode1" presStyleIdx="2" presStyleCnt="8"/>
      <dgm:spPr/>
    </dgm:pt>
    <dgm:pt modelId="{0BC71D48-2CF5-4451-B607-068EC80D2E53}" type="pres">
      <dgm:prSet presAssocID="{FE351EC9-C7C7-48DC-B29E-9D51C6533FEF}" presName="horz1" presStyleCnt="0"/>
      <dgm:spPr/>
    </dgm:pt>
    <dgm:pt modelId="{9261F3F6-DA41-4BCD-870D-EE55BB49364D}" type="pres">
      <dgm:prSet presAssocID="{FE351EC9-C7C7-48DC-B29E-9D51C6533FEF}" presName="tx1" presStyleLbl="revTx" presStyleIdx="2" presStyleCnt="8"/>
      <dgm:spPr/>
    </dgm:pt>
    <dgm:pt modelId="{E8FEF7F9-389E-463D-B399-550F554E01CD}" type="pres">
      <dgm:prSet presAssocID="{FE351EC9-C7C7-48DC-B29E-9D51C6533FEF}" presName="vert1" presStyleCnt="0"/>
      <dgm:spPr/>
    </dgm:pt>
    <dgm:pt modelId="{BD673A62-018D-43B0-98AC-0217ADF17FD4}" type="pres">
      <dgm:prSet presAssocID="{573457F9-9203-4A3D-A294-07B587B1DAEB}" presName="thickLine" presStyleLbl="alignNode1" presStyleIdx="3" presStyleCnt="8"/>
      <dgm:spPr/>
    </dgm:pt>
    <dgm:pt modelId="{E765F749-4F76-433C-99E8-9BB9A0730D10}" type="pres">
      <dgm:prSet presAssocID="{573457F9-9203-4A3D-A294-07B587B1DAEB}" presName="horz1" presStyleCnt="0"/>
      <dgm:spPr/>
    </dgm:pt>
    <dgm:pt modelId="{49971CB5-DCE1-4DFA-AF8B-6B30FED8CB6D}" type="pres">
      <dgm:prSet presAssocID="{573457F9-9203-4A3D-A294-07B587B1DAEB}" presName="tx1" presStyleLbl="revTx" presStyleIdx="3" presStyleCnt="8"/>
      <dgm:spPr/>
    </dgm:pt>
    <dgm:pt modelId="{C042972C-0078-48A9-B99A-0579BB029143}" type="pres">
      <dgm:prSet presAssocID="{573457F9-9203-4A3D-A294-07B587B1DAEB}" presName="vert1" presStyleCnt="0"/>
      <dgm:spPr/>
    </dgm:pt>
    <dgm:pt modelId="{FB78FDE4-0871-4CB8-8120-B583B6C4DE1B}" type="pres">
      <dgm:prSet presAssocID="{7B1407D2-D921-4E6E-AE28-52EEDDD91185}" presName="thickLine" presStyleLbl="alignNode1" presStyleIdx="4" presStyleCnt="8"/>
      <dgm:spPr/>
    </dgm:pt>
    <dgm:pt modelId="{0D66EF6C-0653-4C3C-9C0C-2D435FD5E5A2}" type="pres">
      <dgm:prSet presAssocID="{7B1407D2-D921-4E6E-AE28-52EEDDD91185}" presName="horz1" presStyleCnt="0"/>
      <dgm:spPr/>
    </dgm:pt>
    <dgm:pt modelId="{5EFB8714-27AD-4CA0-A9C3-A4256F9493D8}" type="pres">
      <dgm:prSet presAssocID="{7B1407D2-D921-4E6E-AE28-52EEDDD91185}" presName="tx1" presStyleLbl="revTx" presStyleIdx="4" presStyleCnt="8"/>
      <dgm:spPr/>
    </dgm:pt>
    <dgm:pt modelId="{85994CA4-C64F-4B7E-A583-F94191908FAA}" type="pres">
      <dgm:prSet presAssocID="{7B1407D2-D921-4E6E-AE28-52EEDDD91185}" presName="vert1" presStyleCnt="0"/>
      <dgm:spPr/>
    </dgm:pt>
    <dgm:pt modelId="{3FC7A76C-6D2E-4804-85E5-2AB609AB7730}" type="pres">
      <dgm:prSet presAssocID="{A43615E6-FD83-4959-B899-F6544F6EFD1B}" presName="thickLine" presStyleLbl="alignNode1" presStyleIdx="5" presStyleCnt="8"/>
      <dgm:spPr/>
    </dgm:pt>
    <dgm:pt modelId="{A623AAD0-4B6D-474E-A348-67E379B1ED22}" type="pres">
      <dgm:prSet presAssocID="{A43615E6-FD83-4959-B899-F6544F6EFD1B}" presName="horz1" presStyleCnt="0"/>
      <dgm:spPr/>
    </dgm:pt>
    <dgm:pt modelId="{1F18D7A2-6E24-472B-9D8C-F5CA19F97103}" type="pres">
      <dgm:prSet presAssocID="{A43615E6-FD83-4959-B899-F6544F6EFD1B}" presName="tx1" presStyleLbl="revTx" presStyleIdx="5" presStyleCnt="8"/>
      <dgm:spPr/>
    </dgm:pt>
    <dgm:pt modelId="{7BB21423-1887-4D4D-8D38-40EDFC12C4A6}" type="pres">
      <dgm:prSet presAssocID="{A43615E6-FD83-4959-B899-F6544F6EFD1B}" presName="vert1" presStyleCnt="0"/>
      <dgm:spPr/>
    </dgm:pt>
    <dgm:pt modelId="{1305AD21-55BC-4D42-B96E-8A70A577EE99}" type="pres">
      <dgm:prSet presAssocID="{4DBD1ACF-A005-4F36-97FE-A2C52BB0212B}" presName="thickLine" presStyleLbl="alignNode1" presStyleIdx="6" presStyleCnt="8"/>
      <dgm:spPr/>
    </dgm:pt>
    <dgm:pt modelId="{F67BD3E5-902F-4B56-BD05-381B6689B1E1}" type="pres">
      <dgm:prSet presAssocID="{4DBD1ACF-A005-4F36-97FE-A2C52BB0212B}" presName="horz1" presStyleCnt="0"/>
      <dgm:spPr/>
    </dgm:pt>
    <dgm:pt modelId="{C6669530-3518-4279-8544-A2709CF5CF01}" type="pres">
      <dgm:prSet presAssocID="{4DBD1ACF-A005-4F36-97FE-A2C52BB0212B}" presName="tx1" presStyleLbl="revTx" presStyleIdx="6" presStyleCnt="8"/>
      <dgm:spPr/>
    </dgm:pt>
    <dgm:pt modelId="{42B6A595-05B3-4DED-A9A0-BE302BAB8849}" type="pres">
      <dgm:prSet presAssocID="{4DBD1ACF-A005-4F36-97FE-A2C52BB0212B}" presName="vert1" presStyleCnt="0"/>
      <dgm:spPr/>
    </dgm:pt>
    <dgm:pt modelId="{87506237-F954-41BD-A5B5-58B77F731A8B}" type="pres">
      <dgm:prSet presAssocID="{6CB59D6B-A552-4137-927B-46AEEEA61026}" presName="thickLine" presStyleLbl="alignNode1" presStyleIdx="7" presStyleCnt="8"/>
      <dgm:spPr/>
    </dgm:pt>
    <dgm:pt modelId="{174EFBB8-55A0-43E1-A702-489E69EB85D1}" type="pres">
      <dgm:prSet presAssocID="{6CB59D6B-A552-4137-927B-46AEEEA61026}" presName="horz1" presStyleCnt="0"/>
      <dgm:spPr/>
    </dgm:pt>
    <dgm:pt modelId="{DA30B785-DC81-47BD-8B2D-E5D5B8C1BE28}" type="pres">
      <dgm:prSet presAssocID="{6CB59D6B-A552-4137-927B-46AEEEA61026}" presName="tx1" presStyleLbl="revTx" presStyleIdx="7" presStyleCnt="8"/>
      <dgm:spPr/>
    </dgm:pt>
    <dgm:pt modelId="{F2508FAF-F700-47D9-9B46-169F3B014EE9}" type="pres">
      <dgm:prSet presAssocID="{6CB59D6B-A552-4137-927B-46AEEEA61026}" presName="vert1" presStyleCnt="0"/>
      <dgm:spPr/>
    </dgm:pt>
  </dgm:ptLst>
  <dgm:cxnLst>
    <dgm:cxn modelId="{0C200507-4BDD-4E62-B107-F012C160F093}" type="presOf" srcId="{FE351EC9-C7C7-48DC-B29E-9D51C6533FEF}" destId="{9261F3F6-DA41-4BCD-870D-EE55BB49364D}" srcOrd="0" destOrd="0" presId="urn:microsoft.com/office/officeart/2008/layout/LinedList"/>
    <dgm:cxn modelId="{24CF8423-7457-42E4-BB4E-B17C085D4C21}" type="presOf" srcId="{A43615E6-FD83-4959-B899-F6544F6EFD1B}" destId="{1F18D7A2-6E24-472B-9D8C-F5CA19F97103}" srcOrd="0" destOrd="0" presId="urn:microsoft.com/office/officeart/2008/layout/LinedList"/>
    <dgm:cxn modelId="{E02B1832-E547-4A5F-A5AB-D6C76FA337B5}" type="presOf" srcId="{451F9EF7-6F9A-44B2-91B6-E646F000CCB4}" destId="{5D2C837C-690C-4ABC-9F85-D6F0339D9866}" srcOrd="0" destOrd="0" presId="urn:microsoft.com/office/officeart/2008/layout/LinedList"/>
    <dgm:cxn modelId="{FD743B41-E6A5-468A-ADE0-EB6195F455E2}" type="presOf" srcId="{C4FB7F19-93B8-44E0-A839-6DA3E39BC99D}" destId="{573634B4-B1F9-46DC-9388-E95037CE3CD3}" srcOrd="0" destOrd="0" presId="urn:microsoft.com/office/officeart/2008/layout/LinedList"/>
    <dgm:cxn modelId="{9D4FBE62-A582-4856-B82D-62F982DD5607}" srcId="{C4FB7F19-93B8-44E0-A839-6DA3E39BC99D}" destId="{573457F9-9203-4A3D-A294-07B587B1DAEB}" srcOrd="3" destOrd="0" parTransId="{417E6970-E1DB-42D4-B46C-A66F047942F9}" sibTransId="{8CDB5EB6-0965-4D08-93A4-D806E3DDE990}"/>
    <dgm:cxn modelId="{1FC7D270-4B56-4E55-B44F-A92612BE6EA9}" srcId="{C4FB7F19-93B8-44E0-A839-6DA3E39BC99D}" destId="{FE351EC9-C7C7-48DC-B29E-9D51C6533FEF}" srcOrd="2" destOrd="0" parTransId="{D4799920-223B-482D-802F-A1A5FBB50EB9}" sibTransId="{283030FC-53A0-4083-8154-D7B945A6E292}"/>
    <dgm:cxn modelId="{A3FE217B-88CD-45BA-B72F-0F7B5484900D}" type="presOf" srcId="{6CB59D6B-A552-4137-927B-46AEEEA61026}" destId="{DA30B785-DC81-47BD-8B2D-E5D5B8C1BE28}" srcOrd="0" destOrd="0" presId="urn:microsoft.com/office/officeart/2008/layout/LinedList"/>
    <dgm:cxn modelId="{F1863C7E-ABAC-4B20-894B-27756F529BAB}" type="presOf" srcId="{4DBD1ACF-A005-4F36-97FE-A2C52BB0212B}" destId="{C6669530-3518-4279-8544-A2709CF5CF01}" srcOrd="0" destOrd="0" presId="urn:microsoft.com/office/officeart/2008/layout/LinedList"/>
    <dgm:cxn modelId="{E69C0A96-0798-4631-A5A2-D22B9BF811DC}" type="presOf" srcId="{4A4A7E1F-5F16-4F25-961F-B7AF9C06D46D}" destId="{664BD004-65D8-40A3-B66A-AD88AD7FBC92}" srcOrd="0" destOrd="0" presId="urn:microsoft.com/office/officeart/2008/layout/LinedList"/>
    <dgm:cxn modelId="{57F375A2-5A51-4A90-A3B6-F09B4608802C}" srcId="{C4FB7F19-93B8-44E0-A839-6DA3E39BC99D}" destId="{A43615E6-FD83-4959-B899-F6544F6EFD1B}" srcOrd="5" destOrd="0" parTransId="{77761E72-4E43-4667-BA89-59E9BB55E1D2}" sibTransId="{3FCA5A8D-8A37-448F-B8DA-9DAB05D1F42A}"/>
    <dgm:cxn modelId="{FA2B4FA3-9DC2-4FD7-9A16-EDC53FF6CDFD}" srcId="{C4FB7F19-93B8-44E0-A839-6DA3E39BC99D}" destId="{451F9EF7-6F9A-44B2-91B6-E646F000CCB4}" srcOrd="0" destOrd="0" parTransId="{FDF2471E-584C-4658-99CC-E6CE5E2D94B4}" sibTransId="{89283C76-07FD-4412-B87D-37184A7274CA}"/>
    <dgm:cxn modelId="{514691C6-32E1-459E-9BBB-134ECE0BD2FD}" type="presOf" srcId="{7B1407D2-D921-4E6E-AE28-52EEDDD91185}" destId="{5EFB8714-27AD-4CA0-A9C3-A4256F9493D8}" srcOrd="0" destOrd="0" presId="urn:microsoft.com/office/officeart/2008/layout/LinedList"/>
    <dgm:cxn modelId="{B90FB5C6-6451-412B-81DF-082C6F1F3326}" srcId="{C4FB7F19-93B8-44E0-A839-6DA3E39BC99D}" destId="{7B1407D2-D921-4E6E-AE28-52EEDDD91185}" srcOrd="4" destOrd="0" parTransId="{03C795CA-E039-4FF8-BF57-4C4EAC5A1624}" sibTransId="{8C833F90-AD71-4E3F-8A47-6A89AF760218}"/>
    <dgm:cxn modelId="{7812B4D0-B8AB-4761-AE62-0D6571DBA5D6}" srcId="{C4FB7F19-93B8-44E0-A839-6DA3E39BC99D}" destId="{4DBD1ACF-A005-4F36-97FE-A2C52BB0212B}" srcOrd="6" destOrd="0" parTransId="{FB68D8F9-46FF-4D8A-8CB0-16A5CD54E1E1}" sibTransId="{3661B85D-C349-420F-8DAF-2BA0A36C57B1}"/>
    <dgm:cxn modelId="{89CFB0D2-346D-4F00-A85B-BBFBFFB2D889}" srcId="{C4FB7F19-93B8-44E0-A839-6DA3E39BC99D}" destId="{6CB59D6B-A552-4137-927B-46AEEEA61026}" srcOrd="7" destOrd="0" parTransId="{0D615341-B647-4222-BEC6-ADDFA6A4BB27}" sibTransId="{7C99C2DF-3125-4E8F-9A55-3936EAB82B9B}"/>
    <dgm:cxn modelId="{796231EE-04F8-4847-9326-067CDF2B8DFF}" type="presOf" srcId="{573457F9-9203-4A3D-A294-07B587B1DAEB}" destId="{49971CB5-DCE1-4DFA-AF8B-6B30FED8CB6D}" srcOrd="0" destOrd="0" presId="urn:microsoft.com/office/officeart/2008/layout/LinedList"/>
    <dgm:cxn modelId="{400754F8-4A00-4F52-856F-5AD58193FF09}" srcId="{C4FB7F19-93B8-44E0-A839-6DA3E39BC99D}" destId="{4A4A7E1F-5F16-4F25-961F-B7AF9C06D46D}" srcOrd="1" destOrd="0" parTransId="{01D03379-3BE3-41F7-96FF-B4AB6083D174}" sibTransId="{EDEC7D0A-BC8D-4CCA-9EDE-9A7F18C3E66C}"/>
    <dgm:cxn modelId="{5B920D07-F5FE-4478-B6A7-30C435238943}" type="presParOf" srcId="{573634B4-B1F9-46DC-9388-E95037CE3CD3}" destId="{F5D3CADB-CF16-444F-854C-6025C3CDB7A2}" srcOrd="0" destOrd="0" presId="urn:microsoft.com/office/officeart/2008/layout/LinedList"/>
    <dgm:cxn modelId="{2B3E25AB-9DA7-4F62-8726-9C89972E0A61}" type="presParOf" srcId="{573634B4-B1F9-46DC-9388-E95037CE3CD3}" destId="{3B4CE28E-56EE-4D9F-B926-FD5E8644CA63}" srcOrd="1" destOrd="0" presId="urn:microsoft.com/office/officeart/2008/layout/LinedList"/>
    <dgm:cxn modelId="{2EF50C7B-ED7C-47ED-8858-11A6772F2D0B}" type="presParOf" srcId="{3B4CE28E-56EE-4D9F-B926-FD5E8644CA63}" destId="{5D2C837C-690C-4ABC-9F85-D6F0339D9866}" srcOrd="0" destOrd="0" presId="urn:microsoft.com/office/officeart/2008/layout/LinedList"/>
    <dgm:cxn modelId="{534513D3-6B37-40CC-ACAC-3F217A31D281}" type="presParOf" srcId="{3B4CE28E-56EE-4D9F-B926-FD5E8644CA63}" destId="{F42712DD-B406-4383-BDF2-483185C3266E}" srcOrd="1" destOrd="0" presId="urn:microsoft.com/office/officeart/2008/layout/LinedList"/>
    <dgm:cxn modelId="{10D87901-D70E-4314-B272-531EFDF3FFD0}" type="presParOf" srcId="{573634B4-B1F9-46DC-9388-E95037CE3CD3}" destId="{8CD879EF-6809-4811-ACC3-A35B6D163AC9}" srcOrd="2" destOrd="0" presId="urn:microsoft.com/office/officeart/2008/layout/LinedList"/>
    <dgm:cxn modelId="{B27B98CE-7B60-4C8C-81A5-A18452795A88}" type="presParOf" srcId="{573634B4-B1F9-46DC-9388-E95037CE3CD3}" destId="{4C00394F-06B2-47D3-A4A0-826E03A3281C}" srcOrd="3" destOrd="0" presId="urn:microsoft.com/office/officeart/2008/layout/LinedList"/>
    <dgm:cxn modelId="{5319A49D-797C-4BE0-997E-CDC7172DE58D}" type="presParOf" srcId="{4C00394F-06B2-47D3-A4A0-826E03A3281C}" destId="{664BD004-65D8-40A3-B66A-AD88AD7FBC92}" srcOrd="0" destOrd="0" presId="urn:microsoft.com/office/officeart/2008/layout/LinedList"/>
    <dgm:cxn modelId="{6D743EEE-2CB0-4AB4-A2F7-B847188911DD}" type="presParOf" srcId="{4C00394F-06B2-47D3-A4A0-826E03A3281C}" destId="{361C43DF-4577-4513-88ED-FE13C6A90145}" srcOrd="1" destOrd="0" presId="urn:microsoft.com/office/officeart/2008/layout/LinedList"/>
    <dgm:cxn modelId="{F974CC68-3851-4AFD-8CC5-EF7BA48C2D3A}" type="presParOf" srcId="{573634B4-B1F9-46DC-9388-E95037CE3CD3}" destId="{EAE12455-C277-42BC-90DF-ACDAB0D8526E}" srcOrd="4" destOrd="0" presId="urn:microsoft.com/office/officeart/2008/layout/LinedList"/>
    <dgm:cxn modelId="{9F2F55A8-E093-44BF-A90C-CA0A2F27FBFC}" type="presParOf" srcId="{573634B4-B1F9-46DC-9388-E95037CE3CD3}" destId="{0BC71D48-2CF5-4451-B607-068EC80D2E53}" srcOrd="5" destOrd="0" presId="urn:microsoft.com/office/officeart/2008/layout/LinedList"/>
    <dgm:cxn modelId="{90AECA77-4468-475C-8A6B-A79523D49AE5}" type="presParOf" srcId="{0BC71D48-2CF5-4451-B607-068EC80D2E53}" destId="{9261F3F6-DA41-4BCD-870D-EE55BB49364D}" srcOrd="0" destOrd="0" presId="urn:microsoft.com/office/officeart/2008/layout/LinedList"/>
    <dgm:cxn modelId="{742AAF94-46FA-40F4-8C43-E97CADE1820E}" type="presParOf" srcId="{0BC71D48-2CF5-4451-B607-068EC80D2E53}" destId="{E8FEF7F9-389E-463D-B399-550F554E01CD}" srcOrd="1" destOrd="0" presId="urn:microsoft.com/office/officeart/2008/layout/LinedList"/>
    <dgm:cxn modelId="{6217F073-6895-4BEF-9941-724C694A78D8}" type="presParOf" srcId="{573634B4-B1F9-46DC-9388-E95037CE3CD3}" destId="{BD673A62-018D-43B0-98AC-0217ADF17FD4}" srcOrd="6" destOrd="0" presId="urn:microsoft.com/office/officeart/2008/layout/LinedList"/>
    <dgm:cxn modelId="{59B1059C-C1EC-4C92-9080-FA59DA5B550C}" type="presParOf" srcId="{573634B4-B1F9-46DC-9388-E95037CE3CD3}" destId="{E765F749-4F76-433C-99E8-9BB9A0730D10}" srcOrd="7" destOrd="0" presId="urn:microsoft.com/office/officeart/2008/layout/LinedList"/>
    <dgm:cxn modelId="{C5D7811D-8FAE-49AE-AAAE-1268F34EB794}" type="presParOf" srcId="{E765F749-4F76-433C-99E8-9BB9A0730D10}" destId="{49971CB5-DCE1-4DFA-AF8B-6B30FED8CB6D}" srcOrd="0" destOrd="0" presId="urn:microsoft.com/office/officeart/2008/layout/LinedList"/>
    <dgm:cxn modelId="{51243F65-D7DF-4200-A3CF-698B3D7649ED}" type="presParOf" srcId="{E765F749-4F76-433C-99E8-9BB9A0730D10}" destId="{C042972C-0078-48A9-B99A-0579BB029143}" srcOrd="1" destOrd="0" presId="urn:microsoft.com/office/officeart/2008/layout/LinedList"/>
    <dgm:cxn modelId="{E116D86F-97C3-4690-870F-AF330CDCE31F}" type="presParOf" srcId="{573634B4-B1F9-46DC-9388-E95037CE3CD3}" destId="{FB78FDE4-0871-4CB8-8120-B583B6C4DE1B}" srcOrd="8" destOrd="0" presId="urn:microsoft.com/office/officeart/2008/layout/LinedList"/>
    <dgm:cxn modelId="{02532483-6126-4E27-8A9F-C544607C608A}" type="presParOf" srcId="{573634B4-B1F9-46DC-9388-E95037CE3CD3}" destId="{0D66EF6C-0653-4C3C-9C0C-2D435FD5E5A2}" srcOrd="9" destOrd="0" presId="urn:microsoft.com/office/officeart/2008/layout/LinedList"/>
    <dgm:cxn modelId="{A5456C63-B2F6-434E-BF63-8617CD20D799}" type="presParOf" srcId="{0D66EF6C-0653-4C3C-9C0C-2D435FD5E5A2}" destId="{5EFB8714-27AD-4CA0-A9C3-A4256F9493D8}" srcOrd="0" destOrd="0" presId="urn:microsoft.com/office/officeart/2008/layout/LinedList"/>
    <dgm:cxn modelId="{62A0597E-2EEC-445D-9811-58E20425A091}" type="presParOf" srcId="{0D66EF6C-0653-4C3C-9C0C-2D435FD5E5A2}" destId="{85994CA4-C64F-4B7E-A583-F94191908FAA}" srcOrd="1" destOrd="0" presId="urn:microsoft.com/office/officeart/2008/layout/LinedList"/>
    <dgm:cxn modelId="{31983D94-B9A7-48DE-B4C1-D12199FA9867}" type="presParOf" srcId="{573634B4-B1F9-46DC-9388-E95037CE3CD3}" destId="{3FC7A76C-6D2E-4804-85E5-2AB609AB7730}" srcOrd="10" destOrd="0" presId="urn:microsoft.com/office/officeart/2008/layout/LinedList"/>
    <dgm:cxn modelId="{B71A0BE7-D64E-4AAC-AB0D-9BAFABBEA533}" type="presParOf" srcId="{573634B4-B1F9-46DC-9388-E95037CE3CD3}" destId="{A623AAD0-4B6D-474E-A348-67E379B1ED22}" srcOrd="11" destOrd="0" presId="urn:microsoft.com/office/officeart/2008/layout/LinedList"/>
    <dgm:cxn modelId="{801B9D78-4EED-42B0-9B97-7E1A1CA84B67}" type="presParOf" srcId="{A623AAD0-4B6D-474E-A348-67E379B1ED22}" destId="{1F18D7A2-6E24-472B-9D8C-F5CA19F97103}" srcOrd="0" destOrd="0" presId="urn:microsoft.com/office/officeart/2008/layout/LinedList"/>
    <dgm:cxn modelId="{82FCDB25-B8B3-48C9-A0FC-38995A89049C}" type="presParOf" srcId="{A623AAD0-4B6D-474E-A348-67E379B1ED22}" destId="{7BB21423-1887-4D4D-8D38-40EDFC12C4A6}" srcOrd="1" destOrd="0" presId="urn:microsoft.com/office/officeart/2008/layout/LinedList"/>
    <dgm:cxn modelId="{CA51802A-F306-4D60-8982-761860E30605}" type="presParOf" srcId="{573634B4-B1F9-46DC-9388-E95037CE3CD3}" destId="{1305AD21-55BC-4D42-B96E-8A70A577EE99}" srcOrd="12" destOrd="0" presId="urn:microsoft.com/office/officeart/2008/layout/LinedList"/>
    <dgm:cxn modelId="{E43C6921-34C4-4DC9-940E-661B8B5A1333}" type="presParOf" srcId="{573634B4-B1F9-46DC-9388-E95037CE3CD3}" destId="{F67BD3E5-902F-4B56-BD05-381B6689B1E1}" srcOrd="13" destOrd="0" presId="urn:microsoft.com/office/officeart/2008/layout/LinedList"/>
    <dgm:cxn modelId="{89FA2228-F849-4288-8279-2886FA544493}" type="presParOf" srcId="{F67BD3E5-902F-4B56-BD05-381B6689B1E1}" destId="{C6669530-3518-4279-8544-A2709CF5CF01}" srcOrd="0" destOrd="0" presId="urn:microsoft.com/office/officeart/2008/layout/LinedList"/>
    <dgm:cxn modelId="{AECD28B3-33A9-4A1A-830F-AECAF4479200}" type="presParOf" srcId="{F67BD3E5-902F-4B56-BD05-381B6689B1E1}" destId="{42B6A595-05B3-4DED-A9A0-BE302BAB8849}" srcOrd="1" destOrd="0" presId="urn:microsoft.com/office/officeart/2008/layout/LinedList"/>
    <dgm:cxn modelId="{104FEE6B-02F4-45BA-A6E5-5DE5818A5B02}" type="presParOf" srcId="{573634B4-B1F9-46DC-9388-E95037CE3CD3}" destId="{87506237-F954-41BD-A5B5-58B77F731A8B}" srcOrd="14" destOrd="0" presId="urn:microsoft.com/office/officeart/2008/layout/LinedList"/>
    <dgm:cxn modelId="{790AE09E-4B43-47C1-90E4-AE48DD4A24B4}" type="presParOf" srcId="{573634B4-B1F9-46DC-9388-E95037CE3CD3}" destId="{174EFBB8-55A0-43E1-A702-489E69EB85D1}" srcOrd="15" destOrd="0" presId="urn:microsoft.com/office/officeart/2008/layout/LinedList"/>
    <dgm:cxn modelId="{48E2642A-3F61-4B44-A297-C05715F63EB9}" type="presParOf" srcId="{174EFBB8-55A0-43E1-A702-489E69EB85D1}" destId="{DA30B785-DC81-47BD-8B2D-E5D5B8C1BE28}" srcOrd="0" destOrd="0" presId="urn:microsoft.com/office/officeart/2008/layout/LinedList"/>
    <dgm:cxn modelId="{0FE37295-26A9-4F02-8A59-DEB883396F61}" type="presParOf" srcId="{174EFBB8-55A0-43E1-A702-489E69EB85D1}" destId="{F2508FAF-F700-47D9-9B46-169F3B014EE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D3CADB-CF16-444F-854C-6025C3CDB7A2}">
      <dsp:nvSpPr>
        <dsp:cNvPr id="0" name=""/>
        <dsp:cNvSpPr/>
      </dsp:nvSpPr>
      <dsp:spPr>
        <a:xfrm>
          <a:off x="0" y="0"/>
          <a:ext cx="909280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D2C837C-690C-4ABC-9F85-D6F0339D9866}">
      <dsp:nvSpPr>
        <dsp:cNvPr id="0" name=""/>
        <dsp:cNvSpPr/>
      </dsp:nvSpPr>
      <dsp:spPr>
        <a:xfrm>
          <a:off x="0" y="0"/>
          <a:ext cx="9092809" cy="634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i="0" kern="1200" dirty="0"/>
            <a:t>Sensory Processing Differences and Interventions</a:t>
          </a:r>
          <a:endParaRPr lang="en-US" sz="2900" kern="1200" dirty="0"/>
        </a:p>
      </dsp:txBody>
      <dsp:txXfrm>
        <a:off x="0" y="0"/>
        <a:ext cx="9092809" cy="634999"/>
      </dsp:txXfrm>
    </dsp:sp>
    <dsp:sp modelId="{8CD879EF-6809-4811-ACC3-A35B6D163AC9}">
      <dsp:nvSpPr>
        <dsp:cNvPr id="0" name=""/>
        <dsp:cNvSpPr/>
      </dsp:nvSpPr>
      <dsp:spPr>
        <a:xfrm>
          <a:off x="0" y="634999"/>
          <a:ext cx="9092809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64BD004-65D8-40A3-B66A-AD88AD7FBC92}">
      <dsp:nvSpPr>
        <dsp:cNvPr id="0" name=""/>
        <dsp:cNvSpPr/>
      </dsp:nvSpPr>
      <dsp:spPr>
        <a:xfrm>
          <a:off x="0" y="634999"/>
          <a:ext cx="9092809" cy="634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i="0" kern="1200" dirty="0"/>
            <a:t>Executive Functioning Challenges and Support</a:t>
          </a:r>
          <a:endParaRPr lang="en-US" sz="2900" kern="1200" dirty="0"/>
        </a:p>
      </dsp:txBody>
      <dsp:txXfrm>
        <a:off x="0" y="634999"/>
        <a:ext cx="9092809" cy="634999"/>
      </dsp:txXfrm>
    </dsp:sp>
    <dsp:sp modelId="{EAE12455-C277-42BC-90DF-ACDAB0D8526E}">
      <dsp:nvSpPr>
        <dsp:cNvPr id="0" name=""/>
        <dsp:cNvSpPr/>
      </dsp:nvSpPr>
      <dsp:spPr>
        <a:xfrm>
          <a:off x="0" y="1269999"/>
          <a:ext cx="909280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261F3F6-DA41-4BCD-870D-EE55BB49364D}">
      <dsp:nvSpPr>
        <dsp:cNvPr id="0" name=""/>
        <dsp:cNvSpPr/>
      </dsp:nvSpPr>
      <dsp:spPr>
        <a:xfrm>
          <a:off x="0" y="1269999"/>
          <a:ext cx="9092809" cy="634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i="0" kern="1200" dirty="0"/>
            <a:t>Social Communication Nuances and Interventions</a:t>
          </a:r>
          <a:endParaRPr lang="en-US" sz="2900" kern="1200" dirty="0"/>
        </a:p>
      </dsp:txBody>
      <dsp:txXfrm>
        <a:off x="0" y="1269999"/>
        <a:ext cx="9092809" cy="634999"/>
      </dsp:txXfrm>
    </dsp:sp>
    <dsp:sp modelId="{BD673A62-018D-43B0-98AC-0217ADF17FD4}">
      <dsp:nvSpPr>
        <dsp:cNvPr id="0" name=""/>
        <dsp:cNvSpPr/>
      </dsp:nvSpPr>
      <dsp:spPr>
        <a:xfrm>
          <a:off x="0" y="1905000"/>
          <a:ext cx="9092809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9971CB5-DCE1-4DFA-AF8B-6B30FED8CB6D}">
      <dsp:nvSpPr>
        <dsp:cNvPr id="0" name=""/>
        <dsp:cNvSpPr/>
      </dsp:nvSpPr>
      <dsp:spPr>
        <a:xfrm>
          <a:off x="0" y="1904999"/>
          <a:ext cx="9092809" cy="634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i="0" kern="1200" dirty="0"/>
            <a:t> </a:t>
          </a:r>
          <a:endParaRPr lang="en-US" sz="2900" kern="1200" dirty="0"/>
        </a:p>
      </dsp:txBody>
      <dsp:txXfrm>
        <a:off x="0" y="1904999"/>
        <a:ext cx="9092809" cy="634999"/>
      </dsp:txXfrm>
    </dsp:sp>
    <dsp:sp modelId="{FB78FDE4-0871-4CB8-8120-B583B6C4DE1B}">
      <dsp:nvSpPr>
        <dsp:cNvPr id="0" name=""/>
        <dsp:cNvSpPr/>
      </dsp:nvSpPr>
      <dsp:spPr>
        <a:xfrm>
          <a:off x="0" y="2539999"/>
          <a:ext cx="9092809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EFB8714-27AD-4CA0-A9C3-A4256F9493D8}">
      <dsp:nvSpPr>
        <dsp:cNvPr id="0" name=""/>
        <dsp:cNvSpPr/>
      </dsp:nvSpPr>
      <dsp:spPr>
        <a:xfrm>
          <a:off x="0" y="2539999"/>
          <a:ext cx="9092809" cy="634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i="0" kern="1200" dirty="0"/>
            <a:t>Co-occurring Mental Health Conditions in Neurodiversity</a:t>
          </a:r>
          <a:endParaRPr lang="en-US" sz="2900" kern="1200" dirty="0"/>
        </a:p>
      </dsp:txBody>
      <dsp:txXfrm>
        <a:off x="0" y="2539999"/>
        <a:ext cx="9092809" cy="634999"/>
      </dsp:txXfrm>
    </dsp:sp>
    <dsp:sp modelId="{3FC7A76C-6D2E-4804-85E5-2AB609AB7730}">
      <dsp:nvSpPr>
        <dsp:cNvPr id="0" name=""/>
        <dsp:cNvSpPr/>
      </dsp:nvSpPr>
      <dsp:spPr>
        <a:xfrm>
          <a:off x="0" y="3175000"/>
          <a:ext cx="909280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F18D7A2-6E24-472B-9D8C-F5CA19F97103}">
      <dsp:nvSpPr>
        <dsp:cNvPr id="0" name=""/>
        <dsp:cNvSpPr/>
      </dsp:nvSpPr>
      <dsp:spPr>
        <a:xfrm>
          <a:off x="0" y="3174999"/>
          <a:ext cx="9092809" cy="634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i="0" kern="1200" dirty="0"/>
            <a:t>Trauma and Neurodiversity</a:t>
          </a:r>
          <a:endParaRPr lang="en-US" sz="2900" kern="1200" dirty="0"/>
        </a:p>
      </dsp:txBody>
      <dsp:txXfrm>
        <a:off x="0" y="3174999"/>
        <a:ext cx="9092809" cy="634999"/>
      </dsp:txXfrm>
    </dsp:sp>
    <dsp:sp modelId="{1305AD21-55BC-4D42-B96E-8A70A577EE99}">
      <dsp:nvSpPr>
        <dsp:cNvPr id="0" name=""/>
        <dsp:cNvSpPr/>
      </dsp:nvSpPr>
      <dsp:spPr>
        <a:xfrm>
          <a:off x="0" y="3809999"/>
          <a:ext cx="9092809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6669530-3518-4279-8544-A2709CF5CF01}">
      <dsp:nvSpPr>
        <dsp:cNvPr id="0" name=""/>
        <dsp:cNvSpPr/>
      </dsp:nvSpPr>
      <dsp:spPr>
        <a:xfrm>
          <a:off x="0" y="3809999"/>
          <a:ext cx="9092809" cy="634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i="0" kern="1200" dirty="0"/>
            <a:t> </a:t>
          </a:r>
          <a:endParaRPr lang="en-US" sz="2900" kern="1200" dirty="0"/>
        </a:p>
      </dsp:txBody>
      <dsp:txXfrm>
        <a:off x="0" y="3809999"/>
        <a:ext cx="9092809" cy="634999"/>
      </dsp:txXfrm>
    </dsp:sp>
    <dsp:sp modelId="{87506237-F954-41BD-A5B5-58B77F731A8B}">
      <dsp:nvSpPr>
        <dsp:cNvPr id="0" name=""/>
        <dsp:cNvSpPr/>
      </dsp:nvSpPr>
      <dsp:spPr>
        <a:xfrm>
          <a:off x="0" y="4444999"/>
          <a:ext cx="909280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A30B785-DC81-47BD-8B2D-E5D5B8C1BE28}">
      <dsp:nvSpPr>
        <dsp:cNvPr id="0" name=""/>
        <dsp:cNvSpPr/>
      </dsp:nvSpPr>
      <dsp:spPr>
        <a:xfrm>
          <a:off x="0" y="4444999"/>
          <a:ext cx="9092809" cy="634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i="0" kern="1200" dirty="0"/>
            <a:t>Intersectionality and Neurodiversity</a:t>
          </a:r>
          <a:endParaRPr lang="en-US" sz="2900" kern="1200" dirty="0"/>
        </a:p>
      </dsp:txBody>
      <dsp:txXfrm>
        <a:off x="0" y="4444999"/>
        <a:ext cx="9092809" cy="6349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925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94994-DAB8-4940-A2A2-3EAC47BAACED}" type="datetimeFigureOut">
              <a:rPr lang="en-GB" smtClean="0"/>
              <a:pPr/>
              <a:t>04/04/2026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80062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5163"/>
            <a:ext cx="5608638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1263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925" y="8831263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3CD773-3630-428E-B291-DA887A47BBA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178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ivingworks.net/training/livingworks-asist/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55hepV4SiB0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1701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https://www.youtube.com/watch?v=y6-QMw08Whk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80170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https://www.youtube.com/watch?v=jl6UfPjRTJ8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75483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Signs of Bipolar Disorder:</a:t>
            </a:r>
          </a:p>
          <a:p>
            <a:r>
              <a:rPr lang="en-US" dirty="0"/>
              <a:t>https://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=G_swth2iSFI&amp;t=15s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69BF7-98F3-D04E-9A72-63DD1D86C4C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2169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https://www.youtube.com/watch?v=tJQRsIbD110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2981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>
                <a:hlinkClick r:id="rId3"/>
              </a:rPr>
              <a:t>LivingWorks</a:t>
            </a:r>
            <a:r>
              <a:rPr lang="en-GB" dirty="0">
                <a:hlinkClick r:id="rId3"/>
              </a:rPr>
              <a:t> ASIST - </a:t>
            </a:r>
            <a:r>
              <a:rPr lang="en-GB" dirty="0" err="1">
                <a:hlinkClick r:id="rId3"/>
              </a:rPr>
              <a:t>LivingWorks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0646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(220) Faculty Suicide/Self-Harm debrief 1/13/20 - YouTube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865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2F261-5DB4-43E8-8834-FCB5C5BC8F2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33E443-2966-4549-B5C3-2BC2D30BDE2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55337-AE1A-4C02-B306-3A9BC6ABCA0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DEA915C-C39C-4C4B-ADB5-FC0359F23E6C}" type="datetime1">
              <a:rPr lang="en-GB"/>
              <a:pPr lvl="0"/>
              <a:t>04/04/2026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83295-2E27-4F72-8F10-2F7E033B6C3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0C271-BAF6-4A5C-B32C-B8397327DC8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B74F9AE-8261-40FE-A2C9-68A1766884F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2487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266700" y="6248400"/>
            <a:ext cx="11925299" cy="60959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2883A5-5187-47FE-9BD2-305FAC8150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27030"/>
            <a:ext cx="10515600" cy="682620"/>
          </a:xfrm>
        </p:spPr>
        <p:txBody>
          <a:bodyPr>
            <a:normAutofit/>
          </a:bodyPr>
          <a:lstStyle>
            <a:lvl1pPr>
              <a:defRPr sz="3200" b="1" cap="all" baseline="0">
                <a:solidFill>
                  <a:srgbClr val="557377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5053C-DF56-4F89-8337-E3C322DD643A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0B472-8DDE-405D-B26E-42BF8B5D83F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B61A7EB-551C-401B-A4D5-1BAFBFE20AD1}" type="slidenum">
              <a:rPr/>
              <a:pPr lvl="0"/>
              <a:t>‹#›</a:t>
            </a:fld>
            <a:endParaRPr lang="en-GB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2" y="6248401"/>
            <a:ext cx="180022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93" y="6287889"/>
            <a:ext cx="1987132" cy="532011"/>
          </a:xfrm>
          <a:prstGeom prst="rect">
            <a:avLst/>
          </a:prstGeom>
        </p:spPr>
      </p:pic>
      <p:cxnSp>
        <p:nvCxnSpPr>
          <p:cNvPr id="11" name="Connecteur droit 10"/>
          <p:cNvCxnSpPr/>
          <p:nvPr userDrawn="1"/>
        </p:nvCxnSpPr>
        <p:spPr>
          <a:xfrm>
            <a:off x="962025" y="971550"/>
            <a:ext cx="10487025" cy="158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39860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51DAD-9CD4-4BBE-8429-137C00E466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18995-B27B-4793-BAD1-2C9BFE3EF6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C0184-2100-4984-8807-054D4726775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B2067C4-7861-4533-B559-C342B56AC70C}" type="datetime1">
              <a:rPr lang="en-GB"/>
              <a:pPr lvl="0"/>
              <a:t>04/04/2026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D5393-AAE3-4A19-8D5D-E7BED04E30E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069BD-390E-4CCB-B310-0A8DCE7551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068F0EE-A232-4DBD-8705-F503FFB57731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930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E9204-8610-46B9-887E-B947D2FA898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1B7BD-20EC-4C99-882C-2422A143AB3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2CB975-81E8-48B5-B943-E0DA48308ED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10623-4A31-400E-BE07-8BA1D7A823B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F2F22CE-8A9E-4D2F-9961-356DA329C082}" type="datetime1">
              <a:rPr lang="en-GB"/>
              <a:pPr lvl="0"/>
              <a:t>04/04/2026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1885-DEE9-438E-865E-E426B2BD045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E3E540-FC36-4FD5-917A-F93AE53B6B0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4515B16-D461-4A99-B7A5-3793CBAF828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334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775BA-88D7-4D61-AAFD-14D0653FE4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7ACDF-339E-42B1-9631-E2DF4BE744D6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2122EE-06E2-4BB0-A6B4-1A3D15D172B1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3A3B20-207B-4485-BE11-E5A264E47207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AC480B-C99C-47AF-9CD0-1D2ABCE5D62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58E3E2F-0674-4AD1-ACCD-CE252013E95F}" type="datetime1">
              <a:rPr lang="en-GB"/>
              <a:pPr lvl="0"/>
              <a:t>04/04/2026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395C6-DF55-4747-B4E2-E6BC10535BA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D023C9-54C8-49E9-B991-FA3F695AF88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CBEADC3-BE14-4C3D-9567-0EA9B5D00DB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6672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00" name="Picture 4" descr="Image result for nature images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" y="2462211"/>
            <a:ext cx="3790950" cy="2843213"/>
          </a:xfrm>
          <a:prstGeom prst="rect">
            <a:avLst/>
          </a:prstGeom>
          <a:noFill/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3772317" y="2457450"/>
            <a:ext cx="8419684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2527571"/>
            <a:ext cx="2362200" cy="63242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7624" y="3184529"/>
            <a:ext cx="8334375" cy="1325559"/>
          </a:xfrm>
        </p:spPr>
        <p:txBody>
          <a:bodyPr>
            <a:normAutofit/>
          </a:bodyPr>
          <a:lstStyle>
            <a:lvl1pPr algn="ctr"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048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DF3793-BAE9-437B-8A5F-6E09982CB6A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0D4A11C-E10E-49D1-A457-515A04D0F282}" type="datetime1">
              <a:rPr lang="en-GB"/>
              <a:pPr lvl="0"/>
              <a:t>04/04/2026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D78CD3-AB8B-4EC5-BEE9-2EE84F0510F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B974E-1CDA-44ED-82C2-6EF9B190783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411E039-3FA5-4407-B5D0-8ECF49CB1CEA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28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948A7-5981-4AE6-BB17-5B3A5323F4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FEEC8-43C1-4FD3-9822-A47AFB5A199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275489-DC33-4317-A0B7-56C3CCB8962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4B181-C3BA-4BE8-9667-4C962D067AB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D9C971A-763E-4F48-B4F5-8F7E5D6086B5}" type="datetime1">
              <a:rPr lang="en-GB"/>
              <a:pPr lvl="0"/>
              <a:t>04/04/2026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529EA0-058D-4943-8CA2-DC48738DA78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3CBCAB-A901-4FE3-9429-DE37954EB76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C845A25-067C-4C6C-AAF2-4947761BA849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0104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5399E-40F9-4233-B2E7-107AC26356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E9FF3C-849B-42DF-B84C-06C4F05C8B5C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GB" sz="3200"/>
            </a:lvl1pPr>
          </a:lstStyle>
          <a:p>
            <a:pPr lvl="0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1FB28-EBF3-4E70-8FCB-65AD2F5E58E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7F9DA-3B34-45DD-B70E-04C6D097674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2A64458-BA3C-43D3-9C6A-CEF90CEA7337}" type="datetime1">
              <a:rPr lang="en-GB"/>
              <a:pPr lvl="0"/>
              <a:t>04/04/2026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EFF4D-8480-4A47-AE1D-525350D6885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EA910-1397-46CA-A617-25E9BA0B673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2F44FA6-125C-4132-9364-484AD954AC1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001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55D5E-B3E4-4271-AEFC-4AB20C6CE1E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A9F0E-15E6-42D0-8660-02A75B7060E2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7390C-4229-4707-8A9A-AE616AFCD60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78F5972-73BF-482C-A91D-4486B02DBB56}" type="datetime1">
              <a:rPr lang="en-GB"/>
              <a:pPr lvl="0"/>
              <a:t>04/04/2026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44D30-4F3F-4A7D-857D-B0147A845FA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100AC-2A01-45FA-87B5-42A0B51D96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DFDA395-54BA-4872-B1D3-5855F17000A0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060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514128-6621-43DB-B378-4B7F3AF45067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37178-F018-43A8-843F-D46AA415FEB9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5094D-33E2-498F-840A-EAEA08DBC39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0B2691A-2C78-45D8-858E-8A76E2650E62}" type="datetime1">
              <a:rPr lang="en-GB"/>
              <a:pPr lvl="0"/>
              <a:t>04/04/2026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DB88E-E6FA-4686-8583-8EE8174E9A7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3A89-AE74-4923-9790-162ECA03E61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085F833-0DC4-4798-B2EF-1D9462A98302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121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CE82F5-3B00-49A9-B251-8641D41CE8A5}"/>
              </a:ext>
            </a:extLst>
          </p:cNvPr>
          <p:cNvSpPr txBox="1">
            <a:spLocks noGrp="1"/>
          </p:cNvSpPr>
          <p:nvPr>
            <p:ph/>
          </p:nvPr>
        </p:nvSpPr>
        <p:spPr>
          <a:xfrm>
            <a:off x="838203" y="365129"/>
            <a:ext cx="10515600" cy="581183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E7F09-D487-450A-8640-0B59DDFBE67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8625A3D6-5615-45EB-8954-BD8696AA0EC8}" type="datetime1">
              <a:rPr lang="en-GB"/>
              <a:pPr lvl="0"/>
              <a:t>04/04/2026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0894E-A4B5-4221-9E72-12566E84DC8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D2A358-E568-4E2A-8059-0FFCF1EAD34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B7B76B32-4E1F-4575-B80A-BB3C3D46344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530355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E2D462-DF7F-477A-8891-78F2F4B784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6C42B-A4BC-432A-82CE-0BCE64517F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7BBA3-05B2-49E6-9F3B-D31C7F355E4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D4FCDF70-BCC5-4DC0-AC0C-DC917E5283C7}" type="datetime1">
              <a:rPr lang="en-GB"/>
              <a:pPr lvl="0"/>
              <a:t>04/04/2026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A7C8E-B7C3-43FB-90D9-4822EB07268B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450B8-12DC-46CC-A793-97B22BE0A8F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F336CFE9-663B-45C2-8E6E-F62CF2F2E0A0}" type="slidenum">
              <a:rPr/>
              <a:pPr lvl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jl6UfPjRTJ8?feature=oembed" TargetMode="Externa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jl6UfPjRTJ8?feature=oembed" TargetMode="Externa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G_swth2iSFI?start=15&amp;feature=oembed" TargetMode="External"/><Relationship Id="rId4" Type="http://schemas.openxmlformats.org/officeDocument/2006/relationships/image" Target="../media/image15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tJQRsIbD110?feature=oembed" TargetMode="External"/><Relationship Id="rId5" Type="http://schemas.openxmlformats.org/officeDocument/2006/relationships/image" Target="../media/image16.jpeg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ivingworks.net/training/livingworks-asist/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55hepV4SiB0?feature=oembed" TargetMode="External"/><Relationship Id="rId4" Type="http://schemas.openxmlformats.org/officeDocument/2006/relationships/image" Target="../media/image18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m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3690628" y="-1"/>
            <a:ext cx="8501372" cy="404634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1AD365-F829-4BC6-BCC7-C4FF0F5758B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672013" y="817124"/>
            <a:ext cx="7516939" cy="2462361"/>
          </a:xfrm>
        </p:spPr>
        <p:txBody>
          <a:bodyPr anchor="ctr" anchorCtr="0">
            <a:normAutofit/>
          </a:bodyPr>
          <a:lstStyle/>
          <a:p>
            <a:pPr lvl="0"/>
            <a:r>
              <a:rPr lang="en-US" sz="2800" b="1" dirty="0">
                <a:solidFill>
                  <a:srgbClr val="FFFFFF"/>
                </a:solidFill>
              </a:rPr>
              <a:t>Psychopathology and Synthesis</a:t>
            </a:r>
            <a:endParaRPr lang="en-GB" sz="28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4197244" y="4046349"/>
            <a:ext cx="7994755" cy="802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4419044-4AA4-432B-9FC2-34A161AC00F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317166" y="4198678"/>
            <a:ext cx="7734926" cy="530352"/>
          </a:xfrm>
        </p:spPr>
        <p:txBody>
          <a:bodyPr>
            <a:normAutofit/>
          </a:bodyPr>
          <a:lstStyle/>
          <a:p>
            <a:pPr lvl="0"/>
            <a:r>
              <a:rPr lang="en-US" b="1" dirty="0">
                <a:solidFill>
                  <a:schemeClr val="bg1"/>
                </a:solidFill>
              </a:rPr>
              <a:t>April 2024</a:t>
            </a:r>
            <a:endParaRPr lang="en-GB" b="1" dirty="0">
              <a:solidFill>
                <a:schemeClr val="bg1"/>
              </a:solidFill>
            </a:endParaRPr>
          </a:p>
        </p:txBody>
      </p:sp>
      <p:pic>
        <p:nvPicPr>
          <p:cNvPr id="6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528" y="5074868"/>
            <a:ext cx="5816182" cy="15571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564768-CF9A-47CD-B0C3-884A7AE0F2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457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933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Toy plastic numbers">
            <a:extLst>
              <a:ext uri="{FF2B5EF4-FFF2-40B4-BE49-F238E27FC236}">
                <a16:creationId xmlns:a16="http://schemas.microsoft.com/office/drawing/2014/main" id="{E5265B3B-D472-F060-7EB7-C89CC0AC29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" r="5870" b="-1"/>
          <a:stretch/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3B02CC3-7FA7-8B39-A002-9A6A5E1F1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228" y="743447"/>
            <a:ext cx="3973385" cy="3692028"/>
          </a:xfrm>
          <a:noFill/>
        </p:spPr>
        <p:txBody>
          <a:bodyPr vert="horz" lIns="91440" tIns="45720" rIns="91440" bIns="45720" rtlCol="0" anchor="b" anchorCtr="0" compatLnSpc="1">
            <a:normAutofit/>
          </a:bodyPr>
          <a:lstStyle/>
          <a:p>
            <a:pPr>
              <a:spcBef>
                <a:spcPct val="0"/>
              </a:spcBef>
            </a:pPr>
            <a:r>
              <a:rPr lang="en-US" sz="5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DAY  ONE</a:t>
            </a:r>
          </a:p>
        </p:txBody>
      </p:sp>
    </p:spTree>
    <p:extLst>
      <p:ext uri="{BB962C8B-B14F-4D97-AF65-F5344CB8AC3E}">
        <p14:creationId xmlns:p14="http://schemas.microsoft.com/office/powerpoint/2010/main" val="1106554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F5989-7B2D-4A34-A5A0-07A23F5071B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>
                <a:solidFill>
                  <a:srgbClr val="1E9399"/>
                </a:solidFill>
              </a:rPr>
              <a:t>What we will cover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BE728-B8DB-4224-9532-73213A8FCBD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243004"/>
            <a:ext cx="10515600" cy="4676775"/>
          </a:xfrm>
        </p:spPr>
        <p:txBody>
          <a:bodyPr>
            <a:noAutofit/>
          </a:bodyPr>
          <a:lstStyle/>
          <a:p>
            <a:pPr lvl="0">
              <a:lnSpc>
                <a:spcPct val="90000"/>
              </a:lnSpc>
              <a:buSzPct val="140000"/>
              <a:buFont typeface="Arial" pitchFamily="34"/>
              <a:buChar char="•"/>
            </a:pPr>
            <a:endParaRPr lang="en-GB" sz="2400" dirty="0"/>
          </a:p>
          <a:p>
            <a:pPr lvl="0">
              <a:lnSpc>
                <a:spcPct val="90000"/>
              </a:lnSpc>
              <a:buSzPct val="140000"/>
              <a:buFont typeface="Arial" pitchFamily="34"/>
              <a:buChar char="•"/>
            </a:pPr>
            <a:endParaRPr lang="en-GB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BFC544-6CDB-46EE-9E1F-D177EA3E4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8044" y="363912"/>
            <a:ext cx="2387635" cy="64807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5D44F3-9AF5-FB6E-6E4F-ED47FC771797}"/>
              </a:ext>
            </a:extLst>
          </p:cNvPr>
          <p:cNvSpPr txBox="1"/>
          <p:nvPr/>
        </p:nvSpPr>
        <p:spPr>
          <a:xfrm>
            <a:off x="648929" y="1366684"/>
            <a:ext cx="889819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Day One</a:t>
            </a:r>
          </a:p>
          <a:p>
            <a:r>
              <a:rPr lang="en-US" sz="2400" b="1" dirty="0"/>
              <a:t> • Recap of CNG1 and CNG2 Psychopathology main </a:t>
            </a:r>
            <a:r>
              <a:rPr lang="en-US" sz="2400" b="1" dirty="0" err="1"/>
              <a:t>poings</a:t>
            </a:r>
            <a:endParaRPr lang="en-US" sz="2400" b="1" dirty="0"/>
          </a:p>
          <a:p>
            <a:r>
              <a:rPr lang="en-US" sz="2400" b="1" dirty="0"/>
              <a:t>•  Neurodiversity – Advanced topics and Case Studies</a:t>
            </a:r>
          </a:p>
          <a:p>
            <a:br>
              <a:rPr lang="en-US" sz="2400" b="1" dirty="0"/>
            </a:br>
            <a:br>
              <a:rPr lang="en-US" sz="2400" b="1" dirty="0"/>
            </a:br>
            <a:r>
              <a:rPr lang="en-US" sz="2400" b="1" dirty="0"/>
              <a:t>Day Two </a:t>
            </a:r>
          </a:p>
          <a:p>
            <a:r>
              <a:rPr lang="en-US" sz="2400" b="1" dirty="0"/>
              <a:t>• Mental Health – Advanced topics  and Case Studies</a:t>
            </a:r>
          </a:p>
          <a:p>
            <a:r>
              <a:rPr lang="en-US" sz="2400" b="1" dirty="0"/>
              <a:t> • Trauma Strategies - Intro to EMDR</a:t>
            </a:r>
          </a:p>
          <a:p>
            <a:r>
              <a:rPr lang="en-US" sz="2400" b="1" dirty="0"/>
              <a:t>•  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3909822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Exclamation mark on a yellow background">
            <a:extLst>
              <a:ext uri="{FF2B5EF4-FFF2-40B4-BE49-F238E27FC236}">
                <a16:creationId xmlns:a16="http://schemas.microsoft.com/office/drawing/2014/main" id="{58232EB5-A8CB-F501-715F-9EBBFD431D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489" r="14345"/>
          <a:stretch/>
        </p:blipFill>
        <p:spPr>
          <a:xfrm>
            <a:off x="29" y="-1"/>
            <a:ext cx="926943" cy="685800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DAE7EA1-5D52-CB81-DBE6-CBE9F301A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6157" y="164527"/>
            <a:ext cx="8728871" cy="155930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Recap: ‘Psychopathology and Assessments’  1/3</a:t>
            </a:r>
            <a:br>
              <a:rPr lang="en-US" i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3A1AF-C3D8-F20C-38ED-7F638E477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5501" y="1562101"/>
            <a:ext cx="7997156" cy="4677977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endParaRPr lang="en-GB" sz="2400" b="1" dirty="0"/>
          </a:p>
          <a:p>
            <a:pPr marL="380990" indent="-380990"/>
            <a:r>
              <a:rPr lang="en-GB" sz="24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Defence Mechanisms / Transference Counter-transference, </a:t>
            </a:r>
            <a:br>
              <a:rPr lang="en-GB" sz="2400" b="1" dirty="0">
                <a:latin typeface="Arial Narrow" panose="020B0604020202020204" pitchFamily="34" charset="0"/>
                <a:cs typeface="Arial Narrow" panose="020B0604020202020204" pitchFamily="34" charset="0"/>
              </a:rPr>
            </a:br>
            <a:r>
              <a:rPr lang="en-GB" sz="2400" b="1" i="1" dirty="0">
                <a:latin typeface="Arial Narrow" panose="020B0604020202020204" pitchFamily="34" charset="0"/>
                <a:cs typeface="Arial Narrow" panose="020B0604020202020204" pitchFamily="34" charset="0"/>
              </a:rPr>
              <a:t>i.e., understanding of the use of transference and counter transference in assessing intra-personal and interpersonal dynamics.</a:t>
            </a:r>
            <a:br>
              <a:rPr lang="en-GB" sz="2400" b="1" i="1" dirty="0">
                <a:latin typeface="Arial Narrow" panose="020B0604020202020204" pitchFamily="34" charset="0"/>
                <a:cs typeface="Arial Narrow" panose="020B0604020202020204" pitchFamily="34" charset="0"/>
              </a:rPr>
            </a:br>
            <a:endParaRPr lang="en-GB" sz="2400" b="1" i="1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GB" sz="24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Risk assessment </a:t>
            </a:r>
            <a:br>
              <a:rPr lang="en-GB" sz="2400" b="1" dirty="0">
                <a:latin typeface="Arial Narrow" panose="020B0604020202020204" pitchFamily="34" charset="0"/>
                <a:cs typeface="Arial Narrow" panose="020B0604020202020204" pitchFamily="34" charset="0"/>
              </a:rPr>
            </a:br>
            <a:endParaRPr lang="en-GB" sz="2400" b="1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380990" indent="-380990"/>
            <a:r>
              <a:rPr lang="en-GB" sz="24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Session note writing </a:t>
            </a:r>
            <a:br>
              <a:rPr lang="en-GB" sz="2400" b="1" dirty="0">
                <a:latin typeface="Arial Narrow" panose="020B0604020202020204" pitchFamily="34" charset="0"/>
                <a:cs typeface="Arial Narrow" panose="020B0604020202020204" pitchFamily="34" charset="0"/>
              </a:rPr>
            </a:br>
            <a:endParaRPr lang="en-GB" sz="2400" b="1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380990" indent="-380990"/>
            <a:r>
              <a:rPr lang="en-GB" sz="24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An understanding of mild to moderate psychological disturbances.</a:t>
            </a:r>
            <a:br>
              <a:rPr lang="en-GB" sz="2400" b="1" dirty="0">
                <a:latin typeface="Arial Narrow" panose="020B0604020202020204" pitchFamily="34" charset="0"/>
                <a:cs typeface="Arial Narrow" panose="020B0604020202020204" pitchFamily="34" charset="0"/>
              </a:rPr>
            </a:br>
            <a:endParaRPr lang="en-GB" sz="2400" b="1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380990" indent="-380990"/>
            <a:r>
              <a:rPr lang="en-GB" sz="24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 Personality disorders - narcissistic personality disorder, borderline personality disorder</a:t>
            </a:r>
            <a:br>
              <a:rPr lang="en-GB" sz="2400" b="1" dirty="0">
                <a:latin typeface="Arial Narrow" panose="020B0604020202020204" pitchFamily="34" charset="0"/>
                <a:cs typeface="Arial Narrow" panose="020B0604020202020204" pitchFamily="34" charset="0"/>
              </a:rPr>
            </a:b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742871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Exclamation mark on a yellow background">
            <a:extLst>
              <a:ext uri="{FF2B5EF4-FFF2-40B4-BE49-F238E27FC236}">
                <a16:creationId xmlns:a16="http://schemas.microsoft.com/office/drawing/2014/main" id="{58232EB5-A8CB-F501-715F-9EBBFD431D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876" r="13958"/>
          <a:stretch/>
        </p:blipFill>
        <p:spPr>
          <a:xfrm>
            <a:off x="27" y="-1"/>
            <a:ext cx="786357" cy="685800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DAE7EA1-5D52-CB81-DBE6-CBE9F301A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4161" y="405684"/>
            <a:ext cx="8776124" cy="1559301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dirty="0"/>
              <a:t>Recap: ‘Psychopathology and Assessments’  2/3</a:t>
            </a:r>
            <a:br>
              <a:rPr lang="en-US" i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3A1AF-C3D8-F20C-38ED-7F638E477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4160" y="1756559"/>
            <a:ext cx="9127456" cy="4695757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endParaRPr lang="en-GB" sz="2400" b="1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GB" sz="24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Assess client suitability for psychosynthesis counselling.</a:t>
            </a:r>
            <a:br>
              <a:rPr lang="en-GB" sz="2400" b="1" dirty="0">
                <a:latin typeface="Arial Narrow" panose="020B0604020202020204" pitchFamily="34" charset="0"/>
                <a:cs typeface="Arial Narrow" panose="020B0604020202020204" pitchFamily="34" charset="0"/>
              </a:rPr>
            </a:br>
            <a:endParaRPr lang="en-GB" sz="2400" b="1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380990" indent="-380990"/>
            <a:r>
              <a:rPr lang="en-GB" sz="2400" b="1" dirty="0">
                <a:latin typeface="Arial Narrow" panose="020B0604020202020204" pitchFamily="34" charset="0"/>
                <a:ea typeface="Times New Roman" panose="02020603050405020304" pitchFamily="18" charset="0"/>
                <a:cs typeface="Arial Narrow" panose="020B0604020202020204" pitchFamily="34" charset="0"/>
              </a:rPr>
              <a:t>An ability to undertake a competent initial assessment and recognising factors that would contra-indicate client suitability. </a:t>
            </a:r>
          </a:p>
          <a:p>
            <a:pPr marL="380990" indent="-380990"/>
            <a:endParaRPr lang="en-GB" sz="2400" b="1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380990" indent="-380990"/>
            <a:r>
              <a:rPr lang="en-GB" sz="24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Understanding the difference between on-line assessment and person to person assessment.</a:t>
            </a:r>
            <a:br>
              <a:rPr lang="en-GB" sz="2400" b="1" dirty="0">
                <a:latin typeface="Arial Narrow" panose="020B0604020202020204" pitchFamily="34" charset="0"/>
                <a:cs typeface="Arial Narrow" panose="020B0604020202020204" pitchFamily="34" charset="0"/>
              </a:rPr>
            </a:br>
            <a:endParaRPr lang="en-GB" sz="2400" b="1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GB" sz="24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Increase reflective awareness with a focus on the impact of intersectionality and psychological assessment.</a:t>
            </a:r>
            <a:br>
              <a:rPr lang="en-GB" sz="2400" b="1" dirty="0">
                <a:latin typeface="Arial Narrow" panose="020B0604020202020204" pitchFamily="34" charset="0"/>
                <a:cs typeface="Arial Narrow" panose="020B0604020202020204" pitchFamily="34" charset="0"/>
              </a:rPr>
            </a:br>
            <a:endParaRPr lang="en-GB" sz="2400" b="1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GB" sz="24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Taking risks in therapy. Even at the initial assessment.</a:t>
            </a:r>
          </a:p>
          <a:p>
            <a:pPr>
              <a:lnSpc>
                <a:spcPct val="90000"/>
              </a:lnSpc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913421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Exclamation mark on a yellow background">
            <a:extLst>
              <a:ext uri="{FF2B5EF4-FFF2-40B4-BE49-F238E27FC236}">
                <a16:creationId xmlns:a16="http://schemas.microsoft.com/office/drawing/2014/main" id="{58232EB5-A8CB-F501-715F-9EBBFD431D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876" r="13958"/>
          <a:stretch/>
        </p:blipFill>
        <p:spPr>
          <a:xfrm>
            <a:off x="27" y="-1"/>
            <a:ext cx="1078965" cy="685800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DAE7EA1-5D52-CB81-DBE6-CBE9F301A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4161" y="405684"/>
            <a:ext cx="8776124" cy="1559301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dirty="0"/>
              <a:t>Recap: ‘Psychopathology and Assessments’  3/3</a:t>
            </a:r>
            <a:br>
              <a:rPr lang="en-US" i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3A1AF-C3D8-F20C-38ED-7F638E477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4160" y="1756559"/>
            <a:ext cx="9127456" cy="4695757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endParaRPr lang="en-GB" sz="2400" b="1" dirty="0"/>
          </a:p>
          <a:p>
            <a:pPr marL="380990" indent="-380990"/>
            <a:r>
              <a:rPr lang="en-GB" sz="24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Defence Mechanisms / Transference Counter-transference, </a:t>
            </a:r>
            <a:br>
              <a:rPr lang="en-GB" sz="2400" b="1" dirty="0">
                <a:latin typeface="Arial Narrow" panose="020B0604020202020204" pitchFamily="34" charset="0"/>
                <a:cs typeface="Arial Narrow" panose="020B0604020202020204" pitchFamily="34" charset="0"/>
              </a:rPr>
            </a:br>
            <a:r>
              <a:rPr lang="en-GB" sz="2400" b="1" i="1" dirty="0">
                <a:latin typeface="Arial Narrow" panose="020B0604020202020204" pitchFamily="34" charset="0"/>
                <a:cs typeface="Arial Narrow" panose="020B0604020202020204" pitchFamily="34" charset="0"/>
              </a:rPr>
              <a:t>i.e., understanding of the use of transference and counter transference in assessing intra-personal and interpersonal dynamics.</a:t>
            </a:r>
            <a:br>
              <a:rPr lang="en-GB" sz="2400" b="1" i="1" dirty="0">
                <a:latin typeface="Arial Narrow" panose="020B0604020202020204" pitchFamily="34" charset="0"/>
                <a:cs typeface="Arial Narrow" panose="020B0604020202020204" pitchFamily="34" charset="0"/>
              </a:rPr>
            </a:br>
            <a:endParaRPr lang="en-GB" sz="2400" b="1" i="1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GB" sz="24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Risk assessment </a:t>
            </a:r>
            <a:br>
              <a:rPr lang="en-GB" sz="2400" b="1" dirty="0">
                <a:latin typeface="Arial Narrow" panose="020B0604020202020204" pitchFamily="34" charset="0"/>
                <a:cs typeface="Arial Narrow" panose="020B0604020202020204" pitchFamily="34" charset="0"/>
              </a:rPr>
            </a:br>
            <a:endParaRPr lang="en-GB" sz="2400" b="1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380990" indent="-380990"/>
            <a:r>
              <a:rPr lang="en-GB" sz="24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Session note writing </a:t>
            </a:r>
            <a:br>
              <a:rPr lang="en-GB" sz="2400" b="1" dirty="0">
                <a:latin typeface="Arial Narrow" panose="020B0604020202020204" pitchFamily="34" charset="0"/>
                <a:cs typeface="Arial Narrow" panose="020B0604020202020204" pitchFamily="34" charset="0"/>
              </a:rPr>
            </a:br>
            <a:endParaRPr lang="en-GB" sz="2400" b="1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380990" indent="-380990"/>
            <a:r>
              <a:rPr lang="en-GB" sz="24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An understanding of mild to moderate psychological disturbances.</a:t>
            </a:r>
            <a:br>
              <a:rPr lang="en-GB" sz="2400" b="1" dirty="0">
                <a:latin typeface="Arial Narrow" panose="020B0604020202020204" pitchFamily="34" charset="0"/>
                <a:cs typeface="Arial Narrow" panose="020B0604020202020204" pitchFamily="34" charset="0"/>
              </a:rPr>
            </a:br>
            <a:endParaRPr lang="en-GB" sz="2400" b="1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380990" indent="-380990"/>
            <a:r>
              <a:rPr lang="en-GB" sz="24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 Personality disorders - narcissistic personality disorder, borderline personality disorder</a:t>
            </a:r>
            <a:br>
              <a:rPr lang="en-GB" sz="2400" b="1" dirty="0">
                <a:latin typeface="Arial Narrow" panose="020B0604020202020204" pitchFamily="34" charset="0"/>
                <a:cs typeface="Arial Narrow" panose="020B0604020202020204" pitchFamily="34" charset="0"/>
              </a:rPr>
            </a:b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051329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picture containing timeline&#10;&#10;Description automatically generated">
            <a:extLst>
              <a:ext uri="{FF2B5EF4-FFF2-40B4-BE49-F238E27FC236}">
                <a16:creationId xmlns:a16="http://schemas.microsoft.com/office/drawing/2014/main" id="{26750064-BCF7-1978-8B4E-4DE9255420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870" y="157337"/>
            <a:ext cx="8492930" cy="5669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60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3B02CC3-7FA7-8B39-A002-9A6A5E1F1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8941" y="-54103"/>
            <a:ext cx="5219308" cy="1616203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667" dirty="0">
                <a:latin typeface="Arial" panose="020B0604020202020204" pitchFamily="34" charset="0"/>
              </a:rPr>
              <a:t> Specific Neurodiverse Topics</a:t>
            </a:r>
            <a:br>
              <a:rPr lang="en-US" sz="2667" dirty="0"/>
            </a:br>
            <a:br>
              <a:rPr lang="en-US" sz="2667" dirty="0"/>
            </a:br>
            <a:endParaRPr lang="en-US" sz="2667" dirty="0"/>
          </a:p>
        </p:txBody>
      </p:sp>
      <p:graphicFrame>
        <p:nvGraphicFramePr>
          <p:cNvPr id="11" name="TextBox 2">
            <a:extLst>
              <a:ext uri="{FF2B5EF4-FFF2-40B4-BE49-F238E27FC236}">
                <a16:creationId xmlns:a16="http://schemas.microsoft.com/office/drawing/2014/main" id="{ACDCE3C4-2603-CD32-670B-CE1417054B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4217903"/>
              </p:ext>
            </p:extLst>
          </p:nvPr>
        </p:nvGraphicFramePr>
        <p:xfrm>
          <a:off x="876692" y="1138428"/>
          <a:ext cx="9092809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54694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CB949-CA92-26DF-863A-8E282D87C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918" y="350196"/>
            <a:ext cx="8336327" cy="1624520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dirty="0"/>
              <a:t>Recap: ‘Developmental Psychopathology</a:t>
            </a:r>
            <a:r>
              <a:rPr lang="en-US" sz="3467" dirty="0"/>
              <a:t>’  1/3</a:t>
            </a:r>
            <a:br>
              <a:rPr lang="en-US" sz="3467" i="1" dirty="0"/>
            </a:br>
            <a:endParaRPr lang="en-US" sz="3467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E9965-206D-9B0E-797E-F6CFF50E7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401" y="1459200"/>
            <a:ext cx="8150400" cy="4897149"/>
          </a:xfrm>
        </p:spPr>
        <p:txBody>
          <a:bodyPr anchor="ctr">
            <a:normAutofit/>
          </a:bodyPr>
          <a:lstStyle/>
          <a:p>
            <a:pPr>
              <a:spcAft>
                <a:spcPts val="1067"/>
              </a:spcAft>
            </a:pPr>
            <a:r>
              <a:rPr lang="en-GB" sz="1867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Examined the difference between spiritual emergence and spiritual emergency and psychosis.</a:t>
            </a:r>
          </a:p>
          <a:p>
            <a:pPr>
              <a:spcAft>
                <a:spcPts val="1067"/>
              </a:spcAft>
            </a:pPr>
            <a:br>
              <a:rPr lang="en-GB" sz="1867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867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Looked at the psychiatric categories of mental illness.</a:t>
            </a:r>
          </a:p>
          <a:p>
            <a:pPr>
              <a:spcAft>
                <a:spcPts val="1067"/>
              </a:spcAft>
            </a:pPr>
            <a:r>
              <a:rPr lang="en-GB" sz="1867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Discussed therapeutic strategies for working with selected disorders: depression, bipolar disorder, OCD, eating disorders.</a:t>
            </a:r>
            <a:br>
              <a:rPr lang="en-GB" sz="1867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GB" sz="1867" b="1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067"/>
              </a:spcAft>
            </a:pPr>
            <a:r>
              <a:rPr lang="en-GB" sz="1867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Looked at the anti-psychiatry movement and positive mental health advocacy.</a:t>
            </a:r>
            <a:endParaRPr lang="en-GB" sz="1867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67" dirty="0"/>
          </a:p>
        </p:txBody>
      </p:sp>
      <p:pic>
        <p:nvPicPr>
          <p:cNvPr id="17" name="Picture 16" descr="Colourful carved figures of humans">
            <a:extLst>
              <a:ext uri="{FF2B5EF4-FFF2-40B4-BE49-F238E27FC236}">
                <a16:creationId xmlns:a16="http://schemas.microsoft.com/office/drawing/2014/main" id="{3F8CE914-4D27-DFD7-BEB5-EF7667AA4F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414" r="18180" b="-2"/>
          <a:stretch/>
        </p:blipFill>
        <p:spPr>
          <a:xfrm>
            <a:off x="8618070" y="13"/>
            <a:ext cx="3580753" cy="6857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17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lant growing in a concrete crack">
            <a:extLst>
              <a:ext uri="{FF2B5EF4-FFF2-40B4-BE49-F238E27FC236}">
                <a16:creationId xmlns:a16="http://schemas.microsoft.com/office/drawing/2014/main" id="{4EEB2B44-CDBB-B01A-7668-F0EBBEF51D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050" r="29685"/>
          <a:stretch/>
        </p:blipFill>
        <p:spPr>
          <a:xfrm>
            <a:off x="9225600" y="13"/>
            <a:ext cx="2966397" cy="68579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721797C-4010-4721-B114-300BA0CB8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" y="328513"/>
            <a:ext cx="8582400" cy="1628969"/>
          </a:xfrm>
        </p:spPr>
        <p:txBody>
          <a:bodyPr anchor="ctr">
            <a:normAutofit/>
          </a:bodyPr>
          <a:lstStyle/>
          <a:p>
            <a:pPr algn="l"/>
            <a:r>
              <a:rPr lang="en-US" sz="3600" dirty="0"/>
              <a:t>Recap: ‘Developmental Psychopathology’  2/3</a:t>
            </a:r>
            <a:br>
              <a:rPr lang="en-US" sz="4800" i="1" dirty="0"/>
            </a:br>
            <a:endParaRPr lang="en-GB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BD12F-C91C-42A8-8D17-B31B54A04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200" y="1324800"/>
            <a:ext cx="8371200" cy="4934267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endParaRPr lang="en-GB" sz="2133" b="1" dirty="0"/>
          </a:p>
          <a:p>
            <a:pPr>
              <a:lnSpc>
                <a:spcPct val="90000"/>
              </a:lnSpc>
            </a:pPr>
            <a:r>
              <a:rPr lang="en-GB" sz="2133" b="1" dirty="0"/>
              <a:t>Discussed the meaning and purpose of assessing client suitability for psychosynthesis counselling.</a:t>
            </a:r>
            <a:br>
              <a:rPr lang="en-GB" sz="2133" b="1" dirty="0"/>
            </a:br>
            <a:endParaRPr lang="en-GB" sz="2133" b="1" dirty="0"/>
          </a:p>
          <a:p>
            <a:pPr>
              <a:lnSpc>
                <a:spcPct val="90000"/>
              </a:lnSpc>
            </a:pPr>
            <a:r>
              <a:rPr lang="en-GB" sz="2133" b="1" dirty="0"/>
              <a:t>Explored distinctions between spiritual emergence and spiritual emergency in psychosis.</a:t>
            </a:r>
            <a:br>
              <a:rPr lang="en-GB" sz="2133" b="1" dirty="0"/>
            </a:br>
            <a:endParaRPr lang="en-GB" sz="2133" b="1" dirty="0"/>
          </a:p>
          <a:p>
            <a:pPr>
              <a:lnSpc>
                <a:spcPct val="90000"/>
              </a:lnSpc>
            </a:pPr>
            <a:r>
              <a:rPr lang="en-GB" sz="2133" b="1" dirty="0"/>
              <a:t>Looked at our values about awareness of the importance of medication and limitations of counsellor input.</a:t>
            </a:r>
            <a:br>
              <a:rPr lang="en-GB" sz="2133" b="1" dirty="0"/>
            </a:br>
            <a:br>
              <a:rPr lang="en-GB" sz="2133" b="1" dirty="0"/>
            </a:br>
            <a:endParaRPr lang="en-GB" sz="2133" b="1" dirty="0"/>
          </a:p>
          <a:p>
            <a:pPr>
              <a:lnSpc>
                <a:spcPct val="90000"/>
              </a:lnSpc>
            </a:pPr>
            <a:r>
              <a:rPr lang="en-GB" sz="2133" b="1" dirty="0"/>
              <a:t>An ability to undertake a competent initial assessment and recognising factors that would contra-indicate client suitability.</a:t>
            </a:r>
          </a:p>
          <a:p>
            <a:pPr rtl="0">
              <a:lnSpc>
                <a:spcPct val="90000"/>
              </a:lnSpc>
            </a:pPr>
            <a:endParaRPr lang="en-GB" sz="2133" b="1" dirty="0"/>
          </a:p>
        </p:txBody>
      </p:sp>
    </p:spTree>
    <p:extLst>
      <p:ext uri="{BB962C8B-B14F-4D97-AF65-F5344CB8AC3E}">
        <p14:creationId xmlns:p14="http://schemas.microsoft.com/office/powerpoint/2010/main" val="1617431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olourful carved figures of humans">
            <a:extLst>
              <a:ext uri="{FF2B5EF4-FFF2-40B4-BE49-F238E27FC236}">
                <a16:creationId xmlns:a16="http://schemas.microsoft.com/office/drawing/2014/main" id="{84689FE8-B344-DC4B-86EF-5AF6BB6B8B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486" r="18252" b="-2"/>
          <a:stretch/>
        </p:blipFill>
        <p:spPr>
          <a:xfrm>
            <a:off x="8755200" y="13"/>
            <a:ext cx="3436797" cy="68579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721797C-4010-4721-B114-300BA0CB8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400" y="328513"/>
            <a:ext cx="8716800" cy="1628969"/>
          </a:xfrm>
        </p:spPr>
        <p:txBody>
          <a:bodyPr anchor="ctr">
            <a:noAutofit/>
          </a:bodyPr>
          <a:lstStyle/>
          <a:p>
            <a:pPr algn="l"/>
            <a:r>
              <a:rPr lang="en-US" dirty="0"/>
              <a:t>Recap: ‘Developmental Psychopathology’  3/3</a:t>
            </a:r>
            <a:br>
              <a:rPr lang="en-US" sz="3733" i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BD12F-C91C-42A8-8D17-B31B54A04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00" y="1449601"/>
            <a:ext cx="7507200" cy="4809465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endParaRPr lang="en-GB" sz="1867" b="1" dirty="0"/>
          </a:p>
          <a:p>
            <a:pPr>
              <a:lnSpc>
                <a:spcPct val="90000"/>
              </a:lnSpc>
            </a:pPr>
            <a:r>
              <a:rPr lang="en-GB" sz="2400" b="1" dirty="0"/>
              <a:t>Increase reflective awareness with a focus on the impact of intersectionality and psychological assessment </a:t>
            </a:r>
            <a:br>
              <a:rPr lang="en-GB" sz="2400" b="1" dirty="0"/>
            </a:br>
            <a:endParaRPr lang="en-GB" sz="2400" b="1" dirty="0"/>
          </a:p>
          <a:p>
            <a:pPr>
              <a:lnSpc>
                <a:spcPct val="90000"/>
              </a:lnSpc>
            </a:pPr>
            <a:r>
              <a:rPr lang="en-GB" sz="2400" b="1" dirty="0"/>
              <a:t>An understanding of mild to moderate psychological disturbances.</a:t>
            </a:r>
            <a:br>
              <a:rPr lang="en-GB" sz="2400" b="1" dirty="0"/>
            </a:br>
            <a:endParaRPr lang="en-GB" sz="2400" b="1" dirty="0"/>
          </a:p>
          <a:p>
            <a:pPr>
              <a:lnSpc>
                <a:spcPct val="90000"/>
              </a:lnSpc>
            </a:pPr>
            <a:r>
              <a:rPr lang="en-GB" sz="2400" b="1" dirty="0"/>
              <a:t>To describe your understanding of the terms and list at least two criteria</a:t>
            </a:r>
          </a:p>
          <a:p>
            <a:pPr lvl="1">
              <a:lnSpc>
                <a:spcPct val="90000"/>
              </a:lnSpc>
            </a:pPr>
            <a:r>
              <a:rPr lang="en-GB" b="1" i="1" dirty="0"/>
              <a:t>Personality disorders – </a:t>
            </a:r>
            <a:br>
              <a:rPr lang="en-GB" b="1" i="1" dirty="0"/>
            </a:br>
            <a:r>
              <a:rPr lang="en-GB" b="1" i="1" dirty="0"/>
              <a:t>narcissistic personality disorder, </a:t>
            </a:r>
            <a:br>
              <a:rPr lang="en-GB" b="1" i="1" dirty="0"/>
            </a:br>
            <a:r>
              <a:rPr lang="en-GB" b="1" i="1" dirty="0"/>
              <a:t>borderline personality disorder</a:t>
            </a:r>
            <a:br>
              <a:rPr lang="en-GB" b="1" i="1" dirty="0"/>
            </a:br>
            <a:endParaRPr lang="en-GB" b="1" dirty="0"/>
          </a:p>
          <a:p>
            <a:pPr rtl="0">
              <a:lnSpc>
                <a:spcPct val="90000"/>
              </a:lnSpc>
            </a:pPr>
            <a:r>
              <a:rPr lang="en-GB" sz="2400" b="1" dirty="0"/>
              <a:t> A brief discussion on neurodiversity issues.</a:t>
            </a:r>
          </a:p>
        </p:txBody>
      </p:sp>
    </p:spTree>
    <p:extLst>
      <p:ext uri="{BB962C8B-B14F-4D97-AF65-F5344CB8AC3E}">
        <p14:creationId xmlns:p14="http://schemas.microsoft.com/office/powerpoint/2010/main" val="3326506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F5989-7B2D-4A34-A5A0-07A23F5071B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0" dirty="0">
                <a:solidFill>
                  <a:srgbClr val="0F0F0F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ADHD vs AUTISM: Sensory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BE728-B8DB-4224-9532-73213A8FCBD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243004"/>
            <a:ext cx="10515600" cy="4676775"/>
          </a:xfrm>
        </p:spPr>
        <p:txBody>
          <a:bodyPr>
            <a:noAutofit/>
          </a:bodyPr>
          <a:lstStyle/>
          <a:p>
            <a:pPr lvl="0">
              <a:lnSpc>
                <a:spcPct val="90000"/>
              </a:lnSpc>
              <a:buSzPct val="140000"/>
              <a:buFont typeface="Arial" pitchFamily="34"/>
              <a:buChar char="•"/>
            </a:pPr>
            <a:endParaRPr lang="en-GB" sz="2400" dirty="0"/>
          </a:p>
          <a:p>
            <a:pPr lvl="0">
              <a:lnSpc>
                <a:spcPct val="90000"/>
              </a:lnSpc>
              <a:buSzPct val="140000"/>
              <a:buFont typeface="Arial" pitchFamily="34"/>
              <a:buChar char="•"/>
            </a:pPr>
            <a:endParaRPr lang="en-GB" sz="2400" dirty="0"/>
          </a:p>
        </p:txBody>
      </p:sp>
      <p:pic>
        <p:nvPicPr>
          <p:cNvPr id="4" name="Online Media 3" title="Is it ADHD or Sensory Processing Disorder (SPD)?">
            <a:hlinkClick r:id="" action="ppaction://media"/>
            <a:extLst>
              <a:ext uri="{FF2B5EF4-FFF2-40B4-BE49-F238E27FC236}">
                <a16:creationId xmlns:a16="http://schemas.microsoft.com/office/drawing/2014/main" id="{4333E98E-BFDD-18E0-54BB-C1A15676317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090057" y="1175657"/>
            <a:ext cx="8011886" cy="4506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697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F5989-7B2D-4A34-A5A0-07A23F5071B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/>
            <a:r>
              <a:rPr lang="en-GB" dirty="0">
                <a:solidFill>
                  <a:srgbClr val="1E9399"/>
                </a:solidFill>
              </a:rPr>
              <a:t>Sensory Processing </a:t>
            </a:r>
            <a:r>
              <a:rPr lang="en-GB" dirty="0" err="1">
                <a:solidFill>
                  <a:srgbClr val="1E9399"/>
                </a:solidFill>
              </a:rPr>
              <a:t>DiFFERENCES</a:t>
            </a:r>
            <a:r>
              <a:rPr lang="en-GB" dirty="0">
                <a:solidFill>
                  <a:srgbClr val="1E9399"/>
                </a:solidFill>
              </a:rPr>
              <a:t> (SPD) / ADHD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BE728-B8DB-4224-9532-73213A8FCBD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243004"/>
            <a:ext cx="10515600" cy="4676775"/>
          </a:xfrm>
        </p:spPr>
        <p:txBody>
          <a:bodyPr>
            <a:noAutofit/>
          </a:bodyPr>
          <a:lstStyle/>
          <a:p>
            <a:pPr lvl="0">
              <a:lnSpc>
                <a:spcPct val="90000"/>
              </a:lnSpc>
              <a:buSzPct val="140000"/>
              <a:buFont typeface="Arial" pitchFamily="34"/>
              <a:buChar char="•"/>
            </a:pPr>
            <a:endParaRPr lang="en-GB" sz="2400" dirty="0"/>
          </a:p>
          <a:p>
            <a:pPr lvl="0">
              <a:lnSpc>
                <a:spcPct val="90000"/>
              </a:lnSpc>
              <a:buSzPct val="140000"/>
              <a:buFont typeface="Arial" pitchFamily="34"/>
              <a:buChar char="•"/>
            </a:pPr>
            <a:endParaRPr lang="en-GB" sz="2400" dirty="0"/>
          </a:p>
        </p:txBody>
      </p:sp>
      <p:pic>
        <p:nvPicPr>
          <p:cNvPr id="4" name="Online Media 3" title="Is it ADHD or Sensory Processing Disorder (SPD)?">
            <a:hlinkClick r:id="" action="ppaction://media"/>
            <a:extLst>
              <a:ext uri="{FF2B5EF4-FFF2-40B4-BE49-F238E27FC236}">
                <a16:creationId xmlns:a16="http://schemas.microsoft.com/office/drawing/2014/main" id="{4333E98E-BFDD-18E0-54BB-C1A15676317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090057" y="1175657"/>
            <a:ext cx="8011886" cy="4506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013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B3064-73BC-4DE7-C6C4-8304C94E4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group of guitars from a ceiling&#10;&#10;Description automatically generated with low confidence">
            <a:extLst>
              <a:ext uri="{FF2B5EF4-FFF2-40B4-BE49-F238E27FC236}">
                <a16:creationId xmlns:a16="http://schemas.microsoft.com/office/drawing/2014/main" id="{142F24E6-3F5C-F805-EAB9-34AB12B6DBE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20" r="47592"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D35AB2-31FF-0C5C-9874-11C6BC0A7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57189"/>
            <a:ext cx="5155263" cy="557190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BREAK</a:t>
            </a:r>
            <a:br>
              <a:rPr lang="en-US" b="1">
                <a:solidFill>
                  <a:srgbClr val="FFFFFF"/>
                </a:solidFill>
              </a:rPr>
            </a:br>
            <a:r>
              <a:rPr lang="en-US" b="1">
                <a:solidFill>
                  <a:srgbClr val="FFFFFF"/>
                </a:solidFill>
              </a:rPr>
              <a:t>(20 minutes)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71784D1-7E31-F9F9-C6AE-29C4CAB68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5375" y="557189"/>
            <a:ext cx="5158424" cy="5571900"/>
          </a:xfrm>
        </p:spPr>
        <p:txBody>
          <a:bodyPr anchor="ctr">
            <a:normAutofit/>
          </a:bodyPr>
          <a:lstStyle/>
          <a:p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481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F5989-7B2D-4A34-A5A0-07A23F5071B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>
                <a:solidFill>
                  <a:srgbClr val="1E9399"/>
                </a:solidFill>
              </a:rPr>
              <a:t>What we will cover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BE728-B8DB-4224-9532-73213A8FCBD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243004"/>
            <a:ext cx="10515600" cy="4676775"/>
          </a:xfrm>
        </p:spPr>
        <p:txBody>
          <a:bodyPr>
            <a:noAutofit/>
          </a:bodyPr>
          <a:lstStyle/>
          <a:p>
            <a:pPr lvl="0">
              <a:lnSpc>
                <a:spcPct val="90000"/>
              </a:lnSpc>
              <a:buSzPct val="140000"/>
              <a:buFont typeface="Arial" pitchFamily="34"/>
              <a:buChar char="•"/>
            </a:pPr>
            <a:endParaRPr lang="en-GB" sz="2400" dirty="0"/>
          </a:p>
          <a:p>
            <a:pPr lvl="0">
              <a:lnSpc>
                <a:spcPct val="90000"/>
              </a:lnSpc>
              <a:buSzPct val="140000"/>
              <a:buFont typeface="Arial" pitchFamily="34"/>
              <a:buChar char="•"/>
            </a:pPr>
            <a:endParaRPr lang="en-GB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BFC544-6CDB-46EE-9E1F-D177EA3E4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8044" y="363912"/>
            <a:ext cx="2387635" cy="648071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63938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6699F-A29A-4EE9-BE73-5F93E70F5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225A3-6994-4B55-9A03-D71B47745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93455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6699F-A29A-4EE9-BE73-5F93E70F5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225A3-6994-4B55-9A03-D71B47745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71747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Toy plastic numbers">
            <a:extLst>
              <a:ext uri="{FF2B5EF4-FFF2-40B4-BE49-F238E27FC236}">
                <a16:creationId xmlns:a16="http://schemas.microsoft.com/office/drawing/2014/main" id="{E5265B3B-D472-F060-7EB7-C89CC0AC29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" r="5870" b="-1"/>
          <a:stretch/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3B02CC3-7FA7-8B39-A002-9A6A5E1F1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228" y="743447"/>
            <a:ext cx="3973385" cy="3692028"/>
          </a:xfrm>
          <a:noFill/>
        </p:spPr>
        <p:txBody>
          <a:bodyPr vert="horz" lIns="91440" tIns="45720" rIns="91440" bIns="45720" rtlCol="0" anchor="b" anchorCtr="0" compatLnSpc="1">
            <a:normAutofit/>
          </a:bodyPr>
          <a:lstStyle/>
          <a:p>
            <a:pPr>
              <a:spcBef>
                <a:spcPct val="0"/>
              </a:spcBef>
            </a:pPr>
            <a:r>
              <a:rPr lang="en-US" sz="5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DAY  two</a:t>
            </a:r>
          </a:p>
        </p:txBody>
      </p:sp>
    </p:spTree>
    <p:extLst>
      <p:ext uri="{BB962C8B-B14F-4D97-AF65-F5344CB8AC3E}">
        <p14:creationId xmlns:p14="http://schemas.microsoft.com/office/powerpoint/2010/main" val="1080121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3B02CC3-7FA7-8B39-A002-9A6A5E1F1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696" y="100045"/>
            <a:ext cx="8956545" cy="1624520"/>
          </a:xfrm>
        </p:spPr>
        <p:txBody>
          <a:bodyPr vert="horz" wrap="square" lIns="121920" tIns="60960" rIns="121920" bIns="60960" rtlCol="0" anchor="ctr" anchorCtr="0" compatLnSpc="1">
            <a:normAutofit fontScale="90000"/>
          </a:bodyPr>
          <a:lstStyle/>
          <a:p>
            <a:pPr algn="l">
              <a:lnSpc>
                <a:spcPct val="90000"/>
              </a:lnSpc>
            </a:pPr>
            <a:br>
              <a:rPr lang="en-US" sz="1333" dirty="0">
                <a:solidFill>
                  <a:schemeClr val="tx1"/>
                </a:solidFill>
              </a:rPr>
            </a:br>
            <a:r>
              <a:rPr lang="en-US" sz="5333" dirty="0">
                <a:solidFill>
                  <a:schemeClr val="tx1"/>
                </a:solidFill>
              </a:rPr>
              <a:t>Topics: Mental Health Topics  1/ 2</a:t>
            </a:r>
            <a:br>
              <a:rPr lang="en-US" sz="3600" dirty="0">
                <a:solidFill>
                  <a:schemeClr val="tx1"/>
                </a:solidFill>
              </a:rPr>
            </a:br>
            <a:br>
              <a:rPr lang="en-US" sz="3600" dirty="0">
                <a:solidFill>
                  <a:schemeClr val="tx1"/>
                </a:solidFill>
              </a:rPr>
            </a:br>
            <a:br>
              <a:rPr lang="en-US" sz="1333" dirty="0">
                <a:solidFill>
                  <a:schemeClr val="tx1"/>
                </a:solidFill>
              </a:rPr>
            </a:br>
            <a:br>
              <a:rPr lang="en-US" sz="1333" dirty="0">
                <a:solidFill>
                  <a:schemeClr val="tx1"/>
                </a:solidFill>
              </a:rPr>
            </a:br>
            <a:br>
              <a:rPr lang="en-US" sz="1333" dirty="0">
                <a:solidFill>
                  <a:schemeClr val="tx1"/>
                </a:solidFill>
              </a:rPr>
            </a:br>
            <a:endParaRPr lang="en-US" sz="1333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759FCC-5C8E-339B-A9E7-8660D7F9385D}"/>
              </a:ext>
            </a:extLst>
          </p:cNvPr>
          <p:cNvSpPr txBox="1"/>
          <p:nvPr/>
        </p:nvSpPr>
        <p:spPr>
          <a:xfrm>
            <a:off x="761802" y="1386542"/>
            <a:ext cx="9099375" cy="4969807"/>
          </a:xfrm>
          <a:prstGeom prst="rect">
            <a:avLst/>
          </a:prstGeom>
        </p:spPr>
        <p:txBody>
          <a:bodyPr vert="horz" lIns="121920" tIns="60960" rIns="121920" bIns="60960" rtlCol="0" anchor="ctr">
            <a:normAutofit/>
          </a:bodyPr>
          <a:lstStyle/>
          <a:p>
            <a:pPr indent="-304792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733" b="1" dirty="0"/>
              <a:t>Demystifying Mental Illness</a:t>
            </a:r>
          </a:p>
          <a:p>
            <a:pPr indent="-304792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733" b="1" dirty="0"/>
              <a:t>Active Listening and Building Rapport</a:t>
            </a:r>
          </a:p>
          <a:p>
            <a:pPr indent="-304792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733" b="1" dirty="0"/>
              <a:t>Ethical Considerations</a:t>
            </a:r>
          </a:p>
          <a:p>
            <a:pPr indent="-304792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733" b="1" dirty="0"/>
              <a:t>Therapeutic Techniques</a:t>
            </a:r>
          </a:p>
          <a:p>
            <a:pPr indent="-304792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733" b="1" dirty="0"/>
              <a:t>Culturally Competent Care</a:t>
            </a:r>
          </a:p>
          <a:p>
            <a:pPr indent="-304792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733" b="1" dirty="0"/>
              <a:t>Self-Care for Therapists</a:t>
            </a:r>
          </a:p>
          <a:p>
            <a:pPr indent="-304792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733" b="1" dirty="0"/>
              <a:t>Crisis Management</a:t>
            </a:r>
          </a:p>
          <a:p>
            <a:pPr indent="-304792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733" b="1" dirty="0"/>
              <a:t>Supervision and Professional Development</a:t>
            </a:r>
          </a:p>
        </p:txBody>
      </p:sp>
      <p:pic>
        <p:nvPicPr>
          <p:cNvPr id="5" name="Content Placeholder 4" descr="A picture containing outdoor, day&#10;&#10;Description automatically generated">
            <a:extLst>
              <a:ext uri="{FF2B5EF4-FFF2-40B4-BE49-F238E27FC236}">
                <a16:creationId xmlns:a16="http://schemas.microsoft.com/office/drawing/2014/main" id="{D483FD22-BE47-DEA7-171A-86E7566C9C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45" r="30048"/>
          <a:stretch/>
        </p:blipFill>
        <p:spPr>
          <a:xfrm>
            <a:off x="11295529" y="13"/>
            <a:ext cx="903295" cy="68579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074598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6BBFD-7378-4147-A976-124BFA438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tx1"/>
                </a:solidFill>
              </a:rPr>
              <a:t>Bipolar Disorder</a:t>
            </a:r>
            <a:br>
              <a:rPr lang="en-GB" b="1" dirty="0">
                <a:solidFill>
                  <a:schemeClr val="tx1"/>
                </a:solidFill>
              </a:rPr>
            </a:br>
            <a:r>
              <a:rPr lang="en-GB" sz="2400" i="1" dirty="0">
                <a:solidFill>
                  <a:schemeClr val="tx1"/>
                </a:solidFill>
              </a:rPr>
              <a:t>(6:10)</a:t>
            </a:r>
            <a:endParaRPr lang="en-GB" i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C099D-8FB2-4F45-8A79-DB430C0E6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1376981"/>
            <a:ext cx="8596668" cy="4664383"/>
          </a:xfrm>
        </p:spPr>
        <p:txBody>
          <a:bodyPr>
            <a:normAutofit/>
          </a:bodyPr>
          <a:lstStyle/>
          <a:p>
            <a:pPr marL="400041" marR="27305" indent="-400041">
              <a:buAutoNum type="romanLcParenR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00041" marR="27305" indent="-400041">
              <a:buAutoNum type="romanLcParenR"/>
            </a:pPr>
            <a:endParaRPr lang="en-GB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/>
          </a:p>
        </p:txBody>
      </p:sp>
      <p:pic>
        <p:nvPicPr>
          <p:cNvPr id="4" name="Online Media 3" descr="10 Signs of Bipolar Disorder">
            <a:hlinkClick r:id="" action="ppaction://media"/>
            <a:extLst>
              <a:ext uri="{FF2B5EF4-FFF2-40B4-BE49-F238E27FC236}">
                <a16:creationId xmlns:a16="http://schemas.microsoft.com/office/drawing/2014/main" id="{0D5D0E3A-76E6-4649-9AC2-5EF52BED08C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786247" y="1163832"/>
            <a:ext cx="8018291" cy="453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95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6699F-A29A-4EE9-BE73-5F93E70F5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225A3-6994-4B55-9A03-D71B47745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61670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outdoor, day&#10;&#10;Description automatically generated">
            <a:extLst>
              <a:ext uri="{FF2B5EF4-FFF2-40B4-BE49-F238E27FC236}">
                <a16:creationId xmlns:a16="http://schemas.microsoft.com/office/drawing/2014/main" id="{D483FD22-BE47-DEA7-171A-86E7566C9C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17"/>
          <a:stretch/>
        </p:blipFill>
        <p:spPr>
          <a:xfrm>
            <a:off x="0" y="13"/>
            <a:ext cx="12191973" cy="6857987"/>
          </a:xfr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46B0E4D-A465-F1F2-EBB6-F9A9A4975A2E}"/>
              </a:ext>
            </a:extLst>
          </p:cNvPr>
          <p:cNvSpPr txBox="1"/>
          <p:nvPr/>
        </p:nvSpPr>
        <p:spPr>
          <a:xfrm>
            <a:off x="2575983" y="1"/>
            <a:ext cx="6203942" cy="9130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333" b="1" dirty="0">
                <a:latin typeface="Arial Narrow" panose="020B0604020202020204" pitchFamily="34" charset="0"/>
                <a:cs typeface="Arial Narrow" panose="020B0604020202020204" pitchFamily="34" charset="0"/>
              </a:rPr>
              <a:t> Depression Explained</a:t>
            </a:r>
          </a:p>
        </p:txBody>
      </p:sp>
      <p:pic>
        <p:nvPicPr>
          <p:cNvPr id="2" name="Online Media 1" title="Depression Explained (Major Depressive Disorder)">
            <a:hlinkClick r:id="" action="ppaction://media"/>
            <a:extLst>
              <a:ext uri="{FF2B5EF4-FFF2-40B4-BE49-F238E27FC236}">
                <a16:creationId xmlns:a16="http://schemas.microsoft.com/office/drawing/2014/main" id="{4EB471F4-5DA9-1BDE-CCA6-7852060432E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1197335" y="943849"/>
            <a:ext cx="10148047" cy="573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069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A998AFB-0044-75BC-3C71-466A1391B377}"/>
              </a:ext>
            </a:extLst>
          </p:cNvPr>
          <p:cNvSpPr txBox="1"/>
          <p:nvPr/>
        </p:nvSpPr>
        <p:spPr>
          <a:xfrm>
            <a:off x="1524000" y="4370228"/>
            <a:ext cx="9144000" cy="1193137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4400" b="1" dirty="0">
                <a:latin typeface="+mj-lt"/>
                <a:ea typeface="+mj-ea"/>
                <a:cs typeface="+mj-cs"/>
              </a:rPr>
              <a:t>SUICIDE PREVENTION</a:t>
            </a:r>
          </a:p>
        </p:txBody>
      </p:sp>
      <p:pic>
        <p:nvPicPr>
          <p:cNvPr id="5" name="Picture 4" descr="A close-up of a hand reaching for another hand&#10;&#10;Description automatically generated">
            <a:extLst>
              <a:ext uri="{FF2B5EF4-FFF2-40B4-BE49-F238E27FC236}">
                <a16:creationId xmlns:a16="http://schemas.microsoft.com/office/drawing/2014/main" id="{7E5DE340-1C9D-2D0A-38B0-7BD852D9920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85" r="-1" b="2864"/>
          <a:stretch/>
        </p:blipFill>
        <p:spPr>
          <a:xfrm>
            <a:off x="1690046" y="386205"/>
            <a:ext cx="8903441" cy="3766876"/>
          </a:xfrm>
          <a:custGeom>
            <a:avLst/>
            <a:gdLst/>
            <a:ahLst/>
            <a:cxnLst/>
            <a:rect l="l" t="t" r="r" b="b"/>
            <a:pathLst>
              <a:path w="8903441" h="3766876">
                <a:moveTo>
                  <a:pt x="8890380" y="1667288"/>
                </a:moveTo>
                <a:lnTo>
                  <a:pt x="8895460" y="1677046"/>
                </a:lnTo>
                <a:cubicBezTo>
                  <a:pt x="8905866" y="1703466"/>
                  <a:pt x="8906717" y="1724063"/>
                  <a:pt x="8894323" y="1729738"/>
                </a:cubicBezTo>
                <a:lnTo>
                  <a:pt x="8891365" y="1729349"/>
                </a:lnTo>
                <a:lnTo>
                  <a:pt x="8891421" y="1712412"/>
                </a:lnTo>
                <a:cubicBezTo>
                  <a:pt x="8891337" y="1700170"/>
                  <a:pt x="8891138" y="1688653"/>
                  <a:pt x="8890856" y="1678595"/>
                </a:cubicBezTo>
                <a:close/>
                <a:moveTo>
                  <a:pt x="8888451" y="1641624"/>
                </a:moveTo>
                <a:cubicBezTo>
                  <a:pt x="8888927" y="1642911"/>
                  <a:pt x="8889388" y="1647125"/>
                  <a:pt x="8889800" y="1653531"/>
                </a:cubicBezTo>
                <a:lnTo>
                  <a:pt x="8890380" y="1667288"/>
                </a:lnTo>
                <a:lnTo>
                  <a:pt x="8884645" y="1656272"/>
                </a:lnTo>
                <a:lnTo>
                  <a:pt x="8886368" y="1643902"/>
                </a:lnTo>
                <a:cubicBezTo>
                  <a:pt x="8887058" y="1640758"/>
                  <a:pt x="8887743" y="1639762"/>
                  <a:pt x="8888451" y="1641624"/>
                </a:cubicBezTo>
                <a:close/>
                <a:moveTo>
                  <a:pt x="999724" y="1241031"/>
                </a:moveTo>
                <a:cubicBezTo>
                  <a:pt x="998379" y="1242269"/>
                  <a:pt x="996554" y="1243547"/>
                  <a:pt x="995210" y="1244785"/>
                </a:cubicBezTo>
                <a:cubicBezTo>
                  <a:pt x="1005261" y="1248940"/>
                  <a:pt x="1015746" y="1252497"/>
                  <a:pt x="1025774" y="1256374"/>
                </a:cubicBezTo>
                <a:cubicBezTo>
                  <a:pt x="1037480" y="1257305"/>
                  <a:pt x="1049668" y="1258195"/>
                  <a:pt x="1060894" y="1259168"/>
                </a:cubicBezTo>
                <a:cubicBezTo>
                  <a:pt x="1040504" y="1253123"/>
                  <a:pt x="1020115" y="1247076"/>
                  <a:pt x="999724" y="1241031"/>
                </a:cubicBezTo>
                <a:close/>
                <a:moveTo>
                  <a:pt x="1319296" y="820371"/>
                </a:moveTo>
                <a:cubicBezTo>
                  <a:pt x="1421680" y="872109"/>
                  <a:pt x="1548101" y="905226"/>
                  <a:pt x="1681342" y="933268"/>
                </a:cubicBezTo>
                <a:cubicBezTo>
                  <a:pt x="1683167" y="931988"/>
                  <a:pt x="1684512" y="930751"/>
                  <a:pt x="1686338" y="929471"/>
                </a:cubicBezTo>
                <a:cubicBezTo>
                  <a:pt x="1563998" y="893197"/>
                  <a:pt x="1441635" y="856646"/>
                  <a:pt x="1319296" y="820371"/>
                </a:cubicBezTo>
                <a:close/>
                <a:moveTo>
                  <a:pt x="7894848" y="858"/>
                </a:moveTo>
                <a:cubicBezTo>
                  <a:pt x="7906700" y="3455"/>
                  <a:pt x="7910528" y="8436"/>
                  <a:pt x="7907341" y="16271"/>
                </a:cubicBezTo>
                <a:cubicBezTo>
                  <a:pt x="7902882" y="26177"/>
                  <a:pt x="7893520" y="35394"/>
                  <a:pt x="7882642" y="43904"/>
                </a:cubicBezTo>
                <a:cubicBezTo>
                  <a:pt x="7831903" y="83897"/>
                  <a:pt x="7856047" y="94090"/>
                  <a:pt x="7927648" y="93123"/>
                </a:cubicBezTo>
                <a:cubicBezTo>
                  <a:pt x="7991511" y="92274"/>
                  <a:pt x="8055318" y="85274"/>
                  <a:pt x="8119655" y="78787"/>
                </a:cubicBezTo>
                <a:cubicBezTo>
                  <a:pt x="8151329" y="75447"/>
                  <a:pt x="8152942" y="77265"/>
                  <a:pt x="8141786" y="93635"/>
                </a:cubicBezTo>
                <a:cubicBezTo>
                  <a:pt x="8123815" y="120677"/>
                  <a:pt x="8122595" y="145410"/>
                  <a:pt x="8151055" y="166138"/>
                </a:cubicBezTo>
                <a:cubicBezTo>
                  <a:pt x="8157767" y="170866"/>
                  <a:pt x="8162605" y="176318"/>
                  <a:pt x="8160811" y="183471"/>
                </a:cubicBezTo>
                <a:cubicBezTo>
                  <a:pt x="8152723" y="212724"/>
                  <a:pt x="8169841" y="236686"/>
                  <a:pt x="8187466" y="260884"/>
                </a:cubicBezTo>
                <a:cubicBezTo>
                  <a:pt x="8217175" y="301371"/>
                  <a:pt x="8254836" y="338641"/>
                  <a:pt x="8295790" y="374783"/>
                </a:cubicBezTo>
                <a:cubicBezTo>
                  <a:pt x="8324664" y="400232"/>
                  <a:pt x="8342922" y="431650"/>
                  <a:pt x="8406170" y="440370"/>
                </a:cubicBezTo>
                <a:cubicBezTo>
                  <a:pt x="8421364" y="442394"/>
                  <a:pt x="8426373" y="449790"/>
                  <a:pt x="8420903" y="459225"/>
                </a:cubicBezTo>
                <a:cubicBezTo>
                  <a:pt x="8402820" y="490474"/>
                  <a:pt x="8417534" y="514648"/>
                  <a:pt x="8450800" y="534955"/>
                </a:cubicBezTo>
                <a:cubicBezTo>
                  <a:pt x="8462563" y="542037"/>
                  <a:pt x="8458146" y="546902"/>
                  <a:pt x="8442097" y="551669"/>
                </a:cubicBezTo>
                <a:cubicBezTo>
                  <a:pt x="8423667" y="556925"/>
                  <a:pt x="8409328" y="564619"/>
                  <a:pt x="8398067" y="574282"/>
                </a:cubicBezTo>
                <a:cubicBezTo>
                  <a:pt x="8379577" y="589897"/>
                  <a:pt x="8370872" y="606612"/>
                  <a:pt x="8363634" y="623477"/>
                </a:cubicBezTo>
                <a:cubicBezTo>
                  <a:pt x="8352394" y="649929"/>
                  <a:pt x="8339133" y="675439"/>
                  <a:pt x="8295388" y="695789"/>
                </a:cubicBezTo>
                <a:cubicBezTo>
                  <a:pt x="8282368" y="701969"/>
                  <a:pt x="8271923" y="709882"/>
                  <a:pt x="8260972" y="717559"/>
                </a:cubicBezTo>
                <a:cubicBezTo>
                  <a:pt x="8264466" y="724248"/>
                  <a:pt x="8273101" y="728807"/>
                  <a:pt x="8289132" y="729358"/>
                </a:cubicBezTo>
                <a:cubicBezTo>
                  <a:pt x="8391169" y="732995"/>
                  <a:pt x="8386647" y="769770"/>
                  <a:pt x="8387346" y="810845"/>
                </a:cubicBezTo>
                <a:cubicBezTo>
                  <a:pt x="8388418" y="861681"/>
                  <a:pt x="8330862" y="890238"/>
                  <a:pt x="8259532" y="916368"/>
                </a:cubicBezTo>
                <a:cubicBezTo>
                  <a:pt x="8235122" y="925226"/>
                  <a:pt x="8199529" y="928071"/>
                  <a:pt x="8191769" y="950020"/>
                </a:cubicBezTo>
                <a:cubicBezTo>
                  <a:pt x="8234379" y="966427"/>
                  <a:pt x="8282955" y="945934"/>
                  <a:pt x="8327664" y="947606"/>
                </a:cubicBezTo>
                <a:cubicBezTo>
                  <a:pt x="8364609" y="949119"/>
                  <a:pt x="8424473" y="941347"/>
                  <a:pt x="8378206" y="982626"/>
                </a:cubicBezTo>
                <a:cubicBezTo>
                  <a:pt x="8364736" y="994722"/>
                  <a:pt x="8382242" y="1001021"/>
                  <a:pt x="8400605" y="1000529"/>
                </a:cubicBezTo>
                <a:cubicBezTo>
                  <a:pt x="8549357" y="995586"/>
                  <a:pt x="8487684" y="1076555"/>
                  <a:pt x="8538706" y="1111533"/>
                </a:cubicBezTo>
                <a:cubicBezTo>
                  <a:pt x="8553092" y="1120905"/>
                  <a:pt x="8540810" y="1141011"/>
                  <a:pt x="8520556" y="1147547"/>
                </a:cubicBezTo>
                <a:cubicBezTo>
                  <a:pt x="8392015" y="1189611"/>
                  <a:pt x="8380569" y="1263373"/>
                  <a:pt x="8322605" y="1331423"/>
                </a:cubicBezTo>
                <a:cubicBezTo>
                  <a:pt x="8393509" y="1350105"/>
                  <a:pt x="8476647" y="1348124"/>
                  <a:pt x="8552563" y="1357692"/>
                </a:cubicBezTo>
                <a:cubicBezTo>
                  <a:pt x="8631413" y="1367560"/>
                  <a:pt x="8632510" y="1380057"/>
                  <a:pt x="8572872" y="1434543"/>
                </a:cubicBezTo>
                <a:cubicBezTo>
                  <a:pt x="8740108" y="1430496"/>
                  <a:pt x="8740108" y="1430496"/>
                  <a:pt x="8695911" y="1511890"/>
                </a:cubicBezTo>
                <a:cubicBezTo>
                  <a:pt x="8766152" y="1509223"/>
                  <a:pt x="8835070" y="1574251"/>
                  <a:pt x="8873147" y="1634187"/>
                </a:cubicBezTo>
                <a:lnTo>
                  <a:pt x="8884645" y="1656272"/>
                </a:lnTo>
                <a:lnTo>
                  <a:pt x="8884254" y="1659075"/>
                </a:lnTo>
                <a:cubicBezTo>
                  <a:pt x="8882795" y="1672543"/>
                  <a:pt x="8881198" y="1691773"/>
                  <a:pt x="8879232" y="1711097"/>
                </a:cubicBezTo>
                <a:lnTo>
                  <a:pt x="8877347" y="1727504"/>
                </a:lnTo>
                <a:lnTo>
                  <a:pt x="8865337" y="1725923"/>
                </a:lnTo>
                <a:cubicBezTo>
                  <a:pt x="8855639" y="1721668"/>
                  <a:pt x="8848716" y="1720054"/>
                  <a:pt x="8843722" y="1720152"/>
                </a:cubicBezTo>
                <a:cubicBezTo>
                  <a:pt x="8828739" y="1720444"/>
                  <a:pt x="8831115" y="1736133"/>
                  <a:pt x="8828004" y="1742073"/>
                </a:cubicBezTo>
                <a:cubicBezTo>
                  <a:pt x="8817547" y="1760900"/>
                  <a:pt x="8843589" y="1770647"/>
                  <a:pt x="8861127" y="1782820"/>
                </a:cubicBezTo>
                <a:cubicBezTo>
                  <a:pt x="8867694" y="1787281"/>
                  <a:pt x="8872382" y="1766445"/>
                  <a:pt x="8875975" y="1739445"/>
                </a:cubicBezTo>
                <a:lnTo>
                  <a:pt x="8877347" y="1727504"/>
                </a:lnTo>
                <a:lnTo>
                  <a:pt x="8891365" y="1729349"/>
                </a:lnTo>
                <a:lnTo>
                  <a:pt x="8891294" y="1750579"/>
                </a:lnTo>
                <a:cubicBezTo>
                  <a:pt x="8890576" y="1802412"/>
                  <a:pt x="8887485" y="1854103"/>
                  <a:pt x="8879895" y="1858687"/>
                </a:cubicBezTo>
                <a:cubicBezTo>
                  <a:pt x="8799411" y="1907447"/>
                  <a:pt x="8858072" y="1996322"/>
                  <a:pt x="8700018" y="2022228"/>
                </a:cubicBezTo>
                <a:cubicBezTo>
                  <a:pt x="8628887" y="2034069"/>
                  <a:pt x="8597252" y="2070985"/>
                  <a:pt x="8546517" y="2094468"/>
                </a:cubicBezTo>
                <a:cubicBezTo>
                  <a:pt x="8369592" y="2175758"/>
                  <a:pt x="8254890" y="2270617"/>
                  <a:pt x="8208310" y="2391116"/>
                </a:cubicBezTo>
                <a:cubicBezTo>
                  <a:pt x="8195251" y="2424444"/>
                  <a:pt x="8137916" y="2455501"/>
                  <a:pt x="8101924" y="2486924"/>
                </a:cubicBezTo>
                <a:cubicBezTo>
                  <a:pt x="8122498" y="2506105"/>
                  <a:pt x="8219539" y="2452814"/>
                  <a:pt x="8188722" y="2510086"/>
                </a:cubicBezTo>
                <a:cubicBezTo>
                  <a:pt x="8165388" y="2553270"/>
                  <a:pt x="8098391" y="2584616"/>
                  <a:pt x="8035596" y="2614194"/>
                </a:cubicBezTo>
                <a:cubicBezTo>
                  <a:pt x="7963481" y="2647947"/>
                  <a:pt x="7883214" y="2677100"/>
                  <a:pt x="7854509" y="2730830"/>
                </a:cubicBezTo>
                <a:cubicBezTo>
                  <a:pt x="7848249" y="2742293"/>
                  <a:pt x="6341566" y="3671513"/>
                  <a:pt x="4141410" y="3763614"/>
                </a:cubicBezTo>
                <a:cubicBezTo>
                  <a:pt x="3781875" y="3778662"/>
                  <a:pt x="2353277" y="3737838"/>
                  <a:pt x="2161737" y="3718831"/>
                </a:cubicBezTo>
                <a:cubicBezTo>
                  <a:pt x="1964811" y="3699179"/>
                  <a:pt x="1793107" y="3646810"/>
                  <a:pt x="1591600" y="3635674"/>
                </a:cubicBezTo>
                <a:cubicBezTo>
                  <a:pt x="1485018" y="3629919"/>
                  <a:pt x="1381185" y="3611329"/>
                  <a:pt x="1390654" y="3531585"/>
                </a:cubicBezTo>
                <a:cubicBezTo>
                  <a:pt x="1393510" y="3508948"/>
                  <a:pt x="1364047" y="3493344"/>
                  <a:pt x="1320867" y="3503571"/>
                </a:cubicBezTo>
                <a:cubicBezTo>
                  <a:pt x="1239265" y="3523046"/>
                  <a:pt x="1198946" y="3494124"/>
                  <a:pt x="1150681" y="3474015"/>
                </a:cubicBezTo>
                <a:cubicBezTo>
                  <a:pt x="1065213" y="3438422"/>
                  <a:pt x="982868" y="3399757"/>
                  <a:pt x="851974" y="3403971"/>
                </a:cubicBezTo>
                <a:cubicBezTo>
                  <a:pt x="873994" y="3367898"/>
                  <a:pt x="917237" y="3369420"/>
                  <a:pt x="956780" y="3372944"/>
                </a:cubicBezTo>
                <a:cubicBezTo>
                  <a:pt x="1061276" y="3382521"/>
                  <a:pt x="1164043" y="3394488"/>
                  <a:pt x="1268515" y="3403788"/>
                </a:cubicBezTo>
                <a:cubicBezTo>
                  <a:pt x="1336376" y="3409863"/>
                  <a:pt x="1404651" y="3420660"/>
                  <a:pt x="1492884" y="3399484"/>
                </a:cubicBezTo>
                <a:cubicBezTo>
                  <a:pt x="1410006" y="3338199"/>
                  <a:pt x="1277736" y="3337777"/>
                  <a:pt x="1169657" y="3325996"/>
                </a:cubicBezTo>
                <a:cubicBezTo>
                  <a:pt x="1034677" y="3311259"/>
                  <a:pt x="951965" y="3268429"/>
                  <a:pt x="853866" y="3221353"/>
                </a:cubicBezTo>
                <a:cubicBezTo>
                  <a:pt x="950752" y="3199416"/>
                  <a:pt x="1014418" y="3234964"/>
                  <a:pt x="1090648" y="3226034"/>
                </a:cubicBezTo>
                <a:cubicBezTo>
                  <a:pt x="1094340" y="3218434"/>
                  <a:pt x="1100169" y="3207568"/>
                  <a:pt x="1099183" y="3207375"/>
                </a:cubicBezTo>
                <a:cubicBezTo>
                  <a:pt x="971072" y="3188118"/>
                  <a:pt x="907890" y="3136018"/>
                  <a:pt x="882137" y="3068880"/>
                </a:cubicBezTo>
                <a:cubicBezTo>
                  <a:pt x="868924" y="3034221"/>
                  <a:pt x="822286" y="3027121"/>
                  <a:pt x="776145" y="3014660"/>
                </a:cubicBezTo>
                <a:cubicBezTo>
                  <a:pt x="613874" y="2970419"/>
                  <a:pt x="443486" y="2933046"/>
                  <a:pt x="307191" y="2864697"/>
                </a:cubicBezTo>
                <a:cubicBezTo>
                  <a:pt x="457123" y="2862170"/>
                  <a:pt x="581367" y="2903594"/>
                  <a:pt x="743379" y="2911759"/>
                </a:cubicBezTo>
                <a:cubicBezTo>
                  <a:pt x="608349" y="2835743"/>
                  <a:pt x="439124" y="2806104"/>
                  <a:pt x="284020" y="2766269"/>
                </a:cubicBezTo>
                <a:cubicBezTo>
                  <a:pt x="213164" y="2748143"/>
                  <a:pt x="147010" y="2722889"/>
                  <a:pt x="63190" y="2717094"/>
                </a:cubicBezTo>
                <a:cubicBezTo>
                  <a:pt x="33455" y="2714947"/>
                  <a:pt x="-16425" y="2709531"/>
                  <a:pt x="5340" y="2681595"/>
                </a:cubicBezTo>
                <a:cubicBezTo>
                  <a:pt x="23652" y="2658441"/>
                  <a:pt x="63627" y="2661368"/>
                  <a:pt x="100237" y="2664591"/>
                </a:cubicBezTo>
                <a:cubicBezTo>
                  <a:pt x="188123" y="2672547"/>
                  <a:pt x="277551" y="2664977"/>
                  <a:pt x="394328" y="2654447"/>
                </a:cubicBezTo>
                <a:cubicBezTo>
                  <a:pt x="290057" y="2592242"/>
                  <a:pt x="112140" y="2629127"/>
                  <a:pt x="21491" y="2562088"/>
                </a:cubicBezTo>
                <a:cubicBezTo>
                  <a:pt x="125636" y="2540073"/>
                  <a:pt x="208727" y="2559644"/>
                  <a:pt x="294268" y="2557453"/>
                </a:cubicBezTo>
                <a:cubicBezTo>
                  <a:pt x="371589" y="2555423"/>
                  <a:pt x="389695" y="2540961"/>
                  <a:pt x="367847" y="2501743"/>
                </a:cubicBezTo>
                <a:cubicBezTo>
                  <a:pt x="333905" y="2440640"/>
                  <a:pt x="373328" y="2404160"/>
                  <a:pt x="486858" y="2411824"/>
                </a:cubicBezTo>
                <a:cubicBezTo>
                  <a:pt x="592120" y="2419095"/>
                  <a:pt x="600599" y="2394285"/>
                  <a:pt x="570008" y="2360312"/>
                </a:cubicBezTo>
                <a:cubicBezTo>
                  <a:pt x="525457" y="2310774"/>
                  <a:pt x="567057" y="2265987"/>
                  <a:pt x="594400" y="2218813"/>
                </a:cubicBezTo>
                <a:cubicBezTo>
                  <a:pt x="635581" y="2147198"/>
                  <a:pt x="612469" y="2115647"/>
                  <a:pt x="505675" y="2074370"/>
                </a:cubicBezTo>
                <a:cubicBezTo>
                  <a:pt x="445534" y="2051386"/>
                  <a:pt x="381431" y="2032947"/>
                  <a:pt x="295650" y="2015851"/>
                </a:cubicBezTo>
                <a:cubicBezTo>
                  <a:pt x="487251" y="1985881"/>
                  <a:pt x="281423" y="1958614"/>
                  <a:pt x="346760" y="1924896"/>
                </a:cubicBezTo>
                <a:cubicBezTo>
                  <a:pt x="481788" y="1901571"/>
                  <a:pt x="600623" y="1980687"/>
                  <a:pt x="783461" y="1939173"/>
                </a:cubicBezTo>
                <a:cubicBezTo>
                  <a:pt x="547912" y="1882335"/>
                  <a:pt x="287006" y="1807013"/>
                  <a:pt x="112183" y="1719100"/>
                </a:cubicBezTo>
                <a:cubicBezTo>
                  <a:pt x="148588" y="1692398"/>
                  <a:pt x="188462" y="1710725"/>
                  <a:pt x="219936" y="1699568"/>
                </a:cubicBezTo>
                <a:cubicBezTo>
                  <a:pt x="218006" y="1694140"/>
                  <a:pt x="220184" y="1685834"/>
                  <a:pt x="214196" y="1683841"/>
                </a:cubicBezTo>
                <a:cubicBezTo>
                  <a:pt x="85284" y="1638910"/>
                  <a:pt x="83720" y="1637648"/>
                  <a:pt x="212296" y="1584947"/>
                </a:cubicBezTo>
                <a:cubicBezTo>
                  <a:pt x="257172" y="1566456"/>
                  <a:pt x="252206" y="1554019"/>
                  <a:pt x="226108" y="1538121"/>
                </a:cubicBezTo>
                <a:cubicBezTo>
                  <a:pt x="207682" y="1526866"/>
                  <a:pt x="185078" y="1517656"/>
                  <a:pt x="192710" y="1488723"/>
                </a:cubicBezTo>
                <a:cubicBezTo>
                  <a:pt x="268435" y="1518175"/>
                  <a:pt x="624154" y="1547955"/>
                  <a:pt x="685843" y="1538903"/>
                </a:cubicBezTo>
                <a:cubicBezTo>
                  <a:pt x="755173" y="1528619"/>
                  <a:pt x="994201" y="1520231"/>
                  <a:pt x="1067153" y="1523622"/>
                </a:cubicBezTo>
                <a:cubicBezTo>
                  <a:pt x="1063138" y="1522015"/>
                  <a:pt x="1059122" y="1520410"/>
                  <a:pt x="1055106" y="1518803"/>
                </a:cubicBezTo>
                <a:cubicBezTo>
                  <a:pt x="983007" y="1486514"/>
                  <a:pt x="909946" y="1454310"/>
                  <a:pt x="864245" y="1408231"/>
                </a:cubicBezTo>
                <a:cubicBezTo>
                  <a:pt x="862153" y="1406456"/>
                  <a:pt x="861045" y="1404874"/>
                  <a:pt x="856768" y="1405809"/>
                </a:cubicBezTo>
                <a:cubicBezTo>
                  <a:pt x="819307" y="1414974"/>
                  <a:pt x="822846" y="1400112"/>
                  <a:pt x="821342" y="1388491"/>
                </a:cubicBezTo>
                <a:cubicBezTo>
                  <a:pt x="819813" y="1376592"/>
                  <a:pt x="812736" y="1367699"/>
                  <a:pt x="784954" y="1371257"/>
                </a:cubicBezTo>
                <a:cubicBezTo>
                  <a:pt x="783512" y="1371384"/>
                  <a:pt x="781566" y="1371274"/>
                  <a:pt x="779619" y="1371165"/>
                </a:cubicBezTo>
                <a:cubicBezTo>
                  <a:pt x="766469" y="1370361"/>
                  <a:pt x="722835" y="1342290"/>
                  <a:pt x="728571" y="1335910"/>
                </a:cubicBezTo>
                <a:cubicBezTo>
                  <a:pt x="741389" y="1321912"/>
                  <a:pt x="726409" y="1316791"/>
                  <a:pt x="713734" y="1310348"/>
                </a:cubicBezTo>
                <a:cubicBezTo>
                  <a:pt x="696009" y="1301550"/>
                  <a:pt x="678333" y="1293308"/>
                  <a:pt x="659695" y="1285149"/>
                </a:cubicBezTo>
                <a:cubicBezTo>
                  <a:pt x="641562" y="1277227"/>
                  <a:pt x="622997" y="1269901"/>
                  <a:pt x="604409" y="1262299"/>
                </a:cubicBezTo>
                <a:cubicBezTo>
                  <a:pt x="561305" y="1256847"/>
                  <a:pt x="517819" y="1252549"/>
                  <a:pt x="472556" y="1250086"/>
                </a:cubicBezTo>
                <a:cubicBezTo>
                  <a:pt x="438951" y="1247999"/>
                  <a:pt x="401379" y="1244860"/>
                  <a:pt x="382690" y="1214040"/>
                </a:cubicBezTo>
                <a:cubicBezTo>
                  <a:pt x="418096" y="1214570"/>
                  <a:pt x="453575" y="1215933"/>
                  <a:pt x="489053" y="1217296"/>
                </a:cubicBezTo>
                <a:cubicBezTo>
                  <a:pt x="454954" y="1204059"/>
                  <a:pt x="421816" y="1190737"/>
                  <a:pt x="390047" y="1176456"/>
                </a:cubicBezTo>
                <a:cubicBezTo>
                  <a:pt x="363810" y="1164487"/>
                  <a:pt x="342232" y="1150431"/>
                  <a:pt x="333292" y="1131347"/>
                </a:cubicBezTo>
                <a:cubicBezTo>
                  <a:pt x="330930" y="1126518"/>
                  <a:pt x="329025" y="1121368"/>
                  <a:pt x="337841" y="1116956"/>
                </a:cubicBezTo>
                <a:cubicBezTo>
                  <a:pt x="347569" y="1111905"/>
                  <a:pt x="355552" y="1114562"/>
                  <a:pt x="363031" y="1116984"/>
                </a:cubicBezTo>
                <a:cubicBezTo>
                  <a:pt x="393929" y="1126864"/>
                  <a:pt x="425283" y="1136425"/>
                  <a:pt x="455724" y="1146625"/>
                </a:cubicBezTo>
                <a:cubicBezTo>
                  <a:pt x="496146" y="1160147"/>
                  <a:pt x="536111" y="1173989"/>
                  <a:pt x="576050" y="1187553"/>
                </a:cubicBezTo>
                <a:cubicBezTo>
                  <a:pt x="519650" y="1157524"/>
                  <a:pt x="457798" y="1131612"/>
                  <a:pt x="391358" y="1108621"/>
                </a:cubicBezTo>
                <a:cubicBezTo>
                  <a:pt x="343386" y="1091844"/>
                  <a:pt x="295414" y="1075067"/>
                  <a:pt x="258466" y="1051446"/>
                </a:cubicBezTo>
                <a:cubicBezTo>
                  <a:pt x="239512" y="1039678"/>
                  <a:pt x="230024" y="1025400"/>
                  <a:pt x="227119" y="1008864"/>
                </a:cubicBezTo>
                <a:cubicBezTo>
                  <a:pt x="226729" y="1004421"/>
                  <a:pt x="227253" y="999338"/>
                  <a:pt x="237176" y="996508"/>
                </a:cubicBezTo>
                <a:cubicBezTo>
                  <a:pt x="247123" y="993956"/>
                  <a:pt x="253208" y="997060"/>
                  <a:pt x="257395" y="1000610"/>
                </a:cubicBezTo>
                <a:cubicBezTo>
                  <a:pt x="262111" y="1004674"/>
                  <a:pt x="267716" y="1007820"/>
                  <a:pt x="275649" y="1009921"/>
                </a:cubicBezTo>
                <a:cubicBezTo>
                  <a:pt x="345186" y="1029563"/>
                  <a:pt x="406508" y="1054962"/>
                  <a:pt x="469199" y="1079402"/>
                </a:cubicBezTo>
                <a:cubicBezTo>
                  <a:pt x="558968" y="1114336"/>
                  <a:pt x="647368" y="1150231"/>
                  <a:pt x="753033" y="1173138"/>
                </a:cubicBezTo>
                <a:cubicBezTo>
                  <a:pt x="793015" y="1181661"/>
                  <a:pt x="834292" y="1188391"/>
                  <a:pt x="865682" y="1187316"/>
                </a:cubicBezTo>
                <a:cubicBezTo>
                  <a:pt x="750261" y="1147076"/>
                  <a:pt x="641375" y="1104025"/>
                  <a:pt x="543487" y="1053852"/>
                </a:cubicBezTo>
                <a:cubicBezTo>
                  <a:pt x="444589" y="1003208"/>
                  <a:pt x="357848" y="947579"/>
                  <a:pt x="295297" y="880592"/>
                </a:cubicBezTo>
                <a:cubicBezTo>
                  <a:pt x="288871" y="873601"/>
                  <a:pt x="284873" y="866676"/>
                  <a:pt x="264758" y="869281"/>
                </a:cubicBezTo>
                <a:cubicBezTo>
                  <a:pt x="255650" y="870360"/>
                  <a:pt x="252375" y="866170"/>
                  <a:pt x="254388" y="861516"/>
                </a:cubicBezTo>
                <a:cubicBezTo>
                  <a:pt x="266992" y="828509"/>
                  <a:pt x="236853" y="810726"/>
                  <a:pt x="190786" y="799099"/>
                </a:cubicBezTo>
                <a:cubicBezTo>
                  <a:pt x="176408" y="795324"/>
                  <a:pt x="175031" y="790688"/>
                  <a:pt x="184973" y="782539"/>
                </a:cubicBezTo>
                <a:cubicBezTo>
                  <a:pt x="198516" y="771277"/>
                  <a:pt x="196123" y="760574"/>
                  <a:pt x="187530" y="750974"/>
                </a:cubicBezTo>
                <a:cubicBezTo>
                  <a:pt x="182644" y="744967"/>
                  <a:pt x="176339" y="739364"/>
                  <a:pt x="170996" y="733676"/>
                </a:cubicBezTo>
                <a:cubicBezTo>
                  <a:pt x="167290" y="730083"/>
                  <a:pt x="161157" y="726424"/>
                  <a:pt x="169444" y="721499"/>
                </a:cubicBezTo>
                <a:cubicBezTo>
                  <a:pt x="177298" y="717172"/>
                  <a:pt x="185665" y="718676"/>
                  <a:pt x="193501" y="719668"/>
                </a:cubicBezTo>
                <a:cubicBezTo>
                  <a:pt x="231170" y="723917"/>
                  <a:pt x="254043" y="736181"/>
                  <a:pt x="265436" y="755609"/>
                </a:cubicBezTo>
                <a:cubicBezTo>
                  <a:pt x="273963" y="769971"/>
                  <a:pt x="281726" y="770130"/>
                  <a:pt x="302333" y="756567"/>
                </a:cubicBezTo>
                <a:cubicBezTo>
                  <a:pt x="317894" y="746247"/>
                  <a:pt x="332387" y="745814"/>
                  <a:pt x="346481" y="751853"/>
                </a:cubicBezTo>
                <a:cubicBezTo>
                  <a:pt x="354007" y="754830"/>
                  <a:pt x="358771" y="759448"/>
                  <a:pt x="364449" y="763428"/>
                </a:cubicBezTo>
                <a:cubicBezTo>
                  <a:pt x="392910" y="784156"/>
                  <a:pt x="422762" y="804202"/>
                  <a:pt x="467363" y="815678"/>
                </a:cubicBezTo>
                <a:cubicBezTo>
                  <a:pt x="487199" y="820933"/>
                  <a:pt x="508355" y="824672"/>
                  <a:pt x="537693" y="816781"/>
                </a:cubicBezTo>
                <a:cubicBezTo>
                  <a:pt x="518386" y="812039"/>
                  <a:pt x="499567" y="812852"/>
                  <a:pt x="482019" y="811593"/>
                </a:cubicBezTo>
                <a:cubicBezTo>
                  <a:pt x="464472" y="810335"/>
                  <a:pt x="454949" y="806693"/>
                  <a:pt x="467050" y="795557"/>
                </a:cubicBezTo>
                <a:cubicBezTo>
                  <a:pt x="473772" y="789371"/>
                  <a:pt x="472878" y="784693"/>
                  <a:pt x="465734" y="780562"/>
                </a:cubicBezTo>
                <a:cubicBezTo>
                  <a:pt x="442763" y="767188"/>
                  <a:pt x="430336" y="747011"/>
                  <a:pt x="384526" y="749353"/>
                </a:cubicBezTo>
                <a:cubicBezTo>
                  <a:pt x="382123" y="749564"/>
                  <a:pt x="379622" y="748664"/>
                  <a:pt x="377146" y="748041"/>
                </a:cubicBezTo>
                <a:cubicBezTo>
                  <a:pt x="367744" y="745789"/>
                  <a:pt x="357358" y="743342"/>
                  <a:pt x="360089" y="735827"/>
                </a:cubicBezTo>
                <a:cubicBezTo>
                  <a:pt x="363301" y="728269"/>
                  <a:pt x="375652" y="725506"/>
                  <a:pt x="386634" y="723703"/>
                </a:cubicBezTo>
                <a:cubicBezTo>
                  <a:pt x="414823" y="719269"/>
                  <a:pt x="437543" y="724271"/>
                  <a:pt x="459375" y="730191"/>
                </a:cubicBezTo>
                <a:cubicBezTo>
                  <a:pt x="512487" y="744837"/>
                  <a:pt x="556932" y="765561"/>
                  <a:pt x="603200" y="785006"/>
                </a:cubicBezTo>
                <a:cubicBezTo>
                  <a:pt x="672604" y="814173"/>
                  <a:pt x="734250" y="848778"/>
                  <a:pt x="810521" y="873425"/>
                </a:cubicBezTo>
                <a:cubicBezTo>
                  <a:pt x="1037317" y="946423"/>
                  <a:pt x="1260943" y="1021938"/>
                  <a:pt x="1494102" y="1090180"/>
                </a:cubicBezTo>
                <a:cubicBezTo>
                  <a:pt x="1580109" y="1115371"/>
                  <a:pt x="1667892" y="1138728"/>
                  <a:pt x="1756565" y="1161167"/>
                </a:cubicBezTo>
                <a:cubicBezTo>
                  <a:pt x="1756899" y="1159458"/>
                  <a:pt x="1757282" y="1158305"/>
                  <a:pt x="1757592" y="1156319"/>
                </a:cubicBezTo>
                <a:cubicBezTo>
                  <a:pt x="1757470" y="1154931"/>
                  <a:pt x="1757324" y="1153264"/>
                  <a:pt x="1757202" y="1151876"/>
                </a:cubicBezTo>
                <a:cubicBezTo>
                  <a:pt x="1694452" y="1137796"/>
                  <a:pt x="1632540" y="1122242"/>
                  <a:pt x="1572453" y="1105409"/>
                </a:cubicBezTo>
                <a:cubicBezTo>
                  <a:pt x="1424942" y="1063789"/>
                  <a:pt x="1288864" y="1014450"/>
                  <a:pt x="1171972" y="951953"/>
                </a:cubicBezTo>
                <a:cubicBezTo>
                  <a:pt x="1162328" y="946924"/>
                  <a:pt x="1152112" y="946421"/>
                  <a:pt x="1137334" y="949118"/>
                </a:cubicBezTo>
                <a:cubicBezTo>
                  <a:pt x="1089682" y="958058"/>
                  <a:pt x="1074050" y="951035"/>
                  <a:pt x="1081493" y="925476"/>
                </a:cubicBezTo>
                <a:cubicBezTo>
                  <a:pt x="1083360" y="919155"/>
                  <a:pt x="1083403" y="914115"/>
                  <a:pt x="1074768" y="909555"/>
                </a:cubicBezTo>
                <a:cubicBezTo>
                  <a:pt x="1036165" y="889158"/>
                  <a:pt x="995714" y="869763"/>
                  <a:pt x="952019" y="852050"/>
                </a:cubicBezTo>
                <a:cubicBezTo>
                  <a:pt x="871170" y="819410"/>
                  <a:pt x="784821" y="790332"/>
                  <a:pt x="709017" y="754450"/>
                </a:cubicBezTo>
                <a:cubicBezTo>
                  <a:pt x="686747" y="743533"/>
                  <a:pt x="669617" y="730485"/>
                  <a:pt x="659046" y="714902"/>
                </a:cubicBezTo>
                <a:cubicBezTo>
                  <a:pt x="655674" y="709602"/>
                  <a:pt x="653624" y="702786"/>
                  <a:pt x="664793" y="697608"/>
                </a:cubicBezTo>
                <a:cubicBezTo>
                  <a:pt x="675483" y="692472"/>
                  <a:pt x="684069" y="696476"/>
                  <a:pt x="692052" y="699133"/>
                </a:cubicBezTo>
                <a:cubicBezTo>
                  <a:pt x="725451" y="709913"/>
                  <a:pt x="759355" y="720929"/>
                  <a:pt x="792779" y="731987"/>
                </a:cubicBezTo>
                <a:cubicBezTo>
                  <a:pt x="826682" y="743003"/>
                  <a:pt x="860155" y="754616"/>
                  <a:pt x="895574" y="766338"/>
                </a:cubicBezTo>
                <a:cubicBezTo>
                  <a:pt x="897416" y="759741"/>
                  <a:pt x="890085" y="758985"/>
                  <a:pt x="886044" y="757101"/>
                </a:cubicBezTo>
                <a:cubicBezTo>
                  <a:pt x="828975" y="730489"/>
                  <a:pt x="766861" y="707118"/>
                  <a:pt x="702924" y="685027"/>
                </a:cubicBezTo>
                <a:cubicBezTo>
                  <a:pt x="653460" y="667821"/>
                  <a:pt x="605342" y="649378"/>
                  <a:pt x="571540" y="622962"/>
                </a:cubicBezTo>
                <a:cubicBezTo>
                  <a:pt x="558524" y="612632"/>
                  <a:pt x="551227" y="601239"/>
                  <a:pt x="552940" y="587657"/>
                </a:cubicBezTo>
                <a:cubicBezTo>
                  <a:pt x="553537" y="583407"/>
                  <a:pt x="554132" y="579157"/>
                  <a:pt x="563623" y="576925"/>
                </a:cubicBezTo>
                <a:cubicBezTo>
                  <a:pt x="571217" y="575139"/>
                  <a:pt x="576243" y="577216"/>
                  <a:pt x="580332" y="579656"/>
                </a:cubicBezTo>
                <a:cubicBezTo>
                  <a:pt x="587500" y="584063"/>
                  <a:pt x="594668" y="588471"/>
                  <a:pt x="604623" y="591516"/>
                </a:cubicBezTo>
                <a:cubicBezTo>
                  <a:pt x="664350" y="609779"/>
                  <a:pt x="720426" y="630601"/>
                  <a:pt x="775136" y="652383"/>
                </a:cubicBezTo>
                <a:cubicBezTo>
                  <a:pt x="864952" y="687874"/>
                  <a:pt x="953882" y="724283"/>
                  <a:pt x="1057795" y="749301"/>
                </a:cubicBezTo>
                <a:cubicBezTo>
                  <a:pt x="1096889" y="758742"/>
                  <a:pt x="1137304" y="766668"/>
                  <a:pt x="1183454" y="768213"/>
                </a:cubicBezTo>
                <a:cubicBezTo>
                  <a:pt x="1181768" y="765563"/>
                  <a:pt x="1178737" y="764150"/>
                  <a:pt x="1175732" y="763015"/>
                </a:cubicBezTo>
                <a:cubicBezTo>
                  <a:pt x="1075170" y="726508"/>
                  <a:pt x="977850" y="688319"/>
                  <a:pt x="888743" y="644370"/>
                </a:cubicBezTo>
                <a:cubicBezTo>
                  <a:pt x="778881" y="590211"/>
                  <a:pt x="683912" y="529148"/>
                  <a:pt x="615490" y="455960"/>
                </a:cubicBezTo>
                <a:cubicBezTo>
                  <a:pt x="612312" y="452882"/>
                  <a:pt x="610122" y="449996"/>
                  <a:pt x="602432" y="450671"/>
                </a:cubicBezTo>
                <a:cubicBezTo>
                  <a:pt x="582748" y="452678"/>
                  <a:pt x="580338" y="447293"/>
                  <a:pt x="582418" y="437876"/>
                </a:cubicBezTo>
                <a:cubicBezTo>
                  <a:pt x="588134" y="414707"/>
                  <a:pt x="573498" y="396964"/>
                  <a:pt x="539211" y="387101"/>
                </a:cubicBezTo>
                <a:cubicBezTo>
                  <a:pt x="514350" y="379769"/>
                  <a:pt x="493430" y="373210"/>
                  <a:pt x="519748" y="352990"/>
                </a:cubicBezTo>
                <a:cubicBezTo>
                  <a:pt x="526113" y="348234"/>
                  <a:pt x="523173" y="342336"/>
                  <a:pt x="520282" y="336993"/>
                </a:cubicBezTo>
                <a:cubicBezTo>
                  <a:pt x="516186" y="328957"/>
                  <a:pt x="507910" y="322968"/>
                  <a:pt x="498650" y="316785"/>
                </a:cubicBezTo>
                <a:cubicBezTo>
                  <a:pt x="493501" y="313319"/>
                  <a:pt x="487271" y="308549"/>
                  <a:pt x="493610" y="303515"/>
                </a:cubicBezTo>
                <a:cubicBezTo>
                  <a:pt x="500838" y="297564"/>
                  <a:pt x="511247" y="300288"/>
                  <a:pt x="519565" y="301237"/>
                </a:cubicBezTo>
                <a:cubicBezTo>
                  <a:pt x="557715" y="305444"/>
                  <a:pt x="581118" y="318221"/>
                  <a:pt x="592560" y="338204"/>
                </a:cubicBezTo>
                <a:cubicBezTo>
                  <a:pt x="599979" y="350985"/>
                  <a:pt x="609184" y="351016"/>
                  <a:pt x="627076" y="339652"/>
                </a:cubicBezTo>
                <a:cubicBezTo>
                  <a:pt x="647275" y="326965"/>
                  <a:pt x="664147" y="326044"/>
                  <a:pt x="679640" y="336997"/>
                </a:cubicBezTo>
                <a:cubicBezTo>
                  <a:pt x="692054" y="345981"/>
                  <a:pt x="702112" y="355732"/>
                  <a:pt x="716352" y="363437"/>
                </a:cubicBezTo>
                <a:cubicBezTo>
                  <a:pt x="754546" y="384710"/>
                  <a:pt x="790508" y="408138"/>
                  <a:pt x="869745" y="400343"/>
                </a:cubicBezTo>
                <a:cubicBezTo>
                  <a:pt x="847718" y="392203"/>
                  <a:pt x="825656" y="394699"/>
                  <a:pt x="806641" y="393290"/>
                </a:cubicBezTo>
                <a:cubicBezTo>
                  <a:pt x="792988" y="392249"/>
                  <a:pt x="779165" y="389265"/>
                  <a:pt x="791435" y="380072"/>
                </a:cubicBezTo>
                <a:cubicBezTo>
                  <a:pt x="805532" y="369601"/>
                  <a:pt x="796441" y="365362"/>
                  <a:pt x="787709" y="359692"/>
                </a:cubicBezTo>
                <a:cubicBezTo>
                  <a:pt x="767647" y="346342"/>
                  <a:pt x="751260" y="330710"/>
                  <a:pt x="711071" y="330880"/>
                </a:cubicBezTo>
                <a:cubicBezTo>
                  <a:pt x="704773" y="330873"/>
                  <a:pt x="699699" y="328240"/>
                  <a:pt x="694722" y="326718"/>
                </a:cubicBezTo>
                <a:cubicBezTo>
                  <a:pt x="687749" y="324532"/>
                  <a:pt x="681713" y="321984"/>
                  <a:pt x="684613" y="316412"/>
                </a:cubicBezTo>
                <a:cubicBezTo>
                  <a:pt x="687565" y="311396"/>
                  <a:pt x="694531" y="307986"/>
                  <a:pt x="703615" y="306629"/>
                </a:cubicBezTo>
                <a:cubicBezTo>
                  <a:pt x="711738" y="305356"/>
                  <a:pt x="720365" y="304319"/>
                  <a:pt x="728585" y="304157"/>
                </a:cubicBezTo>
                <a:cubicBezTo>
                  <a:pt x="765287" y="302895"/>
                  <a:pt x="791378" y="313197"/>
                  <a:pt x="817397" y="322666"/>
                </a:cubicBezTo>
                <a:cubicBezTo>
                  <a:pt x="908436" y="355531"/>
                  <a:pt x="989341" y="394323"/>
                  <a:pt x="1073943" y="431110"/>
                </a:cubicBezTo>
                <a:cubicBezTo>
                  <a:pt x="1158521" y="467620"/>
                  <a:pt x="1256741" y="493978"/>
                  <a:pt x="1349484" y="524175"/>
                </a:cubicBezTo>
                <a:cubicBezTo>
                  <a:pt x="1563417" y="594105"/>
                  <a:pt x="1778287" y="663672"/>
                  <a:pt x="2004921" y="723811"/>
                </a:cubicBezTo>
                <a:cubicBezTo>
                  <a:pt x="2226580" y="782429"/>
                  <a:pt x="2967159" y="809769"/>
                  <a:pt x="3111348" y="808027"/>
                </a:cubicBezTo>
                <a:cubicBezTo>
                  <a:pt x="3295676" y="805559"/>
                  <a:pt x="3730204" y="773014"/>
                  <a:pt x="4173417" y="745585"/>
                </a:cubicBezTo>
                <a:cubicBezTo>
                  <a:pt x="4223504" y="742307"/>
                  <a:pt x="4272653" y="739393"/>
                  <a:pt x="4324760" y="737057"/>
                </a:cubicBezTo>
                <a:cubicBezTo>
                  <a:pt x="5801059" y="670156"/>
                  <a:pt x="6841344" y="326433"/>
                  <a:pt x="6893789" y="305879"/>
                </a:cubicBezTo>
                <a:cubicBezTo>
                  <a:pt x="6978091" y="273014"/>
                  <a:pt x="7258655" y="208091"/>
                  <a:pt x="7259184" y="208604"/>
                </a:cubicBezTo>
                <a:cubicBezTo>
                  <a:pt x="7265440" y="213652"/>
                  <a:pt x="7297274" y="217644"/>
                  <a:pt x="7323059" y="220312"/>
                </a:cubicBezTo>
                <a:lnTo>
                  <a:pt x="7347572" y="222730"/>
                </a:lnTo>
                <a:lnTo>
                  <a:pt x="7350636" y="224083"/>
                </a:lnTo>
                <a:cubicBezTo>
                  <a:pt x="7359607" y="224205"/>
                  <a:pt x="7359159" y="223929"/>
                  <a:pt x="7353245" y="223290"/>
                </a:cubicBezTo>
                <a:lnTo>
                  <a:pt x="7347572" y="222730"/>
                </a:lnTo>
                <a:lnTo>
                  <a:pt x="7342573" y="220523"/>
                </a:lnTo>
                <a:cubicBezTo>
                  <a:pt x="7341302" y="218466"/>
                  <a:pt x="7341191" y="215818"/>
                  <a:pt x="7341465" y="213415"/>
                </a:cubicBezTo>
                <a:cubicBezTo>
                  <a:pt x="7342771" y="200707"/>
                  <a:pt x="7352468" y="189782"/>
                  <a:pt x="7375606" y="182994"/>
                </a:cubicBezTo>
                <a:cubicBezTo>
                  <a:pt x="7397808" y="176568"/>
                  <a:pt x="7420538" y="170655"/>
                  <a:pt x="7443270" y="164742"/>
                </a:cubicBezTo>
                <a:cubicBezTo>
                  <a:pt x="7462204" y="159722"/>
                  <a:pt x="7475181" y="158583"/>
                  <a:pt x="7478299" y="172021"/>
                </a:cubicBezTo>
                <a:cubicBezTo>
                  <a:pt x="7481416" y="185460"/>
                  <a:pt x="7508389" y="189249"/>
                  <a:pt x="7524024" y="179761"/>
                </a:cubicBezTo>
                <a:cubicBezTo>
                  <a:pt x="7585174" y="142492"/>
                  <a:pt x="7658615" y="112820"/>
                  <a:pt x="7727944" y="80430"/>
                </a:cubicBezTo>
                <a:cubicBezTo>
                  <a:pt x="7776349" y="57992"/>
                  <a:pt x="7827303" y="37009"/>
                  <a:pt x="7867024" y="9456"/>
                </a:cubicBezTo>
                <a:cubicBezTo>
                  <a:pt x="7874326" y="4338"/>
                  <a:pt x="7880999" y="-2404"/>
                  <a:pt x="7894848" y="858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8730443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A998AFB-0044-75BC-3C71-466A1391B377}"/>
              </a:ext>
            </a:extLst>
          </p:cNvPr>
          <p:cNvSpPr txBox="1"/>
          <p:nvPr/>
        </p:nvSpPr>
        <p:spPr>
          <a:xfrm>
            <a:off x="1137033" y="670560"/>
            <a:ext cx="4683321" cy="2148841"/>
          </a:xfrm>
          <a:prstGeom prst="rect">
            <a:avLst/>
          </a:prstGeom>
        </p:spPr>
        <p:txBody>
          <a:bodyPr vert="horz" lIns="121920" tIns="60960" rIns="121920" bIns="6096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5867" b="1" dirty="0">
                <a:latin typeface="+mj-lt"/>
                <a:ea typeface="+mj-ea"/>
                <a:cs typeface="+mj-cs"/>
              </a:rPr>
              <a:t>SUICIDE PREVENTION</a:t>
            </a:r>
          </a:p>
        </p:txBody>
      </p:sp>
      <p:pic>
        <p:nvPicPr>
          <p:cNvPr id="5" name="Picture 4" descr="A close-up of a hand reaching for another hand&#10;&#10;Description automatically generated">
            <a:extLst>
              <a:ext uri="{FF2B5EF4-FFF2-40B4-BE49-F238E27FC236}">
                <a16:creationId xmlns:a16="http://schemas.microsoft.com/office/drawing/2014/main" id="{7E5DE340-1C9D-2D0A-38B0-7BD852D9920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2" r="6253" b="-1"/>
          <a:stretch/>
        </p:blipFill>
        <p:spPr>
          <a:xfrm>
            <a:off x="27" y="3105152"/>
            <a:ext cx="6448397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161503-F132-4B0B-3B7F-8A3113F06719}"/>
              </a:ext>
            </a:extLst>
          </p:cNvPr>
          <p:cNvSpPr txBox="1"/>
          <p:nvPr/>
        </p:nvSpPr>
        <p:spPr>
          <a:xfrm>
            <a:off x="6797004" y="670559"/>
            <a:ext cx="4555781" cy="5445076"/>
          </a:xfrm>
          <a:prstGeom prst="rect">
            <a:avLst/>
          </a:prstGeom>
        </p:spPr>
        <p:txBody>
          <a:bodyPr vert="horz" lIns="121920" tIns="60960" rIns="121920" bIns="60960" rtlCol="0" anchor="t">
            <a:normAutofit/>
          </a:bodyPr>
          <a:lstStyle/>
          <a:p>
            <a:pPr indent="-304792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   The ASIST program = Applied Suicide Intervention Skills Training.</a:t>
            </a:r>
          </a:p>
          <a:p>
            <a:pPr indent="-304792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a two-day workshop designed to equip individuals intervene effectively when encountering someone at risk of suicide.</a:t>
            </a:r>
          </a:p>
          <a:p>
            <a:pPr indent="-304792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Currently referred to ASIST 11  the current version of the program, </a:t>
            </a:r>
          </a:p>
          <a:p>
            <a:pPr indent="-304792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Developed   by </a:t>
            </a:r>
            <a:r>
              <a:rPr lang="en-US" sz="2000" b="1">
                <a:hlinkClick r:id="rId4"/>
              </a:rPr>
              <a:t>LivingWorks</a:t>
            </a:r>
            <a:r>
              <a:rPr lang="en-US" sz="2000" b="1"/>
              <a:t> Education Inc.</a:t>
            </a:r>
          </a:p>
          <a:p>
            <a:pPr indent="-304792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Not a substitute for proper mental health training. Supervision is essential when working with suicideal clients.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AC3B41-3CA0-8D4C-05C6-6D699B686144}"/>
              </a:ext>
            </a:extLst>
          </p:cNvPr>
          <p:cNvSpPr txBox="1"/>
          <p:nvPr/>
        </p:nvSpPr>
        <p:spPr>
          <a:xfrm>
            <a:off x="1406770" y="301048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068F1A-09D6-E720-2C8F-598A74A33A70}"/>
              </a:ext>
            </a:extLst>
          </p:cNvPr>
          <p:cNvSpPr txBox="1"/>
          <p:nvPr/>
        </p:nvSpPr>
        <p:spPr>
          <a:xfrm>
            <a:off x="3075094" y="2384214"/>
            <a:ext cx="6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592069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A998AFB-0044-75BC-3C71-466A1391B377}"/>
              </a:ext>
            </a:extLst>
          </p:cNvPr>
          <p:cNvSpPr txBox="1"/>
          <p:nvPr/>
        </p:nvSpPr>
        <p:spPr>
          <a:xfrm>
            <a:off x="572492" y="238539"/>
            <a:ext cx="11018520" cy="1434415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5467" b="1">
                <a:latin typeface="+mj-lt"/>
                <a:ea typeface="+mj-ea"/>
                <a:cs typeface="+mj-cs"/>
              </a:rPr>
              <a:t>Key Aspects of ASIST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161503-F132-4B0B-3B7F-8A3113F06719}"/>
              </a:ext>
            </a:extLst>
          </p:cNvPr>
          <p:cNvSpPr txBox="1"/>
          <p:nvPr/>
        </p:nvSpPr>
        <p:spPr>
          <a:xfrm>
            <a:off x="572492" y="2071317"/>
            <a:ext cx="6713552" cy="4119172"/>
          </a:xfrm>
          <a:prstGeom prst="rect">
            <a:avLst/>
          </a:prstGeom>
        </p:spPr>
        <p:txBody>
          <a:bodyPr vert="horz" lIns="121920" tIns="60960" rIns="121920" bIns="60960" rtlCol="0" anchor="t">
            <a:normAutofit/>
          </a:bodyPr>
          <a:lstStyle/>
          <a:p>
            <a:pPr indent="-304792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33"/>
              <a:t> </a:t>
            </a:r>
          </a:p>
          <a:p>
            <a:pPr indent="-304792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33" b="1"/>
              <a:t>Focus:</a:t>
            </a:r>
            <a:r>
              <a:rPr lang="en-US" sz="2133"/>
              <a:t> Teaches participants how to </a:t>
            </a:r>
            <a:r>
              <a:rPr lang="en-US" sz="2133" b="1"/>
              <a:t>connect</a:t>
            </a:r>
            <a:r>
              <a:rPr lang="en-US" sz="2133"/>
              <a:t>, </a:t>
            </a:r>
            <a:r>
              <a:rPr lang="en-US" sz="2133" b="1"/>
              <a:t>understand</a:t>
            </a:r>
            <a:r>
              <a:rPr lang="en-US" sz="2133"/>
              <a:t>, and </a:t>
            </a:r>
            <a:r>
              <a:rPr lang="en-US" sz="2133" b="1"/>
              <a:t>assist</a:t>
            </a:r>
            <a:r>
              <a:rPr lang="en-US" sz="2133"/>
              <a:t> people with suicidal thoughts or plans.</a:t>
            </a:r>
          </a:p>
          <a:p>
            <a:pPr indent="-304792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33" b="1"/>
              <a:t>Delivery:</a:t>
            </a:r>
            <a:r>
              <a:rPr lang="en-US" sz="2133"/>
              <a:t> Conducted through a structured workshop format with interactive exercises and role-playing scenarios.</a:t>
            </a:r>
          </a:p>
          <a:p>
            <a:pPr indent="-304792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33" b="1"/>
              <a:t>Impact:</a:t>
            </a:r>
            <a:r>
              <a:rPr lang="en-US" sz="2133"/>
              <a:t> Trained individuals become more confident and equipped to provide initial support and prevent suicide tragedies.</a:t>
            </a:r>
          </a:p>
          <a:p>
            <a:pPr indent="-304792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133" b="1"/>
              <a:t>Global Reach:</a:t>
            </a:r>
            <a:r>
              <a:rPr lang="en-US" sz="2133"/>
              <a:t> The program has been delivered to over one million people in over twenty countries.</a:t>
            </a:r>
          </a:p>
        </p:txBody>
      </p:sp>
      <p:pic>
        <p:nvPicPr>
          <p:cNvPr id="5" name="Picture 4" descr="A close-up of a hand reaching for another hand&#10;&#10;Description automatically generated">
            <a:extLst>
              <a:ext uri="{FF2B5EF4-FFF2-40B4-BE49-F238E27FC236}">
                <a16:creationId xmlns:a16="http://schemas.microsoft.com/office/drawing/2014/main" id="{7E5DE340-1C9D-2D0A-38B0-7BD852D9920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11" r="25703" b="-1"/>
          <a:stretch/>
        </p:blipFill>
        <p:spPr>
          <a:xfrm>
            <a:off x="7675657" y="2093976"/>
            <a:ext cx="3941064" cy="40965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9AC3B41-3CA0-8D4C-05C6-6D699B686144}"/>
              </a:ext>
            </a:extLst>
          </p:cNvPr>
          <p:cNvSpPr txBox="1"/>
          <p:nvPr/>
        </p:nvSpPr>
        <p:spPr>
          <a:xfrm>
            <a:off x="1406770" y="301048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068F1A-09D6-E720-2C8F-598A74A33A70}"/>
              </a:ext>
            </a:extLst>
          </p:cNvPr>
          <p:cNvSpPr txBox="1"/>
          <p:nvPr/>
        </p:nvSpPr>
        <p:spPr>
          <a:xfrm>
            <a:off x="3075094" y="2384214"/>
            <a:ext cx="6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7004046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A998AFB-0044-75BC-3C71-466A1391B377}"/>
              </a:ext>
            </a:extLst>
          </p:cNvPr>
          <p:cNvSpPr txBox="1"/>
          <p:nvPr/>
        </p:nvSpPr>
        <p:spPr>
          <a:xfrm>
            <a:off x="838200" y="365125"/>
            <a:ext cx="10515600" cy="1325564"/>
          </a:xfrm>
          <a:prstGeom prst="rect">
            <a:avLst/>
          </a:prstGeom>
        </p:spPr>
        <p:txBody>
          <a:bodyPr vert="horz" lIns="121920" tIns="60960" rIns="121920" bIns="6096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5867" b="1" dirty="0">
                <a:latin typeface="+mj-lt"/>
                <a:ea typeface="+mj-ea"/>
                <a:cs typeface="+mj-cs"/>
              </a:rPr>
              <a:t>Key Aspects of ASIST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161503-F132-4B0B-3B7F-8A3113F06719}"/>
              </a:ext>
            </a:extLst>
          </p:cNvPr>
          <p:cNvSpPr txBox="1"/>
          <p:nvPr/>
        </p:nvSpPr>
        <p:spPr>
          <a:xfrm>
            <a:off x="838200" y="2013625"/>
            <a:ext cx="4614760" cy="4163337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indent="-304792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67"/>
              <a:t> </a:t>
            </a:r>
          </a:p>
          <a:p>
            <a:pPr indent="-304792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67" b="1"/>
              <a:t>Focus:</a:t>
            </a:r>
            <a:r>
              <a:rPr lang="en-US" sz="1867"/>
              <a:t> Teaches participants how to </a:t>
            </a:r>
            <a:r>
              <a:rPr lang="en-US" sz="1867" b="1"/>
              <a:t>connect</a:t>
            </a:r>
            <a:r>
              <a:rPr lang="en-US" sz="1867"/>
              <a:t>, </a:t>
            </a:r>
            <a:r>
              <a:rPr lang="en-US" sz="1867" b="1"/>
              <a:t>understand</a:t>
            </a:r>
            <a:r>
              <a:rPr lang="en-US" sz="1867"/>
              <a:t>, and </a:t>
            </a:r>
            <a:r>
              <a:rPr lang="en-US" sz="1867" b="1"/>
              <a:t>assist</a:t>
            </a:r>
            <a:r>
              <a:rPr lang="en-US" sz="1867"/>
              <a:t> people with suicidal thoughts or plans.</a:t>
            </a:r>
          </a:p>
          <a:p>
            <a:pPr indent="-304792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67" b="1"/>
              <a:t>Delivery:</a:t>
            </a:r>
            <a:r>
              <a:rPr lang="en-US" sz="1867"/>
              <a:t> Conducted through a structured workshop format with interactive exercises and role-playing scenarios.</a:t>
            </a:r>
          </a:p>
          <a:p>
            <a:pPr indent="-304792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67" b="1"/>
              <a:t>Impact:</a:t>
            </a:r>
            <a:r>
              <a:rPr lang="en-US" sz="1867"/>
              <a:t> Trained individuals become more confident and equipped to provide initial support and prevent suicide tragedies.</a:t>
            </a:r>
          </a:p>
          <a:p>
            <a:pPr indent="-304792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67" b="1"/>
              <a:t>Global Reach:</a:t>
            </a:r>
            <a:r>
              <a:rPr lang="en-US" sz="1867"/>
              <a:t> The program has been delivered to over one million people in over twenty countries.</a:t>
            </a:r>
          </a:p>
        </p:txBody>
      </p:sp>
      <p:pic>
        <p:nvPicPr>
          <p:cNvPr id="5" name="Picture 4" descr="A close-up of a hand reaching for another hand&#10;&#10;Description automatically generated">
            <a:extLst>
              <a:ext uri="{FF2B5EF4-FFF2-40B4-BE49-F238E27FC236}">
                <a16:creationId xmlns:a16="http://schemas.microsoft.com/office/drawing/2014/main" id="{7E5DE340-1C9D-2D0A-38B0-7BD852D9920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78" r="18171" b="1"/>
          <a:stretch/>
        </p:blipFill>
        <p:spPr>
          <a:xfrm>
            <a:off x="6101337" y="2015169"/>
            <a:ext cx="5283867" cy="4210441"/>
          </a:xfrm>
          <a:custGeom>
            <a:avLst/>
            <a:gdLst/>
            <a:ahLst/>
            <a:cxnLst/>
            <a:rect l="l" t="t" r="r" b="b"/>
            <a:pathLst>
              <a:path w="5283866" h="4210442">
                <a:moveTo>
                  <a:pt x="839883" y="18"/>
                </a:moveTo>
                <a:cubicBezTo>
                  <a:pt x="851945" y="328"/>
                  <a:pt x="864423" y="4671"/>
                  <a:pt x="875727" y="6050"/>
                </a:cubicBezTo>
                <a:cubicBezTo>
                  <a:pt x="1125267" y="36932"/>
                  <a:pt x="1374804" y="70296"/>
                  <a:pt x="1624617" y="99799"/>
                </a:cubicBezTo>
                <a:cubicBezTo>
                  <a:pt x="1858164" y="127373"/>
                  <a:pt x="2093363" y="133714"/>
                  <a:pt x="2328012" y="148051"/>
                </a:cubicBezTo>
                <a:cubicBezTo>
                  <a:pt x="2612016" y="165424"/>
                  <a:pt x="2895470" y="189965"/>
                  <a:pt x="3177820" y="228566"/>
                </a:cubicBezTo>
                <a:cubicBezTo>
                  <a:pt x="3373866" y="255590"/>
                  <a:pt x="3571843" y="274338"/>
                  <a:pt x="3770646" y="252831"/>
                </a:cubicBezTo>
                <a:cubicBezTo>
                  <a:pt x="3780572" y="251727"/>
                  <a:pt x="3791878" y="248144"/>
                  <a:pt x="3800149" y="251727"/>
                </a:cubicBezTo>
                <a:cubicBezTo>
                  <a:pt x="3896658" y="291986"/>
                  <a:pt x="4001986" y="263033"/>
                  <a:pt x="4102076" y="288400"/>
                </a:cubicBezTo>
                <a:cubicBezTo>
                  <a:pt x="4076434" y="386286"/>
                  <a:pt x="3966416" y="378289"/>
                  <a:pt x="3904377" y="446120"/>
                </a:cubicBezTo>
                <a:cubicBezTo>
                  <a:pt x="4005570" y="473141"/>
                  <a:pt x="4096562" y="500439"/>
                  <a:pt x="4188933" y="520843"/>
                </a:cubicBezTo>
                <a:cubicBezTo>
                  <a:pt x="4286818" y="542350"/>
                  <a:pt x="4369813" y="600531"/>
                  <a:pt x="4465492" y="626449"/>
                </a:cubicBezTo>
                <a:cubicBezTo>
                  <a:pt x="4485897" y="631964"/>
                  <a:pt x="4510437" y="651264"/>
                  <a:pt x="4517606" y="670015"/>
                </a:cubicBezTo>
                <a:cubicBezTo>
                  <a:pt x="4540768" y="730677"/>
                  <a:pt x="5003171" y="900804"/>
                  <a:pt x="4948576" y="954847"/>
                </a:cubicBezTo>
                <a:cubicBezTo>
                  <a:pt x="4925966" y="977182"/>
                  <a:pt x="4896738" y="993174"/>
                  <a:pt x="4866132" y="1015233"/>
                </a:cubicBezTo>
                <a:cubicBezTo>
                  <a:pt x="4912180" y="1056869"/>
                  <a:pt x="4964017" y="1075067"/>
                  <a:pt x="5019164" y="1087474"/>
                </a:cubicBezTo>
                <a:cubicBezTo>
                  <a:pt x="5035708" y="1091335"/>
                  <a:pt x="5051977" y="1099055"/>
                  <a:pt x="5053630" y="1117806"/>
                </a:cubicBezTo>
                <a:cubicBezTo>
                  <a:pt x="5055284" y="1137382"/>
                  <a:pt x="5038464" y="1145101"/>
                  <a:pt x="5024404" y="1154202"/>
                </a:cubicBezTo>
                <a:cubicBezTo>
                  <a:pt x="5004826" y="1166885"/>
                  <a:pt x="4985800" y="1177916"/>
                  <a:pt x="4960984" y="1179569"/>
                </a:cubicBezTo>
                <a:cubicBezTo>
                  <a:pt x="4920176" y="1182051"/>
                  <a:pt x="4900600" y="1217344"/>
                  <a:pt x="4876887" y="1243814"/>
                </a:cubicBezTo>
                <a:cubicBezTo>
                  <a:pt x="4863652" y="1258705"/>
                  <a:pt x="4857034" y="1288759"/>
                  <a:pt x="4880195" y="1293998"/>
                </a:cubicBezTo>
                <a:cubicBezTo>
                  <a:pt x="4935892" y="1306682"/>
                  <a:pt x="4931480" y="1343355"/>
                  <a:pt x="4930104" y="1384991"/>
                </a:cubicBezTo>
                <a:cubicBezTo>
                  <a:pt x="4928173" y="1436553"/>
                  <a:pt x="4895360" y="1460265"/>
                  <a:pt x="4855103" y="1480119"/>
                </a:cubicBezTo>
                <a:cubicBezTo>
                  <a:pt x="4841316" y="1487011"/>
                  <a:pt x="4821740" y="1486735"/>
                  <a:pt x="4816500" y="1508242"/>
                </a:cubicBezTo>
                <a:cubicBezTo>
                  <a:pt x="4839110" y="1528648"/>
                  <a:pt x="4866684" y="1512103"/>
                  <a:pt x="4890949" y="1517893"/>
                </a:cubicBezTo>
                <a:cubicBezTo>
                  <a:pt x="4911077" y="1522581"/>
                  <a:pt x="4944441" y="1520100"/>
                  <a:pt x="4916868" y="1557599"/>
                </a:cubicBezTo>
                <a:cubicBezTo>
                  <a:pt x="4908870" y="1568352"/>
                  <a:pt x="4918245" y="1576625"/>
                  <a:pt x="4928448" y="1577453"/>
                </a:cubicBezTo>
                <a:cubicBezTo>
                  <a:pt x="5010066" y="1586000"/>
                  <a:pt x="4972566" y="1661827"/>
                  <a:pt x="4998760" y="1701809"/>
                </a:cubicBezTo>
                <a:cubicBezTo>
                  <a:pt x="5005928" y="1712836"/>
                  <a:pt x="4998208" y="1731862"/>
                  <a:pt x="4986903" y="1736550"/>
                </a:cubicBezTo>
                <a:cubicBezTo>
                  <a:pt x="4914660" y="1767432"/>
                  <a:pt x="4904735" y="1841053"/>
                  <a:pt x="4869716" y="1904472"/>
                </a:cubicBezTo>
                <a:cubicBezTo>
                  <a:pt x="4907768" y="1929562"/>
                  <a:pt x="4953264" y="1935077"/>
                  <a:pt x="4994348" y="1951346"/>
                </a:cubicBezTo>
                <a:cubicBezTo>
                  <a:pt x="5037087" y="1968441"/>
                  <a:pt x="5037087" y="1981125"/>
                  <a:pt x="5001792" y="2030756"/>
                </a:cubicBezTo>
                <a:cubicBezTo>
                  <a:pt x="5093611" y="2041511"/>
                  <a:pt x="5093611" y="2041511"/>
                  <a:pt x="5065212" y="2119543"/>
                </a:cubicBezTo>
                <a:cubicBezTo>
                  <a:pt x="5142142" y="2126712"/>
                  <a:pt x="5192876" y="2163660"/>
                  <a:pt x="5204732" y="2244450"/>
                </a:cubicBezTo>
                <a:cubicBezTo>
                  <a:pt x="5210523" y="2283604"/>
                  <a:pt x="5245265" y="2302077"/>
                  <a:pt x="5283866" y="2328272"/>
                </a:cubicBezTo>
                <a:cubicBezTo>
                  <a:pt x="5235890" y="2353641"/>
                  <a:pt x="5203354" y="2406580"/>
                  <a:pt x="5147380" y="2350606"/>
                </a:cubicBezTo>
                <a:cubicBezTo>
                  <a:pt x="5126976" y="2330203"/>
                  <a:pt x="5128904" y="2356121"/>
                  <a:pt x="5126148" y="2363566"/>
                </a:cubicBezTo>
                <a:cubicBezTo>
                  <a:pt x="5119532" y="2381764"/>
                  <a:pt x="5133316" y="2393897"/>
                  <a:pt x="5142417" y="2407682"/>
                </a:cubicBezTo>
                <a:cubicBezTo>
                  <a:pt x="5151240" y="2421470"/>
                  <a:pt x="5161718" y="2436083"/>
                  <a:pt x="5164200" y="2451526"/>
                </a:cubicBezTo>
                <a:cubicBezTo>
                  <a:pt x="5165852" y="2462279"/>
                  <a:pt x="5157858" y="2477994"/>
                  <a:pt x="5149034" y="2485992"/>
                </a:cubicBezTo>
                <a:cubicBezTo>
                  <a:pt x="5102710" y="2528178"/>
                  <a:pt x="5130284" y="2623031"/>
                  <a:pt x="5042601" y="2635164"/>
                </a:cubicBezTo>
                <a:cubicBezTo>
                  <a:pt x="5003171" y="2640677"/>
                  <a:pt x="4984146" y="2675420"/>
                  <a:pt x="4955194" y="2694445"/>
                </a:cubicBezTo>
                <a:cubicBezTo>
                  <a:pt x="4854552" y="2760897"/>
                  <a:pt x="4787272" y="2846375"/>
                  <a:pt x="4756116" y="2963836"/>
                </a:cubicBezTo>
                <a:cubicBezTo>
                  <a:pt x="4747568" y="2996372"/>
                  <a:pt x="4714754" y="3022569"/>
                  <a:pt x="4693523" y="3051244"/>
                </a:cubicBezTo>
                <a:cubicBezTo>
                  <a:pt x="4703726" y="3072199"/>
                  <a:pt x="4759424" y="3026979"/>
                  <a:pt x="4739848" y="3082125"/>
                </a:cubicBezTo>
                <a:cubicBezTo>
                  <a:pt x="4724958" y="3123486"/>
                  <a:pt x="4686906" y="3149129"/>
                  <a:pt x="4651060" y="3173670"/>
                </a:cubicBezTo>
                <a:cubicBezTo>
                  <a:pt x="4610252" y="3201518"/>
                  <a:pt x="4565032" y="3223852"/>
                  <a:pt x="4546556" y="3275413"/>
                </a:cubicBezTo>
                <a:cubicBezTo>
                  <a:pt x="4542697" y="3286444"/>
                  <a:pt x="4530288" y="3298024"/>
                  <a:pt x="4519261" y="3302437"/>
                </a:cubicBezTo>
                <a:cubicBezTo>
                  <a:pt x="3944081" y="4209875"/>
                  <a:pt x="2528194" y="4215939"/>
                  <a:pt x="2364961" y="4209597"/>
                </a:cubicBezTo>
                <a:cubicBezTo>
                  <a:pt x="2167260" y="4201602"/>
                  <a:pt x="1980313" y="4145627"/>
                  <a:pt x="1796951" y="4075867"/>
                </a:cubicBezTo>
                <a:cubicBezTo>
                  <a:pt x="1719469" y="4046365"/>
                  <a:pt x="1647505" y="4004453"/>
                  <a:pt x="1572227" y="3971917"/>
                </a:cubicBezTo>
                <a:cubicBezTo>
                  <a:pt x="1468277" y="3926971"/>
                  <a:pt x="1388040" y="3841219"/>
                  <a:pt x="1284364" y="3805097"/>
                </a:cubicBezTo>
                <a:cubicBezTo>
                  <a:pt x="1177655" y="3767873"/>
                  <a:pt x="1086388" y="3699767"/>
                  <a:pt x="976645" y="3670815"/>
                </a:cubicBezTo>
                <a:cubicBezTo>
                  <a:pt x="918742" y="3655375"/>
                  <a:pt x="862768" y="3627527"/>
                  <a:pt x="871866" y="3547839"/>
                </a:cubicBezTo>
                <a:cubicBezTo>
                  <a:pt x="874349" y="3525228"/>
                  <a:pt x="859184" y="3506755"/>
                  <a:pt x="835195" y="3513373"/>
                </a:cubicBezTo>
                <a:cubicBezTo>
                  <a:pt x="789424" y="3525780"/>
                  <a:pt x="768744" y="3492967"/>
                  <a:pt x="743375" y="3468427"/>
                </a:cubicBezTo>
                <a:cubicBezTo>
                  <a:pt x="698156" y="3424863"/>
                  <a:pt x="655142" y="3378540"/>
                  <a:pt x="583175" y="3371370"/>
                </a:cubicBezTo>
                <a:cubicBezTo>
                  <a:pt x="596961" y="3337178"/>
                  <a:pt x="620399" y="3342142"/>
                  <a:pt x="641906" y="3349311"/>
                </a:cubicBezTo>
                <a:cubicBezTo>
                  <a:pt x="698432" y="3368062"/>
                  <a:pt x="754405" y="3389293"/>
                  <a:pt x="810930" y="3408042"/>
                </a:cubicBezTo>
                <a:cubicBezTo>
                  <a:pt x="847878" y="3420175"/>
                  <a:pt x="884551" y="3437271"/>
                  <a:pt x="933908" y="3423758"/>
                </a:cubicBezTo>
                <a:cubicBezTo>
                  <a:pt x="891445" y="3354826"/>
                  <a:pt x="819202" y="3342418"/>
                  <a:pt x="760747" y="3321187"/>
                </a:cubicBezTo>
                <a:cubicBezTo>
                  <a:pt x="687678" y="3294441"/>
                  <a:pt x="644664" y="3243980"/>
                  <a:pt x="593101" y="3187731"/>
                </a:cubicBezTo>
                <a:cubicBezTo>
                  <a:pt x="646869" y="3174220"/>
                  <a:pt x="680233" y="3215581"/>
                  <a:pt x="722419" y="3213374"/>
                </a:cubicBezTo>
                <a:cubicBezTo>
                  <a:pt x="724627" y="3206207"/>
                  <a:pt x="728486" y="3195729"/>
                  <a:pt x="727934" y="3195451"/>
                </a:cubicBezTo>
                <a:cubicBezTo>
                  <a:pt x="659002" y="3164570"/>
                  <a:pt x="626741" y="3106666"/>
                  <a:pt x="615987" y="3036630"/>
                </a:cubicBezTo>
                <a:cubicBezTo>
                  <a:pt x="610473" y="3000510"/>
                  <a:pt x="585381" y="2989205"/>
                  <a:pt x="560564" y="2972660"/>
                </a:cubicBezTo>
                <a:cubicBezTo>
                  <a:pt x="473984" y="2913930"/>
                  <a:pt x="382441" y="2860713"/>
                  <a:pt x="311302" y="2779924"/>
                </a:cubicBezTo>
                <a:cubicBezTo>
                  <a:pt x="393471" y="2790677"/>
                  <a:pt x="459371" y="2843341"/>
                  <a:pt x="547882" y="2865952"/>
                </a:cubicBezTo>
                <a:cubicBezTo>
                  <a:pt x="477570" y="2777166"/>
                  <a:pt x="386577" y="2732222"/>
                  <a:pt x="303582" y="2678453"/>
                </a:cubicBezTo>
                <a:cubicBezTo>
                  <a:pt x="265806" y="2653913"/>
                  <a:pt x="230790" y="2622479"/>
                  <a:pt x="185016" y="2609244"/>
                </a:cubicBezTo>
                <a:cubicBezTo>
                  <a:pt x="168748" y="2604556"/>
                  <a:pt x="142002" y="2594630"/>
                  <a:pt x="154963" y="2568435"/>
                </a:cubicBezTo>
                <a:cubicBezTo>
                  <a:pt x="165990" y="2546654"/>
                  <a:pt x="187773" y="2553269"/>
                  <a:pt x="207627" y="2559612"/>
                </a:cubicBezTo>
                <a:cubicBezTo>
                  <a:pt x="255328" y="2575330"/>
                  <a:pt x="304685" y="2575604"/>
                  <a:pt x="369207" y="2575330"/>
                </a:cubicBezTo>
                <a:cubicBezTo>
                  <a:pt x="315163" y="2503363"/>
                  <a:pt x="216174" y="2524871"/>
                  <a:pt x="169852" y="2449319"/>
                </a:cubicBezTo>
                <a:cubicBezTo>
                  <a:pt x="227755" y="2436083"/>
                  <a:pt x="272424" y="2463381"/>
                  <a:pt x="319299" y="2468619"/>
                </a:cubicBezTo>
                <a:cubicBezTo>
                  <a:pt x="361761" y="2473307"/>
                  <a:pt x="372239" y="2460624"/>
                  <a:pt x="362313" y="2418988"/>
                </a:cubicBezTo>
                <a:cubicBezTo>
                  <a:pt x="346873" y="2354190"/>
                  <a:pt x="370034" y="2321102"/>
                  <a:pt x="431798" y="2338750"/>
                </a:cubicBezTo>
                <a:cubicBezTo>
                  <a:pt x="489149" y="2355293"/>
                  <a:pt x="495215" y="2331030"/>
                  <a:pt x="479775" y="2294082"/>
                </a:cubicBezTo>
                <a:cubicBezTo>
                  <a:pt x="457716" y="2240315"/>
                  <a:pt x="482807" y="2198678"/>
                  <a:pt x="499903" y="2153458"/>
                </a:cubicBezTo>
                <a:cubicBezTo>
                  <a:pt x="526099" y="2084525"/>
                  <a:pt x="515069" y="2050885"/>
                  <a:pt x="458544" y="1999599"/>
                </a:cubicBezTo>
                <a:cubicBezTo>
                  <a:pt x="426835" y="1970921"/>
                  <a:pt x="392645" y="1946658"/>
                  <a:pt x="346596" y="1921843"/>
                </a:cubicBezTo>
                <a:cubicBezTo>
                  <a:pt x="452753" y="1908331"/>
                  <a:pt x="341358" y="1862836"/>
                  <a:pt x="378857" y="1834435"/>
                </a:cubicBezTo>
                <a:cubicBezTo>
                  <a:pt x="453856" y="1822854"/>
                  <a:pt x="515069" y="1913294"/>
                  <a:pt x="617091" y="1887376"/>
                </a:cubicBezTo>
                <a:cubicBezTo>
                  <a:pt x="491080" y="1809066"/>
                  <a:pt x="351835" y="1783423"/>
                  <a:pt x="260568" y="1679198"/>
                </a:cubicBezTo>
                <a:cubicBezTo>
                  <a:pt x="281523" y="1655484"/>
                  <a:pt x="302479" y="1677543"/>
                  <a:pt x="320402" y="1668720"/>
                </a:cubicBezTo>
                <a:cubicBezTo>
                  <a:pt x="319850" y="1663205"/>
                  <a:pt x="321230" y="1654932"/>
                  <a:pt x="317920" y="1652452"/>
                </a:cubicBezTo>
                <a:cubicBezTo>
                  <a:pt x="249815" y="1595650"/>
                  <a:pt x="248711" y="1594273"/>
                  <a:pt x="321779" y="1552359"/>
                </a:cubicBezTo>
                <a:cubicBezTo>
                  <a:pt x="347424" y="1537746"/>
                  <a:pt x="345218" y="1524786"/>
                  <a:pt x="331707" y="1506313"/>
                </a:cubicBezTo>
                <a:cubicBezTo>
                  <a:pt x="322055" y="1493353"/>
                  <a:pt x="310475" y="1481772"/>
                  <a:pt x="315990" y="1453371"/>
                </a:cubicBezTo>
                <a:cubicBezTo>
                  <a:pt x="355971" y="1489769"/>
                  <a:pt x="549259" y="1477912"/>
                  <a:pt x="583450" y="1474052"/>
                </a:cubicBezTo>
                <a:cubicBezTo>
                  <a:pt x="621777" y="1469917"/>
                  <a:pt x="659553" y="1452269"/>
                  <a:pt x="699809" y="1461919"/>
                </a:cubicBezTo>
                <a:cubicBezTo>
                  <a:pt x="732070" y="1469641"/>
                  <a:pt x="881516" y="1544364"/>
                  <a:pt x="902750" y="1458612"/>
                </a:cubicBezTo>
                <a:cubicBezTo>
                  <a:pt x="903853" y="1454475"/>
                  <a:pt x="964237" y="1464127"/>
                  <a:pt x="996774" y="1468814"/>
                </a:cubicBezTo>
                <a:cubicBezTo>
                  <a:pt x="1025451" y="1472674"/>
                  <a:pt x="1057712" y="1489769"/>
                  <a:pt x="1077012" y="1455578"/>
                </a:cubicBezTo>
                <a:cubicBezTo>
                  <a:pt x="1088317" y="1435450"/>
                  <a:pt x="1041719" y="1396571"/>
                  <a:pt x="1000083" y="1393262"/>
                </a:cubicBezTo>
                <a:cubicBezTo>
                  <a:pt x="963961" y="1390229"/>
                  <a:pt x="926186" y="1385817"/>
                  <a:pt x="891720" y="1394089"/>
                </a:cubicBezTo>
                <a:cubicBezTo>
                  <a:pt x="849258" y="1404017"/>
                  <a:pt x="826372" y="1388024"/>
                  <a:pt x="814515" y="1353557"/>
                </a:cubicBezTo>
                <a:cubicBezTo>
                  <a:pt x="801280" y="1315506"/>
                  <a:pt x="775911" y="1297858"/>
                  <a:pt x="740895" y="1280211"/>
                </a:cubicBezTo>
                <a:cubicBezTo>
                  <a:pt x="655967" y="1237474"/>
                  <a:pt x="574352" y="1188118"/>
                  <a:pt x="481154" y="1163301"/>
                </a:cubicBezTo>
                <a:cubicBezTo>
                  <a:pt x="462679" y="1158337"/>
                  <a:pt x="442276" y="1151719"/>
                  <a:pt x="433728" y="1118909"/>
                </a:cubicBezTo>
                <a:cubicBezTo>
                  <a:pt x="686023" y="1167987"/>
                  <a:pt x="915984" y="1295929"/>
                  <a:pt x="1176276" y="1288484"/>
                </a:cubicBezTo>
                <a:cubicBezTo>
                  <a:pt x="1105137" y="1247950"/>
                  <a:pt x="1022694" y="1245745"/>
                  <a:pt x="946867" y="1217344"/>
                </a:cubicBezTo>
                <a:cubicBezTo>
                  <a:pt x="1000635" y="1196113"/>
                  <a:pt x="1051094" y="1218172"/>
                  <a:pt x="1102104" y="1230304"/>
                </a:cubicBezTo>
                <a:cubicBezTo>
                  <a:pt x="1144843" y="1240230"/>
                  <a:pt x="1183446" y="1241885"/>
                  <a:pt x="1188133" y="1182603"/>
                </a:cubicBezTo>
                <a:cubicBezTo>
                  <a:pt x="1186478" y="1178742"/>
                  <a:pt x="1186754" y="1173780"/>
                  <a:pt x="1187030" y="1169092"/>
                </a:cubicBezTo>
                <a:cubicBezTo>
                  <a:pt x="1172690" y="1144552"/>
                  <a:pt x="1150358" y="1131868"/>
                  <a:pt x="1123887" y="1124698"/>
                </a:cubicBezTo>
                <a:cubicBezTo>
                  <a:pt x="1107894" y="1120286"/>
                  <a:pt x="1086663" y="1113668"/>
                  <a:pt x="1086938" y="1096023"/>
                </a:cubicBezTo>
                <a:cubicBezTo>
                  <a:pt x="1087765" y="1030674"/>
                  <a:pt x="1036756" y="1011647"/>
                  <a:pt x="985744" y="992622"/>
                </a:cubicBezTo>
                <a:cubicBezTo>
                  <a:pt x="1014145" y="960086"/>
                  <a:pt x="1036479" y="984074"/>
                  <a:pt x="1057987" y="981594"/>
                </a:cubicBezTo>
                <a:cubicBezTo>
                  <a:pt x="1072049" y="979939"/>
                  <a:pt x="1084733" y="976906"/>
                  <a:pt x="1084733" y="960086"/>
                </a:cubicBezTo>
                <a:cubicBezTo>
                  <a:pt x="1085008" y="946023"/>
                  <a:pt x="1078390" y="930030"/>
                  <a:pt x="1064605" y="929756"/>
                </a:cubicBezTo>
                <a:cubicBezTo>
                  <a:pt x="978300" y="927273"/>
                  <a:pt x="930599" y="836833"/>
                  <a:pt x="840985" y="836558"/>
                </a:cubicBezTo>
                <a:cubicBezTo>
                  <a:pt x="787493" y="836558"/>
                  <a:pt x="868834" y="785547"/>
                  <a:pt x="823615" y="764315"/>
                </a:cubicBezTo>
                <a:cubicBezTo>
                  <a:pt x="813687" y="759628"/>
                  <a:pt x="849533" y="752460"/>
                  <a:pt x="865526" y="753562"/>
                </a:cubicBezTo>
                <a:cubicBezTo>
                  <a:pt x="881242" y="754665"/>
                  <a:pt x="895304" y="768175"/>
                  <a:pt x="914331" y="758525"/>
                </a:cubicBezTo>
                <a:cubicBezTo>
                  <a:pt x="924808" y="724059"/>
                  <a:pt x="897787" y="711375"/>
                  <a:pt x="875452" y="701724"/>
                </a:cubicBezTo>
                <a:cubicBezTo>
                  <a:pt x="823889" y="679390"/>
                  <a:pt x="773706" y="652369"/>
                  <a:pt x="717181" y="644371"/>
                </a:cubicBezTo>
                <a:cubicBezTo>
                  <a:pt x="697053" y="641614"/>
                  <a:pt x="746133" y="604666"/>
                  <a:pt x="755783" y="591707"/>
                </a:cubicBezTo>
                <a:cubicBezTo>
                  <a:pt x="528304" y="455496"/>
                  <a:pt x="254778" y="462388"/>
                  <a:pt x="0" y="352370"/>
                </a:cubicBezTo>
                <a:cubicBezTo>
                  <a:pt x="56250" y="330864"/>
                  <a:pt x="97610" y="346580"/>
                  <a:pt x="135937" y="349889"/>
                </a:cubicBezTo>
                <a:cubicBezTo>
                  <a:pt x="231615" y="358160"/>
                  <a:pt x="326193" y="375256"/>
                  <a:pt x="421595" y="385458"/>
                </a:cubicBezTo>
                <a:cubicBezTo>
                  <a:pt x="468469" y="390421"/>
                  <a:pt x="512035" y="409172"/>
                  <a:pt x="564424" y="379393"/>
                </a:cubicBezTo>
                <a:cubicBezTo>
                  <a:pt x="599443" y="359540"/>
                  <a:pt x="655418" y="381046"/>
                  <a:pt x="698432" y="398694"/>
                </a:cubicBezTo>
                <a:cubicBezTo>
                  <a:pt x="734000" y="413307"/>
                  <a:pt x="767916" y="417167"/>
                  <a:pt x="815067" y="398694"/>
                </a:cubicBezTo>
                <a:cubicBezTo>
                  <a:pt x="772328" y="387389"/>
                  <a:pt x="739515" y="377463"/>
                  <a:pt x="705876" y="370568"/>
                </a:cubicBezTo>
                <a:cubicBezTo>
                  <a:pt x="679130" y="365055"/>
                  <a:pt x="742825" y="342719"/>
                  <a:pt x="775360" y="345477"/>
                </a:cubicBezTo>
                <a:cubicBezTo>
                  <a:pt x="820857" y="349337"/>
                  <a:pt x="795214" y="335000"/>
                  <a:pt x="787493" y="315146"/>
                </a:cubicBezTo>
                <a:cubicBezTo>
                  <a:pt x="779221" y="293915"/>
                  <a:pt x="803761" y="287298"/>
                  <a:pt x="819202" y="291709"/>
                </a:cubicBezTo>
                <a:cubicBezTo>
                  <a:pt x="878484" y="309081"/>
                  <a:pt x="937491" y="278474"/>
                  <a:pt x="998705" y="303291"/>
                </a:cubicBezTo>
                <a:cubicBezTo>
                  <a:pt x="983263" y="242077"/>
                  <a:pt x="949899" y="215331"/>
                  <a:pt x="880139" y="206783"/>
                </a:cubicBezTo>
                <a:cubicBezTo>
                  <a:pt x="853944" y="203475"/>
                  <a:pt x="826647" y="208438"/>
                  <a:pt x="804037" y="190790"/>
                </a:cubicBezTo>
                <a:cubicBezTo>
                  <a:pt x="791076" y="180590"/>
                  <a:pt x="776463" y="168457"/>
                  <a:pt x="786666" y="149707"/>
                </a:cubicBezTo>
                <a:cubicBezTo>
                  <a:pt x="793834" y="136471"/>
                  <a:pt x="809276" y="136471"/>
                  <a:pt x="821960" y="140884"/>
                </a:cubicBezTo>
                <a:cubicBezTo>
                  <a:pt x="878761" y="160461"/>
                  <a:pt x="938043" y="167630"/>
                  <a:pt x="997325" y="174800"/>
                </a:cubicBezTo>
                <a:cubicBezTo>
                  <a:pt x="1006426" y="175902"/>
                  <a:pt x="1016626" y="179487"/>
                  <a:pt x="1026829" y="161287"/>
                </a:cubicBezTo>
                <a:cubicBezTo>
                  <a:pt x="915984" y="131783"/>
                  <a:pt x="810655" y="89872"/>
                  <a:pt x="696777" y="73604"/>
                </a:cubicBezTo>
                <a:cubicBezTo>
                  <a:pt x="698432" y="65884"/>
                  <a:pt x="700086" y="58164"/>
                  <a:pt x="701741" y="50444"/>
                </a:cubicBezTo>
                <a:cubicBezTo>
                  <a:pt x="790801" y="61471"/>
                  <a:pt x="879864" y="72501"/>
                  <a:pt x="992362" y="86289"/>
                </a:cubicBezTo>
                <a:cubicBezTo>
                  <a:pt x="923153" y="42446"/>
                  <a:pt x="857805" y="57060"/>
                  <a:pt x="806519" y="18183"/>
                </a:cubicBezTo>
                <a:cubicBezTo>
                  <a:pt x="816170" y="3431"/>
                  <a:pt x="827820" y="-292"/>
                  <a:pt x="839883" y="18"/>
                </a:cubicBezTo>
                <a:close/>
              </a:path>
            </a:pathLst>
          </a:cu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9AC3B41-3CA0-8D4C-05C6-6D699B686144}"/>
              </a:ext>
            </a:extLst>
          </p:cNvPr>
          <p:cNvSpPr txBox="1"/>
          <p:nvPr/>
        </p:nvSpPr>
        <p:spPr>
          <a:xfrm>
            <a:off x="1406770" y="301048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068F1A-09D6-E720-2C8F-598A74A33A70}"/>
              </a:ext>
            </a:extLst>
          </p:cNvPr>
          <p:cNvSpPr txBox="1"/>
          <p:nvPr/>
        </p:nvSpPr>
        <p:spPr>
          <a:xfrm>
            <a:off x="3075094" y="2384214"/>
            <a:ext cx="6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5464571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A998AFB-0044-75BC-3C71-466A1391B377}"/>
              </a:ext>
            </a:extLst>
          </p:cNvPr>
          <p:cNvSpPr txBox="1"/>
          <p:nvPr/>
        </p:nvSpPr>
        <p:spPr>
          <a:xfrm>
            <a:off x="1406769" y="1"/>
            <a:ext cx="10515600" cy="1325564"/>
          </a:xfrm>
          <a:prstGeom prst="rect">
            <a:avLst/>
          </a:prstGeom>
        </p:spPr>
        <p:txBody>
          <a:bodyPr vert="horz" lIns="121920" tIns="60960" rIns="121920" bIns="6096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5867" b="1" dirty="0">
                <a:latin typeface="+mj-lt"/>
                <a:ea typeface="+mj-ea"/>
                <a:cs typeface="+mj-cs"/>
              </a:rPr>
              <a:t>SUICIDE PREVENTION VIDEO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AC3B41-3CA0-8D4C-05C6-6D699B686144}"/>
              </a:ext>
            </a:extLst>
          </p:cNvPr>
          <p:cNvSpPr txBox="1"/>
          <p:nvPr/>
        </p:nvSpPr>
        <p:spPr>
          <a:xfrm>
            <a:off x="1406770" y="301048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068F1A-09D6-E720-2C8F-598A74A33A70}"/>
              </a:ext>
            </a:extLst>
          </p:cNvPr>
          <p:cNvSpPr txBox="1"/>
          <p:nvPr/>
        </p:nvSpPr>
        <p:spPr>
          <a:xfrm>
            <a:off x="3075094" y="2384214"/>
            <a:ext cx="6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dirty="0"/>
          </a:p>
        </p:txBody>
      </p:sp>
      <p:pic>
        <p:nvPicPr>
          <p:cNvPr id="7" name="Online Media 6" title="Faculty Suicide/Self-Harm debrief 1/13/20">
            <a:hlinkClick r:id="" action="ppaction://media"/>
            <a:extLst>
              <a:ext uri="{FF2B5EF4-FFF2-40B4-BE49-F238E27FC236}">
                <a16:creationId xmlns:a16="http://schemas.microsoft.com/office/drawing/2014/main" id="{66243D05-B9AC-301C-DE68-D811C429780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1167" y="1320800"/>
            <a:ext cx="12147551" cy="553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917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AC3B41-3CA0-8D4C-05C6-6D699B686144}"/>
              </a:ext>
            </a:extLst>
          </p:cNvPr>
          <p:cNvSpPr txBox="1"/>
          <p:nvPr/>
        </p:nvSpPr>
        <p:spPr>
          <a:xfrm>
            <a:off x="1406770" y="301048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068F1A-09D6-E720-2C8F-598A74A33A70}"/>
              </a:ext>
            </a:extLst>
          </p:cNvPr>
          <p:cNvSpPr txBox="1"/>
          <p:nvPr/>
        </p:nvSpPr>
        <p:spPr>
          <a:xfrm>
            <a:off x="3075094" y="2384214"/>
            <a:ext cx="6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dirty="0"/>
          </a:p>
        </p:txBody>
      </p:sp>
      <p:pic>
        <p:nvPicPr>
          <p:cNvPr id="8" name="Picture 7" descr="A diagram of a path&#10;&#10;Description automatically generated">
            <a:extLst>
              <a:ext uri="{FF2B5EF4-FFF2-40B4-BE49-F238E27FC236}">
                <a16:creationId xmlns:a16="http://schemas.microsoft.com/office/drawing/2014/main" id="{FD3DA61F-0341-9775-FE22-F6DF1BAFDA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929"/>
            <a:ext cx="118168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5787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2D577-D110-F010-9A65-277DC1144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7425" y="1241396"/>
            <a:ext cx="6661191" cy="2385920"/>
          </a:xfrm>
        </p:spPr>
        <p:txBody>
          <a:bodyPr vert="horz" wrap="square" lIns="121920" tIns="60960" rIns="121920" bIns="60960" rtlCol="0" anchor="b" anchorCtr="0" compatLnSpc="1">
            <a:normAutofit/>
          </a:bodyPr>
          <a:lstStyle/>
          <a:p>
            <a:pPr algn="ctr">
              <a:lnSpc>
                <a:spcPct val="90000"/>
              </a:lnSpc>
            </a:pPr>
            <a:endParaRPr lang="en-US" sz="40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B98BF3E1-57F1-8B39-DE14-57E73A4BA9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92529" y="-279400"/>
            <a:ext cx="12694703" cy="714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2258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646240-D289-34CE-002F-5FC9A6817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2548" y="5545282"/>
            <a:ext cx="4103457" cy="982996"/>
          </a:xfrm>
          <a:prstGeom prst="rect">
            <a:avLst/>
          </a:prstGeom>
        </p:spPr>
      </p:pic>
      <p:pic>
        <p:nvPicPr>
          <p:cNvPr id="7" name="Content Placeholder 6" descr="A screenshot of a computer&#10;&#10;Description automatically generated">
            <a:extLst>
              <a:ext uri="{FF2B5EF4-FFF2-40B4-BE49-F238E27FC236}">
                <a16:creationId xmlns:a16="http://schemas.microsoft.com/office/drawing/2014/main" id="{93A9B03C-4C97-2E90-8FFD-9882EF6BD4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908423"/>
            <a:ext cx="13695380" cy="7339356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369FC4-C94E-E76D-5C71-16D7DC5E074D}"/>
              </a:ext>
            </a:extLst>
          </p:cNvPr>
          <p:cNvSpPr txBox="1"/>
          <p:nvPr/>
        </p:nvSpPr>
        <p:spPr>
          <a:xfrm>
            <a:off x="2221653" y="2709334"/>
            <a:ext cx="4855496" cy="28009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867" b="1" dirty="0"/>
              <a:t>Papyrus.org.uk</a:t>
            </a:r>
          </a:p>
          <a:p>
            <a:r>
              <a:rPr lang="en-US" sz="5867" b="1" dirty="0"/>
              <a:t>Young Suicide</a:t>
            </a:r>
          </a:p>
          <a:p>
            <a:r>
              <a:rPr lang="en-US" sz="5867" b="1" dirty="0"/>
              <a:t>Prevention</a:t>
            </a:r>
            <a:endParaRPr lang="en-GB" sz="5867" b="1" dirty="0"/>
          </a:p>
        </p:txBody>
      </p:sp>
    </p:spTree>
    <p:extLst>
      <p:ext uri="{BB962C8B-B14F-4D97-AF65-F5344CB8AC3E}">
        <p14:creationId xmlns:p14="http://schemas.microsoft.com/office/powerpoint/2010/main" val="12867025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B3064-73BC-4DE7-C6C4-8304C94E4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group of guitars from a ceiling&#10;&#10;Description automatically generated with low confidence">
            <a:extLst>
              <a:ext uri="{FF2B5EF4-FFF2-40B4-BE49-F238E27FC236}">
                <a16:creationId xmlns:a16="http://schemas.microsoft.com/office/drawing/2014/main" id="{142F24E6-3F5C-F805-EAB9-34AB12B6DBE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20" r="47592"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D35AB2-31FF-0C5C-9874-11C6BC0A7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57189"/>
            <a:ext cx="5155263" cy="557190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BREAK</a:t>
            </a:r>
            <a:br>
              <a:rPr lang="en-US" b="1">
                <a:solidFill>
                  <a:srgbClr val="FFFFFF"/>
                </a:solidFill>
              </a:rPr>
            </a:br>
            <a:r>
              <a:rPr lang="en-US" b="1">
                <a:solidFill>
                  <a:srgbClr val="FFFFFF"/>
                </a:solidFill>
              </a:rPr>
              <a:t>(20 minutes)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71784D1-7E31-F9F9-C6AE-29C4CAB68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5375" y="557189"/>
            <a:ext cx="5158424" cy="5571900"/>
          </a:xfrm>
        </p:spPr>
        <p:txBody>
          <a:bodyPr anchor="ctr">
            <a:normAutofit/>
          </a:bodyPr>
          <a:lstStyle/>
          <a:p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0210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6699F-A29A-4EE9-BE73-5F93E70F5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225A3-6994-4B55-9A03-D71B47745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5126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1fa2a2e-ccb8-4b97-81d1-52fad927bd6d">
      <Terms xmlns="http://schemas.microsoft.com/office/infopath/2007/PartnerControls"/>
    </lcf76f155ced4ddcb4097134ff3c332f>
    <TaxCatchAll xmlns="6904e643-86ad-4f5e-a7f4-4b2e1f854ed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B7715A7C83D644AC2BC87BEED320BB" ma:contentTypeVersion="17" ma:contentTypeDescription="Create a new document." ma:contentTypeScope="" ma:versionID="b579d6682cf5ec55229a1cee0ab4b119">
  <xsd:schema xmlns:xsd="http://www.w3.org/2001/XMLSchema" xmlns:xs="http://www.w3.org/2001/XMLSchema" xmlns:p="http://schemas.microsoft.com/office/2006/metadata/properties" xmlns:ns2="a1fa2a2e-ccb8-4b97-81d1-52fad927bd6d" xmlns:ns3="6904e643-86ad-4f5e-a7f4-4b2e1f854ed1" targetNamespace="http://schemas.microsoft.com/office/2006/metadata/properties" ma:root="true" ma:fieldsID="de0774a0c91f91c2ce2bb7c955de4fb5" ns2:_="" ns3:_="">
    <xsd:import namespace="a1fa2a2e-ccb8-4b97-81d1-52fad927bd6d"/>
    <xsd:import namespace="6904e643-86ad-4f5e-a7f4-4b2e1f854e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fa2a2e-ccb8-4b97-81d1-52fad927bd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50692f8-24a0-4675-95ba-921da9ffe5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04e643-86ad-4f5e-a7f4-4b2e1f854ed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e7e3d17-6130-48ab-a535-7db12c6afcfa}" ma:internalName="TaxCatchAll" ma:showField="CatchAllData" ma:web="6904e643-86ad-4f5e-a7f4-4b2e1f854ed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5A94D02-9B44-414A-80CB-48DB080080D6}">
  <ds:schemaRefs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6904e643-86ad-4f5e-a7f4-4b2e1f854ed1"/>
    <ds:schemaRef ds:uri="http://schemas.microsoft.com/office/infopath/2007/PartnerControls"/>
    <ds:schemaRef ds:uri="a1fa2a2e-ccb8-4b97-81d1-52fad927bd6d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53FDF64-1B1C-41AD-A9E4-18F02A68360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04BD344-58C5-4DFF-96FA-8624227E33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fa2a2e-ccb8-4b97-81d1-52fad927bd6d"/>
    <ds:schemaRef ds:uri="6904e643-86ad-4f5e-a7f4-4b2e1f854e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1028</TotalTime>
  <Words>890</Words>
  <Application>Microsoft Office PowerPoint</Application>
  <PresentationFormat>Widescreen</PresentationFormat>
  <Paragraphs>115</Paragraphs>
  <Slides>32</Slides>
  <Notes>7</Notes>
  <HiddenSlides>0</HiddenSlides>
  <MMClips>5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Arial Narrow</vt:lpstr>
      <vt:lpstr>Calibri</vt:lpstr>
      <vt:lpstr>Calibri Light</vt:lpstr>
      <vt:lpstr>Roboto</vt:lpstr>
      <vt:lpstr>Office Theme</vt:lpstr>
      <vt:lpstr>Psychopathology and Synthesis</vt:lpstr>
      <vt:lpstr>DAY  ONE</vt:lpstr>
      <vt:lpstr>What we will cover </vt:lpstr>
      <vt:lpstr>Recap: ‘Psychopathology and Assessments’  1/3 </vt:lpstr>
      <vt:lpstr>Recap: ‘Psychopathology and Assessments’  2/3 </vt:lpstr>
      <vt:lpstr>Recap: ‘Psychopathology and Assessments’  3/3 </vt:lpstr>
      <vt:lpstr>PowerPoint Presentation</vt:lpstr>
      <vt:lpstr> Specific Neurodiverse Topics  </vt:lpstr>
      <vt:lpstr>Recap: ‘Developmental Psychopathology’  1/3 </vt:lpstr>
      <vt:lpstr>Recap: ‘Developmental Psychopathology’  2/3 </vt:lpstr>
      <vt:lpstr>Recap: ‘Developmental Psychopathology’  3/3 </vt:lpstr>
      <vt:lpstr>ADHD vs AUTISM: Sensory Processing</vt:lpstr>
      <vt:lpstr>Sensory Processing DiFFERENCES (SPD) / ADHD</vt:lpstr>
      <vt:lpstr>BREAK (20 minutes)</vt:lpstr>
      <vt:lpstr>What we will cover </vt:lpstr>
      <vt:lpstr>PowerPoint Presentation</vt:lpstr>
      <vt:lpstr>PowerPoint Presentation</vt:lpstr>
      <vt:lpstr>DAY  two</vt:lpstr>
      <vt:lpstr> Topics: Mental Health Topics  1/ 2     </vt:lpstr>
      <vt:lpstr>Bipolar Disorder (6:10)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BREAK (20 minutes)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AND  COMMUNICATIONS -  STRATEGY &amp; PLAN</dc:title>
  <dc:creator>Heloise Proust</dc:creator>
  <cp:lastModifiedBy>Mike Bryant</cp:lastModifiedBy>
  <cp:revision>19</cp:revision>
  <dcterms:created xsi:type="dcterms:W3CDTF">2020-02-24T12:13:07Z</dcterms:created>
  <dcterms:modified xsi:type="dcterms:W3CDTF">2026-04-04T06:39:59Z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0x0101009EB7715A7C83D644AC2BC87BEED320BB</vt:lpwstr>
  </property>
  <property fmtid="{D5CDD505-2E9C-101B-9397-08002B2CF9AE}" pid="3" name="MediaServiceImageTags">
    <vt:lpwstr/>
  </property>
</Properties>
</file>