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387" r:id="rId5"/>
    <p:sldId id="257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417" r:id="rId36"/>
    <p:sldId id="418" r:id="rId37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633538"/>
            <a:ext cx="10515600" cy="4676775"/>
          </a:xfrm>
        </p:spPr>
        <p:txBody>
          <a:bodyPr tIns="299720" bIns="299720" anchor="ctr"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FRAMING THE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Psychopathology offers shared clinical language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It supports formulation but not identity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Meaning and risk must be held together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Therapists must tolerate 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WORKING WITH PSYCHOPATHOLOGY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Diagnostic labels describe patterns not people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Formulation integrates symptoms, history and context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Clients arrive shaped by prior labels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Think clinically without collapsing into diagnosis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RISK – CORE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Risk is dynamic and can escalate quickly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Intensity does not equal level of danger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Quiet clients may carry significant risk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Direct questions reduce rather than increase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SHAME — "LEAH"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LEAH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Clarify thoughts, intent and access to means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Develop formulation: shame, avoidance, context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Prioritise first two sessions and pacing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Match structure to client capacity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PSYCHOSYNTHESIS PERSPECTIVE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Distress can reflect fragmentation of parts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Observing self supports non-identification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Containment is required before exploration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Integration develops gradually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NEURODIVERSITY – CLINICAL 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Difference in processing rather than deficit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Executive function affects organisation and action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Sensory overload drives overwhelm and shutdown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Masking hides difficulty but increases exhaustion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CLINICAL CHALLENGES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Difference often misread as lack of motivation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Shame develops through repeated failure narratives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Function varies depending on environment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Work requires flexibility without certainty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NEURODIVERSITY — "OUSMANE"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OUSMANE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Formulate ND, stress and environment together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Identify safeguarding risks for children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Prioritise practical next steps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Focus on what changes this week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WORKING PRACTICALLY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Use structure, routine and predictability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Reduce overwhelm before increasing insight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Adjust environment where possible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Support agency and functional 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LUNCH – 1 HOUR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TRAUMA – CORE UNDERSTANDING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Trauma is held in the nervous system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It alters regulation, perception and relating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Triggers produce rapid state changes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Clients shift between arousal and shutdown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DISSOCIATION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Protective response to overwhelming experience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Involves loss of continuity or presence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Often subtle and easily missed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Strongly linked to increased risk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DISSOCIATION — "EMILY"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EMILY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Assess risk alongside dissociation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Decide whether to escalate support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Prioritise stabilisation and safety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Question reliability of self-report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NEUROPLASTICITY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Repetition strengthens emotional patterns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Trauma reinforces rigid responses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Insight alone rarely changes behaviour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Change requires repeated relational experience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CLINICAL 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Stabilise before deeper exploration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Use pacing to prevent dysregulation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Reduce overwhelm to support engagement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Monitor risk as patterns shift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BREAK – 20 MINUTES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RISK — "DAVID"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DAVID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Decide: continue or escalate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Act immediately on current risk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Document clearly and justify decisions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Consider impact of trauma on disclosure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RISK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Balance autonomy with duty of care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Escalate when risk becomes active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Use supervision in complex decisions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Clear documentation protects practice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CASE STUDY: AMBIGUITY — "MICHAEL"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TASK – MICHAEL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Decide whether uncertainty requires action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Define what would trigger escalation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Consider risks of acting vs waiting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Notice therapist anxiety in decision-making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Calibri"/>
              </a:rPr>
              <a:t>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7" y="4998244"/>
            <a:ext cx="10515600" cy="1500182"/>
          </a:xfrm>
        </p:spPr>
        <p:txBody>
          <a:bodyPr tIns="762000" bIns="762000" anchor="ctr"/>
          <a:lstStyle/>
          <a:p>
            <a:pPr algn="ctr">
              <a:spcBef>
                <a:spcPts val="22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Hold meaning and risk simultaneously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Recognise limits of therapeutic role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Decision-making is core to ethical practice</a:t>
            </a:r>
          </a:p>
          <a:p>
            <a:pPr algn="ctr">
              <a:spcBef>
                <a:spcPts val="600"/>
              </a:spcBef>
              <a:spcAft>
                <a:spcPts val="1800"/>
              </a:spcAft>
            </a:pPr>
            <a:r>
              <a:rPr sz="2200" b="1">
                <a:latin typeface="Arial Narrow"/>
              </a:rPr>
              <a:t>Use reflection and supervision consistently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2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512</Words>
  <Application>Microsoft Office PowerPoint</Application>
  <PresentationFormat>Widescreen</PresentationFormat>
  <Paragraphs>105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Arial Narrow</vt:lpstr>
      <vt:lpstr>Calibri</vt:lpstr>
      <vt:lpstr>Calibri Light</vt:lpstr>
      <vt:lpstr>Office Theme</vt:lpstr>
      <vt:lpstr>PowerPoint Presentation</vt:lpstr>
      <vt:lpstr>  </vt:lpstr>
      <vt:lpstr>PowerPoint Presentation</vt:lpstr>
      <vt:lpstr>DAY 1 – AM</vt:lpstr>
      <vt:lpstr>FRAMING THE WORK</vt:lpstr>
      <vt:lpstr>WORKING WITH PSYCHOPATHOLOGY</vt:lpstr>
      <vt:lpstr>RISK – CORE PRINCIPLES</vt:lpstr>
      <vt:lpstr>CASE STUDY: SHAME — "LEAH"</vt:lpstr>
      <vt:lpstr>TASK – LEAH</vt:lpstr>
      <vt:lpstr>PSYCHOSYNTHESIS PERSPECTIVE</vt:lpstr>
      <vt:lpstr>BREAK – 20 MINUTES</vt:lpstr>
      <vt:lpstr>DAY 1 – PM</vt:lpstr>
      <vt:lpstr>NEURODIVERSITY – CLINICAL VIEW</vt:lpstr>
      <vt:lpstr>CLINICAL CHALLENGES</vt:lpstr>
      <vt:lpstr>CASE STUDY: NEURODIVERSITY — "OUSMANE"</vt:lpstr>
      <vt:lpstr>TASK – OUSMANE</vt:lpstr>
      <vt:lpstr>WORKING PRACTICALLY</vt:lpstr>
      <vt:lpstr>LUNCH – 1 HOUR</vt:lpstr>
      <vt:lpstr>DAY 2 – AM</vt:lpstr>
      <vt:lpstr>TRAUMA – CORE UNDERSTANDING</vt:lpstr>
      <vt:lpstr>DISSOCIATION</vt:lpstr>
      <vt:lpstr>CASE STUDY: DISSOCIATION — "EMILY"</vt:lpstr>
      <vt:lpstr>TASK – EMILY</vt:lpstr>
      <vt:lpstr>NEUROPLASTICITY</vt:lpstr>
      <vt:lpstr>CLINICAL RESPONSE</vt:lpstr>
      <vt:lpstr>BREAK – 20 MINUTES</vt:lpstr>
      <vt:lpstr>DAY 2 – PM</vt:lpstr>
      <vt:lpstr>CASE STUDY: RISK — "DAVID"</vt:lpstr>
      <vt:lpstr>TASK – DAVID</vt:lpstr>
      <vt:lpstr>RISK DECISIONS</vt:lpstr>
      <vt:lpstr>CASE STUDY: AMBIGUITY — "MICHAEL"</vt:lpstr>
      <vt:lpstr>TASK – MICHAEL</vt:lpstr>
      <vt:lpstr>INTEGRATION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17</cp:revision>
  <dcterms:created xsi:type="dcterms:W3CDTF">2020-02-24T12:13:07Z</dcterms:created>
  <dcterms:modified xsi:type="dcterms:W3CDTF">2026-04-08T10:28:25Z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