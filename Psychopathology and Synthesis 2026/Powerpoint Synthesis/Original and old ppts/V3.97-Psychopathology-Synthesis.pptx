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8"/>
  </p:notesMasterIdLst>
  <p:sldIdLst>
    <p:sldId id="387" r:id="rId5"/>
    <p:sldId id="257" r:id="rId6"/>
    <p:sldId id="388" r:id="rId7"/>
    <p:sldId id="389" r:id="rId8"/>
    <p:sldId id="390" r:id="rId9"/>
    <p:sldId id="391" r:id="rId10"/>
    <p:sldId id="392" r:id="rId11"/>
    <p:sldId id="393" r:id="rId12"/>
    <p:sldId id="394" r:id="rId13"/>
    <p:sldId id="395" r:id="rId14"/>
    <p:sldId id="396" r:id="rId15"/>
    <p:sldId id="397" r:id="rId16"/>
    <p:sldId id="398" r:id="rId17"/>
    <p:sldId id="399" r:id="rId18"/>
    <p:sldId id="400" r:id="rId19"/>
    <p:sldId id="401" r:id="rId20"/>
    <p:sldId id="402" r:id="rId21"/>
    <p:sldId id="403" r:id="rId22"/>
    <p:sldId id="404" r:id="rId23"/>
    <p:sldId id="405" r:id="rId24"/>
    <p:sldId id="406" r:id="rId25"/>
    <p:sldId id="407" r:id="rId26"/>
    <p:sldId id="408" r:id="rId27"/>
    <p:sldId id="409" r:id="rId28"/>
    <p:sldId id="410" r:id="rId29"/>
    <p:sldId id="411" r:id="rId30"/>
    <p:sldId id="412" r:id="rId31"/>
    <p:sldId id="413" r:id="rId32"/>
    <p:sldId id="414" r:id="rId33"/>
    <p:sldId id="415" r:id="rId34"/>
    <p:sldId id="416" r:id="rId35"/>
    <p:sldId id="417" r:id="rId36"/>
    <p:sldId id="418" r:id="rId37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25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ystal Joseph" userId="a32e985e-e558-4691-99f3-98a93d3ab4d5" providerId="ADAL" clId="{A649D378-B43F-4D4F-A628-ADFD8851EF70}"/>
    <pc:docChg chg="modSld">
      <pc:chgData name="Krystal Joseph" userId="a32e985e-e558-4691-99f3-98a93d3ab4d5" providerId="ADAL" clId="{A649D378-B43F-4D4F-A628-ADFD8851EF70}" dt="2023-03-09T14:49:16.128" v="9" actId="20577"/>
      <pc:docMkLst>
        <pc:docMk/>
      </pc:docMkLst>
      <pc:sldChg chg="modSp mod">
        <pc:chgData name="Krystal Joseph" userId="a32e985e-e558-4691-99f3-98a93d3ab4d5" providerId="ADAL" clId="{A649D378-B43F-4D4F-A628-ADFD8851EF70}" dt="2023-03-09T14:49:16.128" v="9" actId="20577"/>
        <pc:sldMkLst>
          <pc:docMk/>
          <pc:sldMk cId="654933530" sldId="387"/>
        </pc:sldMkLst>
        <pc:spChg chg="mod">
          <ac:chgData name="Krystal Joseph" userId="a32e985e-e558-4691-99f3-98a93d3ab4d5" providerId="ADAL" clId="{A649D378-B43F-4D4F-A628-ADFD8851EF70}" dt="2023-03-09T14:49:16.128" v="9" actId="20577"/>
          <ac:spMkLst>
            <pc:docMk/>
            <pc:sldMk cId="654933530" sldId="387"/>
            <ac:spMk id="3" creationId="{74419044-4AA4-432B-9FC2-34A161AC00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08/04/2026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endParaRPr lang="en-GB" sz="2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pPr lvl="0"/>
            <a:r>
              <a:rPr lang="en-US" b="1">
                <a:solidFill>
                  <a:schemeClr val="bg1"/>
                </a:solidFill>
              </a:rPr>
              <a:t>March 2023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5989-7B2D-4A34-A5A0-07A23F5071B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>
                <a:solidFill>
                  <a:srgbClr val="1E9399"/>
                </a:solidFill>
              </a:rPr>
              <a:t> </a:t>
            </a:r>
            <a:r>
              <a:rPr lang="en-GB" dirty="0">
                <a:solidFill>
                  <a:srgbClr val="1E9399"/>
                </a:solidFill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BE728-B8DB-4224-9532-73213A8FCBD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633538"/>
            <a:ext cx="10515600" cy="4676775"/>
          </a:xfrm>
        </p:spPr>
        <p:txBody>
          <a:bodyPr tIns="299720" bIns="299720" anchor="ctr">
            <a:noAutofit/>
          </a:bodyPr>
          <a:lstStyle/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FC544-6CDB-46EE-9E1F-D177EA3E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044" y="363912"/>
            <a:ext cx="2387635" cy="64807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699F-A29A-4EE9-BE73-5F93E70F5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225A3-6994-4B55-9A03-D71B47745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45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DAY 1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FRAMING THE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Psychopathology offers shared clinical language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It supports formulation but not identity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Meaning and risk must be held together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Therapists must tolerate uncertainty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WORKING WITH PSYCHOPATHOLOGY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Diagnostic labels describe patterns not people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Formulation integrates symptoms, history and context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Clients arrive shaped by prior labels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Think clinically without collapsing into diagnosis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RISK – CORE PRINCIPLES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Risk is dynamic and can escalate quickly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Intensity does not equal level of danger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Quiet clients may carry significant risk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Direct questions reduce rather than increase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CASE STUDY: SHAME — "LEAH"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TASK – LEAH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Clarify thoughts, intent and access to means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Develop formulation: shame, avoidance, context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Prioritise first two sessions and pacing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Match structure to client capacity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PSYCHOSYNTHESIS PERSPECTIVE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Distress can reflect fragmentation of parts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Observing self supports non-identification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Containment is required before exploration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Integration develops gradually over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BREAK – 20 MINUTES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DAY 1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NEURODIVERSITY – CLINICAL 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Difference in processing rather than deficit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Executive function affects organisation and action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Sensory overload drives overwhelm and shutdown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Masking hides difficulty but increases exhaustion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CLINICAL CHALLENGES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Difference often misread as lack of motivation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Shame develops through repeated failure narratives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Function varies depending on environment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Work requires flexibility without certainty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CASE STUDY: NEURODIVERSITY — "OUSMANE"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TASK – OUSMANE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Formulate ND, stress and environment together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Identify safeguarding risks for children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Prioritise practical next steps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Focus on what changes this week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WORKING PRACTICALLY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Use structure, routine and predictability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Reduce overwhelm before increasing insight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Adjust environment where possible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Support agency and functional change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LUNCH – 1 HOUR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DAY 2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TRAUMA – CORE UNDERSTANDING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Trauma is held in the nervous system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It alters regulation, perception and relating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Triggers produce rapid state changes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Clients shift between arousal and shutdown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DISSOCIATION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Protective response to overwhelming experience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Involves loss of continuity or presence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Often subtle and easily missed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Strongly linked to increased risk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CASE STUDY: DISSOCIATION — "EMILY"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TASK – EMILY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Assess risk alongside dissociation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Decide whether to escalate support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Prioritise stabilisation and safety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Question reliability of self-report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NEUROPLASTICITY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Repetition strengthens emotional patterns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Trauma reinforces rigid responses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Insight alone rarely changes behaviour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Change requires repeated relational experience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CLINICAL RESPONSE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Stabilise before deeper exploration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Use pacing to prevent dysregulation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Reduce overwhelm to support engagement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Monitor risk as patterns shift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BREAK – 20 MINUTES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DAY 2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CASE STUDY: RISK — "DAVID"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TASK – DAVID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Decide: continue or escalate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Act immediately on current risk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Document clearly and justify decisions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Consider impact of trauma on disclosure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RISK DECISIONS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Balance autonomy with duty of care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Escalate when risk becomes active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Use supervision in complex decisions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Clear documentation protects practice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CASE STUDY: AMBIGUITY — "MICHAEL"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TASK – MICHAEL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Decide whether uncertainty requires action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Define what would trigger escalation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Consider risks of acting vs waiting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Notice therapist anxiety in decision-making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7" y="2474644"/>
            <a:ext cx="10515600" cy="535531"/>
          </a:xfrm>
        </p:spPr>
        <p:txBody>
          <a:bodyPr anchor="t">
            <a:spAutoFit/>
          </a:bodyPr>
          <a:lstStyle/>
          <a:p>
            <a:pPr algn="ctr"/>
            <a:r>
              <a:rPr sz="3200" b="1">
                <a:latin typeface="Calibri"/>
              </a:rPr>
              <a:t>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318797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Hold meaning and risk simultaneously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Recognise limits of therapeutic role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Decision-making is core to ethical practice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Use reflection and supervision consistently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customXml/itemProps3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512</Words>
  <Application>Microsoft Office PowerPoint</Application>
  <PresentationFormat>Widescreen</PresentationFormat>
  <Paragraphs>105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Arial Narrow</vt:lpstr>
      <vt:lpstr>Calibri</vt:lpstr>
      <vt:lpstr>Calibri Light</vt:lpstr>
      <vt:lpstr>Office Theme</vt:lpstr>
      <vt:lpstr>PowerPoint Presentation</vt:lpstr>
      <vt:lpstr>  </vt:lpstr>
      <vt:lpstr>PowerPoint Presentation</vt:lpstr>
      <vt:lpstr>DAY 1 – AM</vt:lpstr>
      <vt:lpstr>FRAMING THE WORK</vt:lpstr>
      <vt:lpstr>WORKING WITH PSYCHOPATHOLOGY</vt:lpstr>
      <vt:lpstr>RISK – CORE PRINCIPLES</vt:lpstr>
      <vt:lpstr>CASE STUDY: SHAME — "LEAH"</vt:lpstr>
      <vt:lpstr>TASK – LEAH</vt:lpstr>
      <vt:lpstr>PSYCHOSYNTHESIS PERSPECTIVE</vt:lpstr>
      <vt:lpstr>BREAK – 20 MINUTES</vt:lpstr>
      <vt:lpstr>DAY 1 – PM</vt:lpstr>
      <vt:lpstr>NEURODIVERSITY – CLINICAL VIEW</vt:lpstr>
      <vt:lpstr>CLINICAL CHALLENGES</vt:lpstr>
      <vt:lpstr>CASE STUDY: NEURODIVERSITY — "OUSMANE"</vt:lpstr>
      <vt:lpstr>TASK – OUSMANE</vt:lpstr>
      <vt:lpstr>WORKING PRACTICALLY</vt:lpstr>
      <vt:lpstr>LUNCH – 1 HOUR</vt:lpstr>
      <vt:lpstr>DAY 2 – AM</vt:lpstr>
      <vt:lpstr>TRAUMA – CORE UNDERSTANDING</vt:lpstr>
      <vt:lpstr>DISSOCIATION</vt:lpstr>
      <vt:lpstr>CASE STUDY: DISSOCIATION — "EMILY"</vt:lpstr>
      <vt:lpstr>TASK – EMILY</vt:lpstr>
      <vt:lpstr>NEUROPLASTICITY</vt:lpstr>
      <vt:lpstr>CLINICAL RESPONSE</vt:lpstr>
      <vt:lpstr>BREAK – 20 MINUTES</vt:lpstr>
      <vt:lpstr>DAY 2 – PM</vt:lpstr>
      <vt:lpstr>CASE STUDY: RISK — "DAVID"</vt:lpstr>
      <vt:lpstr>TASK – DAVID</vt:lpstr>
      <vt:lpstr>RISK DECISIONS</vt:lpstr>
      <vt:lpstr>CASE STUDY: AMBIGUITY — "MICHAEL"</vt:lpstr>
      <vt:lpstr>TASK – MICHAEL</vt:lpstr>
      <vt:lpstr>INTEGRATION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19</cp:revision>
  <dcterms:created xsi:type="dcterms:W3CDTF">2020-02-24T12:13:07Z</dcterms:created>
  <dcterms:modified xsi:type="dcterms:W3CDTF">2026-04-08T10:31:27Z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