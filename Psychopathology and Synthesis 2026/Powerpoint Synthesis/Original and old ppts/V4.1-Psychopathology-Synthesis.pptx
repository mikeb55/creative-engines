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sldIdLst>
    <p:sldId id="387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</p:sldIdLst>
  <p:sldSz cx="12192000" cy="6858000"/>
  <p:notesSz cx="7011988" cy="92979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58287E3-2986-4574-B527-35BDA0CFDEEE}">
          <p14:sldIdLst>
            <p14:sldId id="387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9D88"/>
    <a:srgbClr val="2A60B6"/>
    <a:srgbClr val="FFFFFF"/>
    <a:srgbClr val="95B1B5"/>
    <a:srgbClr val="8C8C8C"/>
    <a:srgbClr val="888888"/>
    <a:srgbClr val="5FB9A4"/>
    <a:srgbClr val="557377"/>
    <a:srgbClr val="557777"/>
    <a:srgbClr val="5EBA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ystal Joseph" userId="a32e985e-e558-4691-99f3-98a93d3ab4d5" providerId="ADAL" clId="{A649D378-B43F-4D4F-A628-ADFD8851EF70}"/>
    <pc:docChg chg="modSld">
      <pc:chgData name="Krystal Joseph" userId="a32e985e-e558-4691-99f3-98a93d3ab4d5" providerId="ADAL" clId="{A649D378-B43F-4D4F-A628-ADFD8851EF70}" dt="2023-03-09T14:49:16.128" v="9" actId="20577"/>
      <pc:docMkLst>
        <pc:docMk/>
      </pc:docMkLst>
      <pc:sldChg chg="modSp mod">
        <pc:chgData name="Krystal Joseph" userId="a32e985e-e558-4691-99f3-98a93d3ab4d5" providerId="ADAL" clId="{A649D378-B43F-4D4F-A628-ADFD8851EF70}" dt="2023-03-09T14:49:16.128" v="9" actId="20577"/>
        <pc:sldMkLst>
          <pc:docMk/>
          <pc:sldMk cId="654933530" sldId="387"/>
        </pc:sldMkLst>
        <pc:spChg chg="mod">
          <ac:chgData name="Krystal Joseph" userId="a32e985e-e558-4691-99f3-98a93d3ab4d5" providerId="ADAL" clId="{A649D378-B43F-4D4F-A628-ADFD8851EF70}" dt="2023-03-09T14:49:16.128" v="9" actId="20577"/>
          <ac:spMkLst>
            <pc:docMk/>
            <pc:sldMk cId="654933530" sldId="387"/>
            <ac:spMk id="3" creationId="{74419044-4AA4-432B-9FC2-34A161AC00F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925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94994-DAB8-4940-A2A2-3EAC47BAACED}" type="datetimeFigureOut">
              <a:rPr lang="en-GB" smtClean="0"/>
              <a:pPr/>
              <a:t>10/04/2026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80062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5163"/>
            <a:ext cx="5608638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925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CD773-3630-428E-B291-DA887A47BBA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178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1701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Clarify that the deck’s labels follow an earlier PET version: “Day one — afternoon” comes after the mid-morning break and before the lunch slide, not necessarily after 14:00.</a:t>
            </a:r>
          </a:p>
          <a:p>
            <a:pPr>
              <a:defRPr sz="1800">
                <a:latin typeface="Calibri"/>
              </a:defRPr>
            </a:pPr>
            <a:r>
              <a:t>• List the major runs for your own timetable: framing through Leah; neurodiversity through Ousmane; day two trauma and dissociation; then risk, ambiguity, and closure.</a:t>
            </a:r>
          </a:p>
          <a:p>
            <a:pPr>
              <a:defRPr sz="1800">
                <a:latin typeface="Calibri"/>
              </a:defRPr>
            </a:pPr>
            <a:r>
              <a:t>• Remind trainees that breaks are scheduled teaching time for regulation and attention, not optional padding.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Give one example of transferable skill: risk assessment from nursing, teaching, or safeguarding work maps onto counselling thresholds with different paperwork.</a:t>
            </a:r>
          </a:p>
          <a:p>
            <a:pPr>
              <a:defRPr sz="1800">
                <a:latin typeface="Calibri"/>
              </a:defRPr>
            </a:pPr>
            <a:r>
              <a:t>• Clarify that “clinical judgement” means reasons you can name (what you saw, asked, recorded), not preference without evidence.</a:t>
            </a:r>
          </a:p>
          <a:p>
            <a:pPr>
              <a:defRPr sz="1800">
                <a:latin typeface="Calibri"/>
              </a:defRPr>
            </a:pPr>
            <a:r>
              <a:t>• Optional invitation: connect theory to a past role only if the trainee chooses; no requirement to disclose personal mental health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Say who leads meditation and what you expect on cameras, doors, or movement.</a:t>
            </a:r>
          </a:p>
          <a:p>
            <a:pPr>
              <a:defRPr sz="1800">
                <a:latin typeface="Calibri"/>
              </a:defRPr>
            </a:pPr>
            <a:r>
              <a:t>• Offer an alternative to a full group check-in: pair share for two minutes, or a single written sentence, if the group is large.</a:t>
            </a:r>
          </a:p>
          <a:p>
            <a:pPr>
              <a:defRPr sz="1800">
                <a:latin typeface="Calibri"/>
              </a:defRPr>
            </a:pPr>
            <a:r>
              <a:t>• Name when the morning break will be so trainees can pace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Preview the four anchors: how we use diagnosis, risk with Leah, then psychosynthesis language for parts and integration.</a:t>
            </a:r>
          </a:p>
          <a:p>
            <a:pPr>
              <a:defRPr sz="1800">
                <a:latin typeface="Calibri"/>
              </a:defRPr>
            </a:pPr>
            <a:r>
              <a:t>• Give an approximate end time for this block before you start, if you know it.</a:t>
            </a:r>
          </a:p>
          <a:p>
            <a:pPr>
              <a:defRPr sz="1800">
                <a:latin typeface="Calibri"/>
              </a:defRPr>
            </a:pPr>
            <a:r>
              <a:t>• Position the case as professional task practice, not entertainment or gossip.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Clarify that diagnosis is descriptive shorthand for patterns, not the whole person.</a:t>
            </a:r>
          </a:p>
          <a:p>
            <a:pPr>
              <a:defRPr sz="1800">
                <a:latin typeface="Calibri"/>
              </a:defRPr>
            </a:pPr>
            <a:r>
              <a:t>• Give one example of when shared language with a GP or psychiatrist matters (e.g. agreeing what “low mood” and “risk” mean in a shared note).</a:t>
            </a:r>
          </a:p>
          <a:p>
            <a:pPr>
              <a:defRPr sz="1800">
                <a:latin typeface="Calibri"/>
              </a:defRPr>
            </a:pPr>
            <a:r>
              <a:t>• Remind trainees that uncertainty does not remove responsibility for action when a risk threshold is crossed.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Name typical sources of prior labels: CAMHS, CMHT, occupational health, or private assessment, and how those letters shape client expectation.</a:t>
            </a:r>
          </a:p>
          <a:p>
            <a:pPr>
              <a:defRPr sz="1800">
                <a:latin typeface="Calibri"/>
              </a:defRPr>
            </a:pPr>
            <a:r>
              <a:t>• Contrast a formulation you revise in supervision with a label used as a final explanation of character.</a:t>
            </a:r>
          </a:p>
          <a:p>
            <a:pPr>
              <a:defRPr sz="1800">
                <a:latin typeface="Calibri"/>
              </a:defRPr>
            </a:pPr>
            <a:r>
              <a:t>• Ask for one example each: a time a diagnosis helped access support, and a time it narrowed what services listened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List factors that commonly shift risk: isolation, substance use, sleep loss, humiliation, or recent loss, not only loud distress.</a:t>
            </a:r>
          </a:p>
          <a:p>
            <a:pPr>
              <a:defRPr sz="1800">
                <a:latin typeface="Calibri"/>
              </a:defRPr>
            </a:pPr>
            <a:r>
              <a:t>• Give a concrete question sequence: thoughts, intent, plan, means, and protective factors, without dramatising the room.</a:t>
            </a:r>
          </a:p>
          <a:p>
            <a:pPr>
              <a:defRPr sz="1800">
                <a:latin typeface="Calibri"/>
              </a:defRPr>
            </a:pPr>
            <a:r>
              <a:t>• Remind trainees that your training or agency risk protocol applies here; cite it by name if you have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Present the written case or handout in full; allow a short silence before discussion starts.</a:t>
            </a:r>
          </a:p>
          <a:p>
            <a:pPr>
              <a:defRPr sz="1800">
                <a:latin typeface="Calibri"/>
              </a:defRPr>
            </a:pPr>
            <a:r>
              <a:t>• Keep discussion on professional response and formulation, not on diagnosing anyone present.</a:t>
            </a:r>
          </a:p>
          <a:p>
            <a:pPr>
              <a:defRPr sz="1800">
                <a:latin typeface="Calibri"/>
              </a:defRPr>
            </a:pPr>
            <a:r>
              <a:t>• Link shame to missed disclosure: clients may minimise risk when they expect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Expand “access to means” with a mundane example: stockpiled medication, a specific location, or a planned time.</a:t>
            </a:r>
          </a:p>
          <a:p>
            <a:pPr>
              <a:defRPr sz="1800">
                <a:latin typeface="Calibri"/>
              </a:defRPr>
            </a:pPr>
            <a:r>
              <a:t>• Formulation here means a short narrative linking affect, relationships, and maintaining factors, not a longer essay.</a:t>
            </a:r>
          </a:p>
          <a:p>
            <a:pPr>
              <a:defRPr sz="1800">
                <a:latin typeface="Calibri"/>
              </a:defRPr>
            </a:pPr>
            <a:r>
              <a:t>• First two sessions: contract, safety baseline, and what can wait until alliance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Give examples of mismatch: long interpretive monologues when the client is flooded, or rigid homework when shame blocks follow-through.</a:t>
            </a:r>
          </a:p>
          <a:p>
            <a:pPr>
              <a:defRPr sz="1800">
                <a:latin typeface="Calibri"/>
              </a:defRPr>
            </a:pPr>
            <a:r>
              <a:t>• The “not do” prompt surfaces common errors: rescuing, premature interpretation, or closing risk too early to soothe anxiety.</a:t>
            </a:r>
          </a:p>
          <a:p>
            <a:pPr>
              <a:defRPr sz="1800">
                <a:latin typeface="Calibri"/>
              </a:defRPr>
            </a:pPr>
            <a:r>
              <a:t>• Bridge to the next slide: meaning can be discussed without lowering safeguarding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Distinguish meaning-making after assessment from using meaning to avoid asking about suicide.</a:t>
            </a:r>
          </a:p>
          <a:p>
            <a:pPr>
              <a:defRPr sz="1800">
                <a:latin typeface="Calibri"/>
              </a:defRPr>
            </a:pPr>
            <a:r>
              <a:t>• Firman and Gila’s work on identification helps explain why therapists over-identify with rescuer or expert roles under pressure.</a:t>
            </a:r>
          </a:p>
          <a:p>
            <a:pPr>
              <a:defRPr sz="1800">
                <a:latin typeface="Calibri"/>
              </a:defRPr>
            </a:pPr>
            <a:r>
              <a:t>• Nelson’s integration theme supports careful work with “split” experiences without romanticising breakdown as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Map subpersonalities to everyday therapy language: inner critic, frightened child, compliant self.</a:t>
            </a:r>
          </a:p>
          <a:p>
            <a:pPr>
              <a:defRPr sz="1800">
                <a:latin typeface="Calibri"/>
              </a:defRPr>
            </a:pPr>
            <a:r>
              <a:t>• Disidentification in session often starts with naming affect and simple grounding, not immediate transpersonal claims.</a:t>
            </a:r>
          </a:p>
          <a:p>
            <a:pPr>
              <a:defRPr sz="1800">
                <a:latin typeface="Calibri"/>
              </a:defRPr>
            </a:pPr>
            <a:r>
              <a:t>• Sequence matters: stabilisation and relationship before large interpretations or deep regression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State the return time and where refreshments are.</a:t>
            </a:r>
          </a:p>
          <a:p>
            <a:pPr>
              <a:defRPr sz="1800">
                <a:latin typeface="Calibri"/>
              </a:defRPr>
            </a:pPr>
            <a:r>
              <a:t>• Next block covers neurodiversity through Ousmane and practical strategies.</a:t>
            </a:r>
          </a:p>
          <a:p>
            <a:pPr>
              <a:defRPr sz="1800">
                <a:latin typeface="Calibri"/>
              </a:defRPr>
            </a:pPr>
            <a:r>
              <a:t>• If someone needs pastoral follow-up, name the PET or course contact rather than extending the break into informal therapy.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Preview misreadings of neurodivergence as motivation problems and the role of environment in formulation.</a:t>
            </a:r>
          </a:p>
          <a:p>
            <a:pPr>
              <a:defRPr sz="1800">
                <a:latin typeface="Calibri"/>
              </a:defRPr>
            </a:pPr>
            <a:r>
              <a:t>• Estimate time to lunch if your Saturday schedule differs from the slide order.</a:t>
            </a:r>
          </a:p>
          <a:p>
            <a:pPr>
              <a:defRPr sz="1800">
                <a:latin typeface="Calibri"/>
              </a:defRPr>
            </a:pPr>
            <a:r>
              <a:t>• Point forward to safeguarding and children in Ousmane’s task where relevant.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Executive function includes working memory, inhibition, and planning; difficulty reflects load, not a moral label.</a:t>
            </a:r>
          </a:p>
          <a:p>
            <a:pPr>
              <a:defRPr sz="1800">
                <a:latin typeface="Calibri"/>
              </a:defRPr>
            </a:pPr>
            <a:r>
              <a:t>• Sensory examples: fluorescent lights, overlapping speech in reception, unpredictable schedule changes.</a:t>
            </a:r>
          </a:p>
          <a:p>
            <a:pPr>
              <a:defRPr sz="1800">
                <a:latin typeface="Calibri"/>
              </a:defRPr>
            </a:pPr>
            <a:r>
              <a:t>• Masking explains late diagnosis in some groups: the client looked fine in brief contacts.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Workplace example: performance management language may blame the person before adjusting tasks or environment.</a:t>
            </a:r>
          </a:p>
          <a:p>
            <a:pPr>
              <a:defRPr sz="1800">
                <a:latin typeface="Calibri"/>
              </a:defRPr>
            </a:pPr>
            <a:r>
              <a:t>• Shame often follows years of being called careless; acknowledge effort before cognitive restructuring.</a:t>
            </a:r>
          </a:p>
          <a:p>
            <a:pPr>
              <a:defRPr sz="1800">
                <a:latin typeface="Calibri"/>
              </a:defRPr>
            </a:pPr>
            <a:r>
              <a:t>• Formulation updates when the environment changes: new job, new relationship, or new housing.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Reasonable adjustments in study or work are legal and clinical tools, not excuses.</a:t>
            </a:r>
          </a:p>
          <a:p>
            <a:pPr>
              <a:defRPr sz="1800">
                <a:latin typeface="Calibri"/>
              </a:defRPr>
            </a:pPr>
            <a:r>
              <a:t>• Firman and Gila’s attention to context fits adjusting pace, structure, and relationship alongside inner work.</a:t>
            </a:r>
          </a:p>
          <a:p>
            <a:pPr>
              <a:defRPr sz="1800">
                <a:latin typeface="Calibri"/>
              </a:defRPr>
            </a:pPr>
            <a:r>
              <a:t>• One coherent stance across the week beats praising neurodivergence as gift in one session and treating it as disorder in the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Introduce the case at the same pace as Leah: facts first, then tasks.</a:t>
            </a:r>
          </a:p>
          <a:p>
            <a:pPr>
              <a:defRPr sz="1800">
                <a:latin typeface="Calibri"/>
              </a:defRPr>
            </a:pPr>
            <a:r>
              <a:t>• Highlight stressors that are systemic (housing, work hours, childcare) as well as internal.</a:t>
            </a:r>
          </a:p>
          <a:p>
            <a:pPr>
              <a:defRPr sz="1800">
                <a:latin typeface="Calibri"/>
              </a:defRPr>
            </a:pPr>
            <a:r>
              <a:t>• Note safeguarding for dependents when the slide deck flags children.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Show how one formulation sentence links ND traits, external pressure, and coping.</a:t>
            </a:r>
          </a:p>
          <a:p>
            <a:pPr>
              <a:defRPr sz="1800">
                <a:latin typeface="Calibri"/>
              </a:defRPr>
            </a:pPr>
            <a:r>
              <a:t>• Safeguarding: what a child sees, hears, or depends on when the parent is overwhelmed.</a:t>
            </a:r>
          </a:p>
          <a:p>
            <a:pPr>
              <a:defRPr sz="1800">
                <a:latin typeface="Calibri"/>
              </a:defRPr>
            </a:pPr>
            <a:r>
              <a:t>• Practical next steps might include GP, employer, school liaison, or benefits—stay within role boundaries.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Environmental change examples: a quieter appointment time, written instructions, or fewer simultaneous demands.</a:t>
            </a:r>
          </a:p>
          <a:p>
            <a:pPr>
              <a:defRPr sz="1800">
                <a:latin typeface="Calibri"/>
              </a:defRPr>
            </a:pPr>
            <a:r>
              <a:t>• Relational stance examples: slower pace, explicit structure for the hour, or validating fatigue before problem-solving.</a:t>
            </a:r>
          </a:p>
          <a:p>
            <a:pPr>
              <a:defRPr sz="1800">
                <a:latin typeface="Calibri"/>
              </a:defRPr>
            </a:pPr>
            <a:r>
              <a:t>• Documentation: one line you would want in the record if another professional read it tomorrow.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Ordinary tools count: calendars, reminders, graded tasks, and clear session agendas.</a:t>
            </a:r>
          </a:p>
          <a:p>
            <a:pPr>
              <a:defRPr sz="1800">
                <a:latin typeface="Calibri"/>
              </a:defRPr>
            </a:pPr>
            <a:r>
              <a:t>• Insight-first sequences often fail when arousal is high; sequence stabilisation before interpretation.</a:t>
            </a:r>
          </a:p>
          <a:p>
            <a:pPr>
              <a:defRPr sz="1800">
                <a:latin typeface="Calibri"/>
              </a:defRPr>
            </a:pPr>
            <a:r>
              <a:t>• Depth-oriented psychosynthesis work usually follows practical stability, not instead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Lunch is often scheduled 13:00–14:00; confirm with your cohort.</a:t>
            </a:r>
          </a:p>
          <a:p>
            <a:pPr>
              <a:defRPr sz="1800">
                <a:latin typeface="Calibri"/>
              </a:defRPr>
            </a:pPr>
            <a:r>
              <a:t>• This deck places day-one afternoon content before this slide; day two follows after lunch in the file order.</a:t>
            </a:r>
          </a:p>
          <a:p>
            <a:pPr>
              <a:defRPr sz="1800">
                <a:latin typeface="Calibri"/>
              </a:defRPr>
            </a:pPr>
            <a:r>
              <a:t>• If your Saturday continues after lunch, resume at the slide that matches your live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Overnight processing is common after risk and shame material; sharing detail remains optional.</a:t>
            </a:r>
          </a:p>
          <a:p>
            <a:pPr>
              <a:defRPr sz="1800">
                <a:latin typeface="Calibri"/>
              </a:defRPr>
            </a:pPr>
            <a:r>
              <a:t>• If a trainee is acutely distressed, use PET pastoral or safeguarding routes you already have, not improvised group processing.</a:t>
            </a:r>
          </a:p>
          <a:p>
            <a:pPr>
              <a:defRPr sz="1800">
                <a:latin typeface="Calibri"/>
              </a:defRPr>
            </a:pPr>
            <a:r>
              <a:t>• Preview that the morning block ends at the afternoon break before risk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List topics: nervous system effects of trauma, dissociation, Emily case, neuroplasticity, and phased clinical response.</a:t>
            </a:r>
          </a:p>
          <a:p>
            <a:pPr>
              <a:defRPr sz="1800">
                <a:latin typeface="Calibri"/>
              </a:defRPr>
            </a:pPr>
            <a:r>
              <a:t>• Give an approximate finish time before the afternoon break.</a:t>
            </a:r>
          </a:p>
          <a:p>
            <a:pPr>
              <a:defRPr sz="1800">
                <a:latin typeface="Calibri"/>
              </a:defRPr>
            </a:pPr>
            <a:r>
              <a:t>• Note that dissociation content links to later risk slides on David and Michael.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Contrast narrative memory with body-based reactivity that appears before words organise.</a:t>
            </a:r>
          </a:p>
          <a:p>
            <a:pPr>
              <a:defRPr sz="1800">
                <a:latin typeface="Calibri"/>
              </a:defRPr>
            </a:pPr>
            <a:r>
              <a:t>• Trigger example: a tone of voice or smell linked to earlier threat.</a:t>
            </a:r>
          </a:p>
          <a:p>
            <a:pPr>
              <a:defRPr sz="1800">
                <a:latin typeface="Calibri"/>
              </a:defRPr>
            </a:pPr>
            <a:r>
              <a:t>• Shutdown can look like compliance or flat affect rather than obvious panic.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Subtle signs: time slips, depersonalisation, “going away” mid-sentence, or inconsistent recall of session content.</a:t>
            </a:r>
          </a:p>
          <a:p>
            <a:pPr>
              <a:defRPr sz="1800">
                <a:latin typeface="Calibri"/>
              </a:defRPr>
            </a:pPr>
            <a:r>
              <a:t>• Distinguish ordinary distraction from dissociative gap when risk is present.</a:t>
            </a:r>
          </a:p>
          <a:p>
            <a:pPr>
              <a:defRPr sz="1800">
                <a:latin typeface="Calibri"/>
              </a:defRPr>
            </a:pPr>
            <a:r>
              <a:t>• Risk rises when continuity fails and self-harm or suicide plans are not fully accessible to the client’s conscious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Grof on spiritual emergency and Clarke on psychosis and spirituality are background reading on extreme states, not step-by-step methods for beginners.</a:t>
            </a:r>
          </a:p>
          <a:p>
            <a:pPr>
              <a:defRPr sz="1800">
                <a:latin typeface="Calibri"/>
              </a:defRPr>
            </a:pPr>
            <a:r>
              <a:t>• Nelson’s theme of integration cautions against forcing “split” material into insight before safety exists.</a:t>
            </a:r>
          </a:p>
          <a:p>
            <a:pPr>
              <a:defRPr sz="1800">
                <a:latin typeface="Calibri"/>
              </a:defRPr>
            </a:pPr>
            <a:r>
              <a:t>• Stay within competence, contract, and supervision for trauma and dissociation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Read the case at a steady pace; dissociation deserves the same dignity as any other presentation.</a:t>
            </a:r>
          </a:p>
          <a:p>
            <a:pPr>
              <a:defRPr sz="1800">
                <a:latin typeface="Calibri"/>
              </a:defRPr>
            </a:pPr>
            <a:r>
              <a:t>• Invite hypotheses about what an observer might miss in a single session.</a:t>
            </a:r>
          </a:p>
          <a:p>
            <a:pPr>
              <a:defRPr sz="1800">
                <a:latin typeface="Calibri"/>
              </a:defRPr>
            </a:pPr>
            <a:r>
              <a:t>• Foreshadow that the next slides ask for risk and escalation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Escalation might mean crisis team, GP, designated safeguarding lead, or your agency’s on-call route—name what your context actually uses.</a:t>
            </a:r>
          </a:p>
          <a:p>
            <a:pPr>
              <a:defRPr sz="1800">
                <a:latin typeface="Calibri"/>
              </a:defRPr>
            </a:pPr>
            <a:r>
              <a:t>• Stabilisation includes grounding, clear boundaries, frequency of contact, and sometimes pausing exploratory work.</a:t>
            </a:r>
          </a:p>
          <a:p>
            <a:pPr>
              <a:defRPr sz="1800">
                <a:latin typeface="Calibri"/>
              </a:defRPr>
            </a:pPr>
            <a:r>
              <a:t>• Risk and dissociation together require written rationale when you choose not to escalate.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Unreliable report can mean shame, fear, or amnesic gaps, not manipulation; language matters in notes.</a:t>
            </a:r>
          </a:p>
          <a:p>
            <a:pPr>
              <a:defRPr sz="1800">
                <a:latin typeface="Calibri"/>
              </a:defRPr>
            </a:pPr>
            <a:r>
              <a:t>• The overnight prompt targets concrete indicators: new means, substance use, relationship rupture, or psychotic content.</a:t>
            </a:r>
          </a:p>
          <a:p>
            <a:pPr>
              <a:defRPr sz="1800">
                <a:latin typeface="Calibri"/>
              </a:defRPr>
            </a:pPr>
            <a:r>
              <a:t>• Link forward: neuroplasticity explains why change is slow and relational.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Firman and Gila’s framing allows depth and spirit without promising linear recovery.</a:t>
            </a:r>
          </a:p>
          <a:p>
            <a:pPr>
              <a:defRPr sz="1800">
                <a:latin typeface="Calibri"/>
              </a:defRPr>
            </a:pPr>
            <a:r>
              <a:t>• Small repeatable interventions (sleep routine, one safe person, one grounding skill) match the next slide on neuroplasticity.</a:t>
            </a:r>
          </a:p>
          <a:p>
            <a:pPr>
              <a:defRPr sz="1800">
                <a:latin typeface="Calibri"/>
              </a:defRPr>
            </a:pPr>
            <a:r>
              <a:t>• Slower pace is a clinical choice when integration would flood the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Negative example: repeated self-criticism deepens automatic shame loops.</a:t>
            </a:r>
          </a:p>
          <a:p>
            <a:pPr>
              <a:defRPr sz="1800">
                <a:latin typeface="Calibri"/>
              </a:defRPr>
            </a:pPr>
            <a:r>
              <a:t>• Positive example: predictable empathic responses in therapy gradually shift expectation of others.</a:t>
            </a:r>
          </a:p>
          <a:p>
            <a:pPr>
              <a:defRPr sz="1800">
                <a:latin typeface="Calibri"/>
              </a:defRPr>
            </a:pPr>
            <a:r>
              <a:t>• This is why homework and between-session practice matter alongside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When clients feel safer, new material may surface; risk assessment is ongoing, not one-off.</a:t>
            </a:r>
          </a:p>
          <a:p>
            <a:pPr>
              <a:defRPr sz="1800">
                <a:latin typeface="Calibri"/>
              </a:defRPr>
            </a:pPr>
            <a:r>
              <a:t>• Pacing includes shorter interventions, more checking in, and fewer interpretations per hour when arousal is high.</a:t>
            </a:r>
          </a:p>
          <a:p>
            <a:pPr>
              <a:defRPr sz="1800">
                <a:latin typeface="Calibri"/>
              </a:defRPr>
            </a:pPr>
            <a:r>
              <a:t>• Link to day one practical work: external structure supports the same nervous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Afternoon block focuses on acute risk, ambiguity, and integration.</a:t>
            </a:r>
          </a:p>
          <a:p>
            <a:pPr>
              <a:defRPr sz="1800">
                <a:latin typeface="Calibri"/>
              </a:defRPr>
            </a:pPr>
            <a:r>
              <a:t>• State return time clearly.</a:t>
            </a:r>
          </a:p>
          <a:p>
            <a:pPr>
              <a:defRPr sz="1800">
                <a:latin typeface="Calibri"/>
              </a:defRPr>
            </a:pPr>
            <a:r>
              <a:t>• Briefly preview David and Michael as decision cases, not new theory blocks.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This block applies yesterday’s principles to escalation, documentation, and uncertain presentations.</a:t>
            </a:r>
          </a:p>
          <a:p>
            <a:pPr>
              <a:defRPr sz="1800">
                <a:latin typeface="Calibri"/>
              </a:defRPr>
            </a:pPr>
            <a:r>
              <a:t>• Estimate time to the closing reflection and references.</a:t>
            </a:r>
          </a:p>
          <a:p>
            <a:pPr>
              <a:defRPr sz="1800">
                <a:latin typeface="Calibri"/>
              </a:defRPr>
            </a:pPr>
            <a:r>
              <a:t>• Remind trainees of local emergency and safeguarding numbers if you display them institutionally.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Present facts with clarity; risk teaching works best without theatrical emphasis.</a:t>
            </a:r>
          </a:p>
          <a:p>
            <a:pPr>
              <a:defRPr sz="1800">
                <a:latin typeface="Calibri"/>
              </a:defRPr>
            </a:pPr>
            <a:r>
              <a:t>• Separate legal or statutory steps from counselling ethics: name what your jurisdiction expects.</a:t>
            </a:r>
          </a:p>
          <a:p>
            <a:pPr>
              <a:defRPr sz="1800">
                <a:latin typeface="Calibri"/>
              </a:defRPr>
            </a:pPr>
            <a:r>
              <a:t>• Invite initial gut responses, then move to structured decision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Continue versus escalate: contrast more frequent sessions with same worker versus duty psychiatrist, AMHP, or 999.</a:t>
            </a:r>
          </a:p>
          <a:p>
            <a:pPr>
              <a:defRPr sz="1800">
                <a:latin typeface="Calibri"/>
              </a:defRPr>
            </a:pPr>
            <a:r>
              <a:t>• Immediate action examples: removing means with agreement, contacting agreed third party, or emergency services when threshold met.</a:t>
            </a:r>
          </a:p>
          <a:p>
            <a:pPr>
              <a:defRPr sz="1800">
                <a:latin typeface="Calibri"/>
              </a:defRPr>
            </a:pPr>
            <a:r>
              <a:t>• Documentation: time, questions asked, answers, rationale, and who was informed.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Trauma may delay or fragment disclosure; absence of a coherent story does not equal absence of risk.</a:t>
            </a:r>
          </a:p>
          <a:p>
            <a:pPr>
              <a:defRPr sz="1800">
                <a:latin typeface="Calibri"/>
              </a:defRPr>
            </a:pPr>
            <a:r>
              <a:t>• Notes should be factual enough for another professional to follow your reasoning tomorrow.</a:t>
            </a:r>
          </a:p>
          <a:p>
            <a:pPr>
              <a:defRPr sz="1800">
                <a:latin typeface="Calibri"/>
              </a:defRPr>
            </a:pPr>
            <a:r>
              <a:t>• Next slide generalises risk decisions beyond this single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Autonomy includes collaborating on safety plans when capacity allows; duty of care overrides confidentiality at defined thresholds.</a:t>
            </a:r>
          </a:p>
          <a:p>
            <a:pPr>
              <a:defRPr sz="1800">
                <a:latin typeface="Calibri"/>
              </a:defRPr>
            </a:pPr>
            <a:r>
              <a:t>• Supervision is for proportionate decisions, not only for mistakes after the fact.</a:t>
            </a:r>
          </a:p>
          <a:p>
            <a:pPr>
              <a:defRPr sz="1800">
                <a:latin typeface="Calibri"/>
              </a:defRPr>
            </a:pPr>
            <a:r>
              <a:t>• Records protect trainees later if a complaint asks what was known and when.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Ambiguous risk is common in mature practice; the task is structured judgement, not instant certainty.</a:t>
            </a:r>
          </a:p>
          <a:p>
            <a:pPr>
              <a:defRPr sz="1800">
                <a:latin typeface="Calibri"/>
              </a:defRPr>
            </a:pPr>
            <a:r>
              <a:t>• Ask what information is missing and whether it can be obtained safely.</a:t>
            </a:r>
          </a:p>
          <a:p>
            <a:pPr>
              <a:defRPr sz="1800">
                <a:latin typeface="Calibri"/>
              </a:defRPr>
            </a:pPr>
            <a:r>
              <a:t>• Position Michael after David to contrast clear escalation with grey-zone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Action now might mean consultation, not always breach of confidentiality; name your options.</a:t>
            </a:r>
          </a:p>
          <a:p>
            <a:pPr>
              <a:defRPr sz="1800">
                <a:latin typeface="Calibri"/>
              </a:defRPr>
            </a:pPr>
            <a:r>
              <a:t>• Triggers for escalation should be written: specific behaviours, statements, or third-party reports.</a:t>
            </a:r>
          </a:p>
          <a:p>
            <a:pPr>
              <a:defRPr sz="1800">
                <a:latin typeface="Calibri"/>
              </a:defRPr>
            </a:pPr>
            <a:r>
              <a:t>• Clinician anxiety reflects your own risk history as well as client data; supervision helps sort the two. In a very large group, work one scenario through to a single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Tie Nelson on integration of split experience to formulation that includes biology, psychology, and social context.</a:t>
            </a:r>
          </a:p>
          <a:p>
            <a:pPr>
              <a:defRPr sz="1800">
                <a:latin typeface="Calibri"/>
              </a:defRPr>
            </a:pPr>
            <a:r>
              <a:t>• Firman and Gila keep spiritual depth inside psychological ethics rather than above ordinary safeguarding.</a:t>
            </a:r>
          </a:p>
          <a:p>
            <a:pPr>
              <a:defRPr sz="1800">
                <a:latin typeface="Calibri"/>
              </a:defRPr>
            </a:pPr>
            <a:r>
              <a:t>• Optional: critical medicalisation readings (e.g. Boyle in Madness contested) only if you teach that strand and have full citation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Limits of role: you are not police, GP, or family; you know what your contract permits.</a:t>
            </a:r>
          </a:p>
          <a:p>
            <a:pPr>
              <a:defRPr sz="1800">
                <a:latin typeface="Calibri"/>
              </a:defRPr>
            </a:pPr>
            <a:r>
              <a:t>• Decision-making includes when not to act as well as when to escalate.</a:t>
            </a:r>
          </a:p>
          <a:p>
            <a:pPr>
              <a:defRPr sz="1800">
                <a:latin typeface="Calibri"/>
              </a:defRPr>
            </a:pPr>
            <a:r>
              <a:t>• One takeaway: identify one supervision question you will bring from this weekend.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If time is short, cut this slide before cutting risk or trauma content.</a:t>
            </a:r>
          </a:p>
          <a:p>
            <a:pPr>
              <a:defRPr sz="1800">
                <a:latin typeface="Calibri"/>
              </a:defRPr>
            </a:pPr>
            <a:r>
              <a:t>• Avoid requiring positive closure; fatigue and ambivalence are legitimate outcomes.</a:t>
            </a:r>
          </a:p>
          <a:p>
            <a:pPr>
              <a:defRPr sz="1800">
                <a:latin typeface="Calibri"/>
              </a:defRPr>
            </a:pPr>
            <a:r>
              <a:t>• Direct anyone who needs ongoing support to course or PET procedures.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• The first three entries are complete as given; match your programme’s Harvard conventions for punctuation.</a:t>
            </a:r>
          </a:p>
          <a:p>
            <a:pPr>
              <a:defRPr sz="1800">
                <a:latin typeface="Calibri"/>
              </a:defRPr>
            </a:pPr>
            <a:r>
              <a:t>• Grof and Clarke lines lack verified publisher and place in the master list; confirm in the library catalogue before student essays.</a:t>
            </a:r>
          </a:p>
          <a:p>
            <a:pPr>
              <a:defRPr sz="1800">
                <a:latin typeface="Calibri"/>
              </a:defRPr>
            </a:pPr>
            <a:r>
              <a:t>• Boyle in Madness contested is optional critical reading; confirm full details before adding to a formal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2F261-5DB4-43E8-8834-FCB5C5BC8F2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3E443-2966-4549-B5C3-2BC2D30BDE2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55337-AE1A-4C02-B306-3A9BC6ABCA0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DEA915C-C39C-4C4B-ADB5-FC0359F23E6C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83295-2E27-4F72-8F10-2F7E033B6C3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0C271-BAF6-4A5C-B32C-B8397327DC8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74F9AE-8261-40FE-A2C9-68A1766884F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2487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266700" y="6248400"/>
            <a:ext cx="11925299" cy="6095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2883A5-5187-47FE-9BD2-305FAC8150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27030"/>
            <a:ext cx="10515600" cy="682620"/>
          </a:xfrm>
        </p:spPr>
        <p:txBody>
          <a:bodyPr>
            <a:normAutofit/>
          </a:bodyPr>
          <a:lstStyle>
            <a:lvl1pPr>
              <a:defRPr sz="3200" b="1" cap="all" baseline="0">
                <a:solidFill>
                  <a:srgbClr val="557377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5053C-DF56-4F89-8337-E3C322DD643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0B472-8DDE-405D-B26E-42BF8B5D83F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B61A7EB-551C-401B-A4D5-1BAFBFE20AD1}" type="slidenum">
              <a:rPr/>
              <a:pPr lvl="0"/>
              <a:t>‹#›</a:t>
            </a:fld>
            <a:endParaRPr lang="en-GB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2" y="6248401"/>
            <a:ext cx="180022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93" y="6287889"/>
            <a:ext cx="1987132" cy="532011"/>
          </a:xfrm>
          <a:prstGeom prst="rect">
            <a:avLst/>
          </a:prstGeom>
        </p:spPr>
      </p:pic>
      <p:cxnSp>
        <p:nvCxnSpPr>
          <p:cNvPr id="11" name="Connecteur droit 10"/>
          <p:cNvCxnSpPr/>
          <p:nvPr userDrawn="1"/>
        </p:nvCxnSpPr>
        <p:spPr>
          <a:xfrm>
            <a:off x="962025" y="971550"/>
            <a:ext cx="10487025" cy="158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3986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51DAD-9CD4-4BBE-8429-137C00E466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18995-B27B-4793-BAD1-2C9BFE3EF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C0184-2100-4984-8807-054D4726775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B2067C4-7861-4533-B559-C342B56AC70C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D5393-AAE3-4A19-8D5D-E7BED04E30E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069BD-390E-4CCB-B310-0A8DCE7551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068F0EE-A232-4DBD-8705-F503FFB57731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930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E9204-8610-46B9-887E-B947D2FA898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1B7BD-20EC-4C99-882C-2422A143AB3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2CB975-81E8-48B5-B943-E0DA48308ED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10623-4A31-400E-BE07-8BA1D7A823B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F2F22CE-8A9E-4D2F-9961-356DA329C082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1885-DEE9-438E-865E-E426B2BD045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3E540-FC36-4FD5-917A-F93AE53B6B0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4515B16-D461-4A99-B7A5-3793CBAF828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334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775BA-88D7-4D61-AAFD-14D0653FE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7ACDF-339E-42B1-9631-E2DF4BE744D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2122EE-06E2-4BB0-A6B4-1A3D15D172B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3A3B20-207B-4485-BE11-E5A264E47207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C480B-C99C-47AF-9CD0-1D2ABCE5D62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8E3E2F-0674-4AD1-ACCD-CE252013E95F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395C6-DF55-4747-B4E2-E6BC10535BA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D023C9-54C8-49E9-B991-FA3F695AF88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CBEADC3-BE14-4C3D-9567-0EA9B5D00DB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6672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00" name="Picture 4" descr="Image result for nature images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" y="2462211"/>
            <a:ext cx="3790950" cy="2843213"/>
          </a:xfrm>
          <a:prstGeom prst="rect">
            <a:avLst/>
          </a:prstGeom>
          <a:noFill/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3772317" y="2457450"/>
            <a:ext cx="8419684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2527571"/>
            <a:ext cx="2362200" cy="63242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7624" y="3184529"/>
            <a:ext cx="8334375" cy="1325559"/>
          </a:xfrm>
        </p:spPr>
        <p:txBody>
          <a:bodyPr>
            <a:normAutofit/>
          </a:bodyPr>
          <a:lstStyle>
            <a:lvl1pPr algn="ctr"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048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DF3793-BAE9-437B-8A5F-6E09982CB6A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0D4A11C-E10E-49D1-A457-515A04D0F282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78CD3-AB8B-4EC5-BEE9-2EE84F0510F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B974E-1CDA-44ED-82C2-6EF9B190783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411E039-3FA5-4407-B5D0-8ECF49CB1CEA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28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48A7-5981-4AE6-BB17-5B3A5323F4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FEEC8-43C1-4FD3-9822-A47AFB5A199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75489-DC33-4317-A0B7-56C3CCB8962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4B181-C3BA-4BE8-9667-4C962D067AB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D9C971A-763E-4F48-B4F5-8F7E5D6086B5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29EA0-058D-4943-8CA2-DC48738DA78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CBCAB-A901-4FE3-9429-DE37954EB7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C845A25-067C-4C6C-AAF2-4947761BA849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104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399E-40F9-4233-B2E7-107AC26356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E9FF3C-849B-42DF-B84C-06C4F05C8B5C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1FB28-EBF3-4E70-8FCB-65AD2F5E58E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7F9DA-3B34-45DD-B70E-04C6D097674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2A64458-BA3C-43D3-9C6A-CEF90CEA7337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EFF4D-8480-4A47-AE1D-525350D6885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EA910-1397-46CA-A617-25E9BA0B673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2F44FA6-125C-4132-9364-484AD954AC1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001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5D5E-B3E4-4271-AEFC-4AB20C6CE1E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A9F0E-15E6-42D0-8660-02A75B7060E2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7390C-4229-4707-8A9A-AE616AFCD60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8F5972-73BF-482C-A91D-4486B02DBB56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44D30-4F3F-4A7D-857D-B0147A845FA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100AC-2A01-45FA-87B5-42A0B51D96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DFDA395-54BA-4872-B1D3-5855F17000A0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060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514128-6621-43DB-B378-4B7F3AF45067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37178-F018-43A8-843F-D46AA415FEB9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5094D-33E2-498F-840A-EAEA08DBC39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0B2691A-2C78-45D8-858E-8A76E2650E62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DB88E-E6FA-4686-8583-8EE8174E9A7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3A89-AE74-4923-9790-162ECA03E61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085F833-0DC4-4798-B2EF-1D9462A98302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121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CE82F5-3B00-49A9-B251-8641D41CE8A5}"/>
              </a:ext>
            </a:extLst>
          </p:cNvPr>
          <p:cNvSpPr txBox="1">
            <a:spLocks noGrp="1"/>
          </p:cNvSpPr>
          <p:nvPr>
            <p:ph/>
          </p:nvPr>
        </p:nvSpPr>
        <p:spPr>
          <a:xfrm>
            <a:off x="838203" y="365129"/>
            <a:ext cx="10515600" cy="581183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E7F09-D487-450A-8640-0B59DDFBE67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8625A3D6-5615-45EB-8954-BD8696AA0EC8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0894E-A4B5-4221-9E72-12566E84DC8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D2A358-E568-4E2A-8059-0FFCF1EAD34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B7B76B32-4E1F-4575-B80A-BB3C3D46344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30355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E2D462-DF7F-477A-8891-78F2F4B784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6C42B-A4BC-432A-82CE-0BCE64517F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7BBA3-05B2-49E6-9F3B-D31C7F355E4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D4FCDF70-BCC5-4DC0-AC0C-DC917E5283C7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A7C8E-B7C3-43FB-90D9-4822EB07268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450B8-12DC-46CC-A793-97B22BE0A8F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F336CFE9-663B-45C2-8E6E-F62CF2F2E0A0}" type="slidenum">
              <a:rPr/>
              <a:pPr lvl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3690628" y="-1"/>
            <a:ext cx="8501372" cy="404634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4197244" y="4046349"/>
            <a:ext cx="7994755" cy="802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4419044-4AA4-432B-9FC2-34A161AC00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17166" y="4198678"/>
            <a:ext cx="7734926" cy="530352"/>
          </a:xfrm>
        </p:spPr>
        <p:txBody>
          <a:bodyPr>
            <a:normAutofit/>
          </a:bodyPr>
          <a:lstStyle/>
          <a:p>
            <a:pPr lvl="0"/>
            <a:r>
              <a:rPr lang="en-US" b="1">
                <a:solidFill>
                  <a:schemeClr val="bg1"/>
                </a:solidFill>
              </a:rPr>
              <a:t>April 2026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6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528" y="5074868"/>
            <a:ext cx="5816182" cy="15571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564768-CF9A-47CD-B0C3-884A7AE0F2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4572001" cy="685800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6F2341D-4328-94C4-7B98-40188F7BE9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2013" y="817563"/>
            <a:ext cx="7516812" cy="2462212"/>
          </a:xfrm>
        </p:spPr>
        <p:txBody>
          <a:bodyPr/>
          <a:lstStyle/>
          <a:p>
            <a:pPr>
              <a:defRPr sz="4800" b="1">
                <a:latin typeface="Calibri"/>
              </a:defRPr>
            </a:pPr>
            <a:r>
              <a:rPr sz="4800" b="1" dirty="0">
                <a:latin typeface="Calibri"/>
              </a:rPr>
              <a:t>Psychopathology &amp; synthesis</a:t>
            </a:r>
          </a:p>
        </p:txBody>
      </p:sp>
    </p:spTree>
    <p:extLst>
      <p:ext uri="{BB962C8B-B14F-4D97-AF65-F5344CB8AC3E}">
        <p14:creationId xmlns:p14="http://schemas.microsoft.com/office/powerpoint/2010/main" val="654933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Calibri"/>
              </a:defRPr>
            </a:pPr>
            <a:r>
              <a:rPr sz="4000" b="1">
                <a:latin typeface="Calibri"/>
              </a:rPr>
              <a:t>Weekend rhythm &amp;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 b="0">
                <a:latin typeface="Calibri"/>
              </a:defRPr>
            </a:pPr>
            <a:r>
              <a:rPr sz="2800" b="0" dirty="0">
                <a:latin typeface="Calibri"/>
              </a:rPr>
              <a:t>Saturday &amp; Sunday: 10:00–17:00 (UK)</a:t>
            </a:r>
            <a:br>
              <a:rPr sz="2800" b="0" dirty="0">
                <a:latin typeface="Calibri"/>
              </a:rPr>
            </a:br>
            <a:endParaRPr sz="2800" b="0" dirty="0">
              <a:latin typeface="Calibri"/>
            </a:endParaRPr>
          </a:p>
          <a:p>
            <a:pPr>
              <a:defRPr sz="2800" b="0">
                <a:latin typeface="Calibri"/>
              </a:defRPr>
            </a:pPr>
            <a:r>
              <a:rPr sz="2800" b="0" dirty="0">
                <a:latin typeface="Calibri"/>
              </a:rPr>
              <a:t>Each day:</a:t>
            </a:r>
            <a:br>
              <a:rPr sz="2800" b="0" dirty="0">
                <a:latin typeface="Calibri"/>
              </a:rPr>
            </a:br>
            <a:r>
              <a:rPr sz="2800" b="0" dirty="0">
                <a:latin typeface="Calibri"/>
              </a:rPr>
              <a:t> about 15 min meditation; </a:t>
            </a:r>
            <a:br>
              <a:rPr sz="2800" b="0" dirty="0">
                <a:latin typeface="Calibri"/>
              </a:rPr>
            </a:br>
            <a:r>
              <a:rPr sz="2800" b="0" dirty="0">
                <a:latin typeface="Calibri"/>
              </a:rPr>
              <a:t>optional 15 min check-in; </a:t>
            </a:r>
            <a:br>
              <a:rPr sz="2800" b="0" dirty="0">
                <a:latin typeface="Calibri"/>
              </a:rPr>
            </a:br>
            <a:r>
              <a:rPr sz="2800" b="0" dirty="0">
                <a:latin typeface="Calibri"/>
              </a:rPr>
              <a:t>teaching; </a:t>
            </a:r>
            <a:br>
              <a:rPr sz="2800" b="0" dirty="0">
                <a:latin typeface="Calibri"/>
              </a:rPr>
            </a:br>
            <a:r>
              <a:rPr sz="2800" b="0" dirty="0">
                <a:latin typeface="Calibri"/>
              </a:rPr>
              <a:t>20 min morning break; </a:t>
            </a:r>
            <a:br>
              <a:rPr sz="2800" b="0" dirty="0">
                <a:latin typeface="Calibri"/>
              </a:rPr>
            </a:br>
            <a:r>
              <a:rPr sz="2800" b="0" dirty="0">
                <a:latin typeface="Calibri"/>
              </a:rPr>
              <a:t>lunch (often 13:00–14:00); </a:t>
            </a:r>
            <a:br>
              <a:rPr sz="2800" b="0" dirty="0">
                <a:latin typeface="Calibri"/>
              </a:rPr>
            </a:br>
            <a:r>
              <a:rPr sz="2800" b="0" dirty="0">
                <a:latin typeface="Calibri"/>
              </a:rPr>
              <a:t>20 min afternoon break.</a:t>
            </a:r>
            <a:br>
              <a:rPr sz="2800" b="0" dirty="0">
                <a:latin typeface="Calibri"/>
              </a:rPr>
            </a:br>
            <a:endParaRPr sz="2800" b="0" dirty="0"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Calibri"/>
              </a:defRPr>
            </a:pPr>
            <a:r>
              <a:rPr sz="4000" b="1">
                <a:latin typeface="Calibri"/>
              </a:rPr>
              <a:t>How we learn this weekend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You bring substantial professional and life experience; the level is postgraduate formation, not introductory survey.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We prioritise clinical judgement, realistic uncertainty, and decisions you could defend in supervision.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Pairs and short reflection are methods for application, the same skills you use preparing for placement.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Calibri"/>
              </a:defRPr>
            </a:pPr>
            <a:r>
              <a:rPr sz="4000" b="1">
                <a:latin typeface="Calibri"/>
              </a:rPr>
              <a:t>Day one — opening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Meditation: about 15 minutes (PET tradition).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Optional check-in: about 15 minutes — “How do you feel about this material?”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Then begin the day one — morning teaching block.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latin typeface="Calibri"/>
              </a:defRPr>
            </a:pPr>
            <a:r>
              <a:rPr sz="4400" b="1">
                <a:latin typeface="Calibri"/>
              </a:rPr>
              <a:t>Day one — morning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defRPr sz="2600" b="0">
                <a:latin typeface="Calibri"/>
              </a:defRPr>
            </a:pPr>
            <a:r>
              <a:rPr sz="2600" b="0">
                <a:latin typeface="Calibri"/>
              </a:rPr>
              <a:t>Framing · psychopathology · risk · case (Leah) · psychosynthesis threads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Calibri"/>
              </a:defRPr>
            </a:pPr>
            <a:r>
              <a:rPr sz="4000" b="1">
                <a:latin typeface="Calibri"/>
              </a:rPr>
              <a:t>Framing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Psychopathology offers shared clinical language.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It supports formulation—not identity collapse.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Meaning and risk must be held together.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Therapists tolerate uncertainty without freezing or rushing.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Calibri"/>
              </a:defRPr>
            </a:pPr>
            <a:r>
              <a:rPr sz="4000" b="1">
                <a:latin typeface="Calibri"/>
              </a:rPr>
              <a:t>Working with psychopathology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Diagnostic labels describe patterns—not people.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Formulation integrates symptoms, history, and context.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Clients arrive shaped by prior labels and systems.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Think clinically without collapsing into diagnosis as destiny.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Calibri"/>
              </a:defRPr>
            </a:pPr>
            <a:r>
              <a:rPr sz="4000" b="1">
                <a:latin typeface="Calibri"/>
              </a:rPr>
              <a:t>Risk — core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Risk is dynamic and can escalate quickly.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Intensity does not equal level of danger.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Quiet clients may carry significant risk.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Direct, respectful questions reduce risk when asked with care.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latin typeface="Calibri"/>
              </a:defRPr>
            </a:pPr>
            <a:r>
              <a:rPr sz="4400" b="1">
                <a:latin typeface="Calibri"/>
              </a:rPr>
              <a:t>Case study · Shame — “Leah”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Calibri"/>
              </a:defRPr>
            </a:pPr>
            <a:r>
              <a:rPr sz="4000" b="1">
                <a:latin typeface="Calibri"/>
              </a:rPr>
              <a:t>Task · Leah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Clarify thoughts, intent, and access to means.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Develop formulation: shame, avoidance, context.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Prioritise the first two sessions and pacing.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Calibri"/>
              </a:defRPr>
            </a:pPr>
            <a:r>
              <a:rPr sz="4000" b="1">
                <a:latin typeface="Calibri"/>
              </a:rPr>
              <a:t>Task · Leah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Match structure to client capacity.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Reflective prompt: What would you not do here, and why?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 b="1">
                <a:latin typeface="Calibri"/>
              </a:defRPr>
            </a:pPr>
            <a:r>
              <a:rPr sz="4000" b="1">
                <a:latin typeface="Calibri"/>
              </a:rPr>
              <a:t>Psychosynthesis bridge · Meaning alongside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Suffering can be meaningful without minimising danger.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Non-identification supports seeing patterns without fusion or contempt.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Risk decisions stay ethical and ordinary—not heroic.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Calibri"/>
              </a:defRPr>
            </a:pPr>
            <a:r>
              <a:rPr sz="4000" b="1">
                <a:latin typeface="Calibri"/>
              </a:rPr>
              <a:t>Psychosynthesis perspective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Distress can reflect fragmentation of parts (subpersonalities).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An observing centre supports disidentification where appropriate.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Containment is required before exploration.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Integration develops gradually—over time and relationship.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latin typeface="Calibri"/>
              </a:defRPr>
            </a:pPr>
            <a:r>
              <a:rPr sz="4400" b="1">
                <a:latin typeface="Calibri"/>
              </a:rPr>
              <a:t>Morning break · 20 minutes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latin typeface="Calibri"/>
              </a:defRPr>
            </a:pPr>
            <a:r>
              <a:rPr sz="4400" b="1">
                <a:latin typeface="Calibri"/>
              </a:rPr>
              <a:t>Day one — afternoon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defRPr sz="2600" b="0">
                <a:latin typeface="Calibri"/>
              </a:defRPr>
            </a:pPr>
            <a:r>
              <a:rPr sz="2600" b="0">
                <a:latin typeface="Calibri"/>
              </a:rPr>
              <a:t>Neurodiversity · clinical challenges · case (Ousmane) · practical work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Calibri"/>
              </a:defRPr>
            </a:pPr>
            <a:r>
              <a:rPr sz="4000" b="1">
                <a:latin typeface="Calibri"/>
              </a:rPr>
              <a:t>Neurodiversity — clinical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Difference in processing rather than deficit-only framing.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Executive function affects organisation and action.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Sensory overload drives overwhelm and shutdown.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Masking hides difficulty and increases exhaustion.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Calibri"/>
              </a:defRPr>
            </a:pPr>
            <a:r>
              <a:rPr sz="4000" b="1">
                <a:latin typeface="Calibri"/>
              </a:rPr>
              <a:t>Clinical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Difference is often misread as lack of motivation.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Shame develops through repeated failure narratives.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Function varies depending on environment.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Work requires flexibility without false certainty.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 b="1">
                <a:latin typeface="Calibri"/>
              </a:defRPr>
            </a:pPr>
            <a:r>
              <a:rPr sz="4000" b="1">
                <a:latin typeface="Calibri"/>
              </a:rPr>
              <a:t>Psychosynthesis bridge · Adaptation, not pretend normality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Adjustment of environment and pace can be deeply ethical—not “lowering standards.”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Integration includes honest limits; wellness does not require looking neurotypical.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Avoid idealising neurodivergence or collapsing it into tragedy.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latin typeface="Calibri"/>
              </a:defRPr>
            </a:pPr>
            <a:r>
              <a:rPr sz="4400" b="1">
                <a:latin typeface="Calibri"/>
              </a:rPr>
              <a:t>Case study · Neurodiversity — “Ousmane”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Calibri"/>
              </a:defRPr>
            </a:pPr>
            <a:r>
              <a:rPr sz="4000" b="1">
                <a:latin typeface="Calibri"/>
              </a:rPr>
              <a:t>Task · Ousmane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Formulate neurodiversity, stress, and environment together.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Identify safeguarding risks for children where relevant.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Prioritise practical next steps.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Calibri"/>
              </a:defRPr>
            </a:pPr>
            <a:r>
              <a:rPr sz="4000" b="1">
                <a:latin typeface="Calibri"/>
              </a:rPr>
              <a:t>Task · Ousmane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Focus on what might change this week.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Pair discussion: one environmental change; one relational stance you would take.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Calibri"/>
              </a:defRPr>
            </a:pPr>
            <a:r>
              <a:rPr sz="4000" b="1">
                <a:latin typeface="Calibri"/>
              </a:rPr>
              <a:t>Working practically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Use structure, routine, and predictability where helpful.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Reduce overwhelm before increasing insight.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Adjust environment where possible.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Support agency and functional change—without rushing “depth.”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latin typeface="Calibri"/>
              </a:defRPr>
            </a:pPr>
            <a:r>
              <a:rPr sz="4400" b="1">
                <a:latin typeface="Calibri"/>
              </a:rPr>
              <a:t>Lunch · 1 hour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Calibri"/>
              </a:defRPr>
            </a:pPr>
            <a:r>
              <a:rPr sz="4000" b="1">
                <a:latin typeface="Calibri"/>
              </a:rPr>
              <a:t>Day two — opening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Meditation: about 15 minutes.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Check-in: about 15 minutes — “What did yesterday bring up for you?”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Then day two — morning block: trauma, dissociation, Emily.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latin typeface="Calibri"/>
              </a:defRPr>
            </a:pPr>
            <a:r>
              <a:rPr sz="4400" b="1">
                <a:latin typeface="Calibri"/>
              </a:rPr>
              <a:t>Day two — morning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defRPr sz="2600" b="0">
                <a:latin typeface="Calibri"/>
              </a:defRPr>
            </a:pPr>
            <a:r>
              <a:rPr sz="2600" b="0">
                <a:latin typeface="Calibri"/>
              </a:rPr>
              <a:t>Trauma · dissociation · case (Emily) · neuroplasticity · clinical response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Calibri"/>
              </a:defRPr>
            </a:pPr>
            <a:r>
              <a:rPr sz="4000" b="1">
                <a:latin typeface="Calibri"/>
              </a:rPr>
              <a:t>Trauma — core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Trauma is held in the nervous system—not only in “the story.”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It alters regulation, perception, and relating.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Triggers can produce rapid state changes.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Clients may shift between arousal and shutdown.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Calibri"/>
              </a:defRPr>
            </a:pPr>
            <a:r>
              <a:rPr sz="4000" b="1">
                <a:latin typeface="Calibri"/>
              </a:rPr>
              <a:t>Dissociation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Often a protective response to overwhelming experience.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May involve loss of continuity or presence.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Can be subtle and easily missed in clinic.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Strongly linked to increased risk—assess carefully.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 b="1">
                <a:latin typeface="Calibri"/>
              </a:defRPr>
            </a:pPr>
            <a:r>
              <a:rPr sz="4000" b="1">
                <a:latin typeface="Calibri"/>
              </a:rPr>
              <a:t>Psychosynthesis bridge · Containment before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Rapid deepening is not always kind when stability is fragile.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Stabilisation and relationship come first.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Transpersonal material is not a shortcut past fear or trauma.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latin typeface="Calibri"/>
              </a:defRPr>
            </a:pPr>
            <a:r>
              <a:rPr sz="4400" b="1">
                <a:latin typeface="Calibri"/>
              </a:rPr>
              <a:t>Case study · Dissociation — “Emily”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Calibri"/>
              </a:defRPr>
            </a:pPr>
            <a:r>
              <a:rPr sz="4000" b="1">
                <a:latin typeface="Calibri"/>
              </a:rPr>
              <a:t>Task · Emily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Assess risk alongside dissociation.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Decide whether to escalate support.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Prioritise stabilisation and safety.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Calibri"/>
              </a:defRPr>
            </a:pPr>
            <a:r>
              <a:rPr sz="4000" b="1">
                <a:latin typeface="Calibri"/>
              </a:rPr>
              <a:t>Task · Emily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Question reliability of self-report—without contempt.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Reflective prompt: What would change your mind overnight about risk?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 b="1">
                <a:latin typeface="Calibri"/>
              </a:defRPr>
            </a:pPr>
            <a:r>
              <a:rPr sz="4000" b="1">
                <a:latin typeface="Calibri"/>
              </a:rPr>
              <a:t>Psychosynthesis bridge · Self, woundedness, and 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Depth is compatible with safety: smaller steps, repeated contact.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Meaning may emerge without forcing narrative coherence immediately.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Therapist pacing shapes how much arousal the hour can hold.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Calibri"/>
              </a:defRPr>
            </a:pPr>
            <a:r>
              <a:rPr sz="4000" b="1">
                <a:latin typeface="Calibri"/>
              </a:rPr>
              <a:t>Neuroplasticity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Repetition strengthens emotional patterns—for better and worse.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Trauma can reinforce rigid survival responses.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Insight alone rarely changes embodied behaviour.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Change often requires repeated relational experience over time.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Calibri"/>
              </a:defRPr>
            </a:pPr>
            <a:r>
              <a:rPr sz="4000" b="1">
                <a:latin typeface="Calibri"/>
              </a:rPr>
              <a:t>Clinical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Stabilise before deeper exploration.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Use pacing to prevent dysregulation.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Reduce overwhelm to support engagement.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Monitor risk as patterns shift—especially after stabilisation begins.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latin typeface="Calibri"/>
              </a:defRPr>
            </a:pPr>
            <a:r>
              <a:rPr sz="4400" b="1">
                <a:latin typeface="Calibri"/>
              </a:rPr>
              <a:t>Afternoon break · 20 minutes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latin typeface="Calibri"/>
              </a:defRPr>
            </a:pPr>
            <a:r>
              <a:rPr sz="4400" b="1">
                <a:latin typeface="Calibri"/>
              </a:rPr>
              <a:t>Day two — afternoon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defRPr sz="2600" b="0">
                <a:latin typeface="Calibri"/>
              </a:defRPr>
            </a:pPr>
            <a:r>
              <a:rPr sz="2600" b="0">
                <a:latin typeface="Calibri"/>
              </a:rPr>
              <a:t>Risk (David) · ambiguity (Michael) · integration · closing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latin typeface="Calibri"/>
              </a:defRPr>
            </a:pPr>
            <a:r>
              <a:rPr sz="4400" b="1">
                <a:latin typeface="Calibri"/>
              </a:rPr>
              <a:t>Case study · Risk — “David”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Calibri"/>
              </a:defRPr>
            </a:pPr>
            <a:r>
              <a:rPr sz="4000" b="1">
                <a:latin typeface="Calibri"/>
              </a:rPr>
              <a:t>Task · David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Decide: continue or escalate.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Act immediately on current risk where indicated.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Document clearly and justify decisions.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Calibri"/>
              </a:defRPr>
            </a:pPr>
            <a:r>
              <a:rPr sz="4000" b="1">
                <a:latin typeface="Calibri"/>
              </a:rPr>
              <a:t>Task · David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Consider impact of trauma on disclosure.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Pair: one sentence you would write in contemporaneous notes.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Calibri"/>
              </a:defRPr>
            </a:pPr>
            <a:r>
              <a:rPr sz="4000" b="1">
                <a:latin typeface="Calibri"/>
              </a:rPr>
              <a:t>Risk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Balance autonomy with duty of care.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Escalate when risk becomes active.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Use supervision for complex decisions.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Clear documentation protects clients and practitioners.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latin typeface="Calibri"/>
              </a:defRPr>
            </a:pPr>
            <a:r>
              <a:rPr sz="4400" b="1">
                <a:latin typeface="Calibri"/>
              </a:rPr>
              <a:t>Case study · Ambiguity — “Michael”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Calibri"/>
              </a:defRPr>
            </a:pPr>
            <a:r>
              <a:rPr sz="4000" b="1">
                <a:latin typeface="Calibri"/>
              </a:rPr>
              <a:t>Task · Michael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Decide whether uncertainty requires action now.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Define what would trigger escalation.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Consider risks of acting versus waiting.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Notice therapist anxiety in decision-making—without shame.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 b="1">
                <a:latin typeface="Calibri"/>
              </a:defRPr>
            </a:pPr>
            <a:r>
              <a:rPr sz="4000" b="1">
                <a:latin typeface="Calibri"/>
              </a:rPr>
              <a:t>Psychosynthesis bridge · Formulation and clinical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Psychosynthesis offers parts, Self, meaning, and context—not a bypass around ethics or diagnosis.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Integration without idealisation: clients remain in real systems.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Relationship and environment matter as much as inner process.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Calibri"/>
              </a:defRPr>
            </a:pPr>
            <a:r>
              <a:rPr sz="4000" b="1">
                <a:latin typeface="Calibri"/>
              </a:rPr>
              <a:t>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Hold meaning and risk simultaneously.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Recognise limits of the therapeutic role.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Decision-making is core to ethical practice.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Use reflection and supervision consistently.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Calibri"/>
              </a:defRPr>
            </a:pPr>
            <a:r>
              <a:rPr sz="4000" b="1">
                <a:latin typeface="Calibri"/>
              </a:rPr>
              <a:t>Closing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Short pause or silence before you close, if you use one.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Optional: one word from the weekend, or pass; declining is fine.</a:t>
            </a:r>
          </a:p>
          <a:p>
            <a:pPr>
              <a:defRPr sz="2800" b="0">
                <a:latin typeface="Calibri"/>
              </a:defRPr>
            </a:pPr>
            <a:r>
              <a:rPr sz="2800" b="0">
                <a:latin typeface="Calibri"/>
              </a:rPr>
              <a:t>Thank the group for attention to difficult material.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rPr sz="3600" b="1">
                <a:latin typeface="Calibri"/>
              </a:rPr>
              <a:t>Selected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700" b="0">
                <a:latin typeface="Calibri"/>
              </a:defRPr>
            </a:pPr>
            <a:r>
              <a:rPr sz="1700" b="0">
                <a:latin typeface="Calibri"/>
              </a:rPr>
              <a:t>Nelson, J.E. (1994) Healing the split: Integrating spirit into our understanding of the mentally ill. Albany, NY: State University of New York Press.</a:t>
            </a:r>
          </a:p>
          <a:p>
            <a:pPr>
              <a:defRPr sz="1700" b="0">
                <a:latin typeface="Calibri"/>
              </a:defRPr>
            </a:pPr>
            <a:r>
              <a:rPr sz="1700" b="0">
                <a:latin typeface="Calibri"/>
              </a:rPr>
              <a:t>Firman, J. and Gila, A. (2002) Psychosynthesis: A psychology of the spirit. Albany, NY: State University of New York Press.</a:t>
            </a:r>
          </a:p>
          <a:p>
            <a:pPr>
              <a:defRPr sz="1700" b="0">
                <a:latin typeface="Calibri"/>
              </a:defRPr>
            </a:pPr>
            <a:r>
              <a:rPr sz="1700" b="0">
                <a:latin typeface="Calibri"/>
              </a:rPr>
              <a:t>Firman, J. and Gila, A. (1997) The primal wound: A transpersonal view of trauma, addiction, and growth. Albany, NY: State University of New York Press.</a:t>
            </a:r>
          </a:p>
          <a:p>
            <a:pPr>
              <a:defRPr sz="1700" b="0">
                <a:latin typeface="Calibri"/>
              </a:defRPr>
            </a:pPr>
            <a:r>
              <a:rPr sz="1700" b="0">
                <a:latin typeface="Calibri"/>
              </a:rPr>
              <a:t>Grof, S. and Grof, C. (eds) (1989) Spiritual emergency: When personal transformation becomes a crisis. [Publication details to confirm.]</a:t>
            </a:r>
          </a:p>
          <a:p>
            <a:pPr>
              <a:defRPr sz="1700" b="0">
                <a:latin typeface="Calibri"/>
              </a:defRPr>
            </a:pPr>
            <a:r>
              <a:rPr sz="1700" b="0">
                <a:latin typeface="Calibri"/>
              </a:rPr>
              <a:t>Clarke, I. (ed.) (2001) Psychosis and spirituality: Exploring the new frontier. [Publication details to confirm.]</a:t>
            </a:r>
          </a:p>
          <a:p>
            <a:pPr>
              <a:defRPr sz="1700" b="0">
                <a:latin typeface="Calibri"/>
              </a:defRPr>
            </a:pPr>
            <a:r>
              <a:rPr sz="1700" b="0">
                <a:latin typeface="Calibri"/>
              </a:rPr>
              <a:t>Clarke, I. (ed.) (2010) Psychosis and spirituality: Consolidating the new paradigm. [Publication details to confirm.]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1fa2a2e-ccb8-4b97-81d1-52fad927bd6d">
      <Terms xmlns="http://schemas.microsoft.com/office/infopath/2007/PartnerControls"/>
    </lcf76f155ced4ddcb4097134ff3c332f>
    <TaxCatchAll xmlns="6904e643-86ad-4f5e-a7f4-4b2e1f854ed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B7715A7C83D644AC2BC87BEED320BB" ma:contentTypeVersion="17" ma:contentTypeDescription="Create a new document." ma:contentTypeScope="" ma:versionID="b579d6682cf5ec55229a1cee0ab4b119">
  <xsd:schema xmlns:xsd="http://www.w3.org/2001/XMLSchema" xmlns:xs="http://www.w3.org/2001/XMLSchema" xmlns:p="http://schemas.microsoft.com/office/2006/metadata/properties" xmlns:ns2="a1fa2a2e-ccb8-4b97-81d1-52fad927bd6d" xmlns:ns3="6904e643-86ad-4f5e-a7f4-4b2e1f854ed1" targetNamespace="http://schemas.microsoft.com/office/2006/metadata/properties" ma:root="true" ma:fieldsID="de0774a0c91f91c2ce2bb7c955de4fb5" ns2:_="" ns3:_="">
    <xsd:import namespace="a1fa2a2e-ccb8-4b97-81d1-52fad927bd6d"/>
    <xsd:import namespace="6904e643-86ad-4f5e-a7f4-4b2e1f854e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fa2a2e-ccb8-4b97-81d1-52fad927bd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50692f8-24a0-4675-95ba-921da9ffe5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04e643-86ad-4f5e-a7f4-4b2e1f854ed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e7e3d17-6130-48ab-a535-7db12c6afcfa}" ma:internalName="TaxCatchAll" ma:showField="CatchAllData" ma:web="6904e643-86ad-4f5e-a7f4-4b2e1f854ed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5A94D02-9B44-414A-80CB-48DB080080D6}">
  <ds:schemaRefs>
    <ds:schemaRef ds:uri="http://schemas.microsoft.com/office/2006/metadata/properties"/>
    <ds:schemaRef ds:uri="http://schemas.microsoft.com/office/infopath/2007/PartnerControls"/>
    <ds:schemaRef ds:uri="a1fa2a2e-ccb8-4b97-81d1-52fad927bd6d"/>
    <ds:schemaRef ds:uri="6904e643-86ad-4f5e-a7f4-4b2e1f854ed1"/>
  </ds:schemaRefs>
</ds:datastoreItem>
</file>

<file path=customXml/itemProps2.xml><?xml version="1.0" encoding="utf-8"?>
<ds:datastoreItem xmlns:ds="http://schemas.openxmlformats.org/officeDocument/2006/customXml" ds:itemID="{204BD344-58C5-4DFF-96FA-8624227E33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fa2a2e-ccb8-4b97-81d1-52fad927bd6d"/>
    <ds:schemaRef ds:uri="6904e643-86ad-4f5e-a7f4-4b2e1f854e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53FDF64-1B1C-41AD-A9E4-18F02A6836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984</TotalTime>
  <Words>3857</Words>
  <Application>Microsoft Office PowerPoint</Application>
  <PresentationFormat>Widescreen</PresentationFormat>
  <Paragraphs>298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Arial</vt:lpstr>
      <vt:lpstr>Calibri</vt:lpstr>
      <vt:lpstr>Calibri Light</vt:lpstr>
      <vt:lpstr>Office Theme</vt:lpstr>
      <vt:lpstr>Psychopathology &amp; synthesis</vt:lpstr>
      <vt:lpstr>Weekend rhythm &amp; time</vt:lpstr>
      <vt:lpstr>How we learn this weekend</vt:lpstr>
      <vt:lpstr>Day one — opening</vt:lpstr>
      <vt:lpstr>Day one — morning</vt:lpstr>
      <vt:lpstr>Framing the work</vt:lpstr>
      <vt:lpstr>Working with psychopathology</vt:lpstr>
      <vt:lpstr>Risk — core principles</vt:lpstr>
      <vt:lpstr>Case study · Shame — “Leah”</vt:lpstr>
      <vt:lpstr>Task · Leah (1)</vt:lpstr>
      <vt:lpstr>Task · Leah (2)</vt:lpstr>
      <vt:lpstr>Psychosynthesis bridge · Meaning alongside risk</vt:lpstr>
      <vt:lpstr>Psychosynthesis perspective</vt:lpstr>
      <vt:lpstr>Morning break · 20 minutes</vt:lpstr>
      <vt:lpstr>Day one — afternoon</vt:lpstr>
      <vt:lpstr>Neurodiversity — clinical view</vt:lpstr>
      <vt:lpstr>Clinical challenges</vt:lpstr>
      <vt:lpstr>Psychosynthesis bridge · Adaptation, not pretend normality</vt:lpstr>
      <vt:lpstr>Case study · Neurodiversity — “Ousmane”</vt:lpstr>
      <vt:lpstr>Task · Ousmane (1)</vt:lpstr>
      <vt:lpstr>Task · Ousmane (2)</vt:lpstr>
      <vt:lpstr>Working practically</vt:lpstr>
      <vt:lpstr>Lunch · 1 hour</vt:lpstr>
      <vt:lpstr>Day two — opening</vt:lpstr>
      <vt:lpstr>Day two — morning</vt:lpstr>
      <vt:lpstr>Trauma — core understanding</vt:lpstr>
      <vt:lpstr>Dissociation</vt:lpstr>
      <vt:lpstr>Psychosynthesis bridge · Containment before exploration</vt:lpstr>
      <vt:lpstr>Case study · Dissociation — “Emily”</vt:lpstr>
      <vt:lpstr>Task · Emily (1)</vt:lpstr>
      <vt:lpstr>Task · Emily (2)</vt:lpstr>
      <vt:lpstr>Psychosynthesis bridge · Self, woundedness, and pace</vt:lpstr>
      <vt:lpstr>Neuroplasticity</vt:lpstr>
      <vt:lpstr>Clinical response</vt:lpstr>
      <vt:lpstr>Afternoon break · 20 minutes</vt:lpstr>
      <vt:lpstr>Day two — afternoon</vt:lpstr>
      <vt:lpstr>Case study · Risk — “David”</vt:lpstr>
      <vt:lpstr>Task · David (1)</vt:lpstr>
      <vt:lpstr>Task · David (2)</vt:lpstr>
      <vt:lpstr>Risk decisions</vt:lpstr>
      <vt:lpstr>Case study · Ambiguity — “Michael”</vt:lpstr>
      <vt:lpstr>Task · Michael</vt:lpstr>
      <vt:lpstr>Psychosynthesis bridge · Formulation and clinical work</vt:lpstr>
      <vt:lpstr>Integration</vt:lpstr>
      <vt:lpstr>Closing reflection</vt:lpstr>
      <vt:lpstr>Selected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AND  COMMUNICATIONS -  STRATEGY &amp; PLAN</dc:title>
  <dc:creator>Heloise Proust</dc:creator>
  <cp:lastModifiedBy>Mike Bryant</cp:lastModifiedBy>
  <cp:revision>16</cp:revision>
  <dcterms:created xsi:type="dcterms:W3CDTF">2020-02-24T12:13:07Z</dcterms:created>
  <dcterms:modified xsi:type="dcterms:W3CDTF">2026-04-10T07:25:25Z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0x0101009EB7715A7C83D644AC2BC87BEED320BB</vt:lpwstr>
  </property>
  <property fmtid="{D5CDD505-2E9C-101B-9397-08002B2CF9AE}" pid="3" name="MediaServiceImageTags">
    <vt:lpwstr/>
  </property>
</Properties>
</file>