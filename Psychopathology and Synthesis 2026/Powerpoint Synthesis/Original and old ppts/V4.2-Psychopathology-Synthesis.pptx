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387" r:id="rId5"/>
    <p:sldId id="388" r:id="rId7"/>
    <p:sldId id="389" r:id="rId6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7" r:id="rId30"/>
    <p:sldId id="408" r:id="rId31"/>
    <p:sldId id="409" r:id="rId32"/>
    <p:sldId id="410" r:id="rId33"/>
    <p:sldId id="411" r:id="rId34"/>
    <p:sldId id="412" r:id="rId35"/>
    <p:sldId id="413" r:id="rId36"/>
    <p:sldId id="414" r:id="rId37"/>
    <p:sldId id="415" r:id="rId38"/>
    <p:sldId id="416" r:id="rId39"/>
    <p:sldId id="417" r:id="rId40"/>
    <p:sldId id="418" r:id="rId41"/>
    <p:sldId id="419" r:id="rId42"/>
    <p:sldId id="420" r:id="rId43"/>
    <p:sldId id="421" r:id="rId44"/>
    <p:sldId id="422" r:id="rId45"/>
    <p:sldId id="423" r:id="rId46"/>
    <p:sldId id="424" r:id="rId47"/>
    <p:sldId id="425" r:id="rId48"/>
    <p:sldId id="426" r:id="rId49"/>
    <p:sldId id="427" r:id="rId50"/>
    <p:sldId id="428" r:id="rId51"/>
    <p:sldId id="429" r:id="rId52"/>
    <p:sldId id="430" r:id="rId53"/>
    <p:sldId id="431" r:id="rId54"/>
    <p:sldId id="432" r:id="rId55"/>
    <p:sldId id="433" r:id="rId56"/>
    <p:sldId id="434" r:id="rId57"/>
    <p:sldId id="435" r:id="rId58"/>
    <p:sldId id="436" r:id="rId59"/>
    <p:sldId id="437" r:id="rId60"/>
    <p:sldId id="438" r:id="rId61"/>
    <p:sldId id="439" r:id="rId62"/>
    <p:sldId id="440" r:id="rId63"/>
    <p:sldId id="441" r:id="rId64"/>
    <p:sldId id="442" r:id="rId65"/>
    <p:sldId id="443" r:id="rId66"/>
    <p:sldId id="444" r:id="rId67"/>
    <p:sldId id="445" r:id="rId68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The weekend links diagnostic language with formulation, risk assessment, dissociation, and psychosynthesis concepts used as clinical frameworks rather than as spiritual bypass.</a:t>
            </a:r>
            <a:endParaRPr lang="en-GB" dirty="0"/>
          </a:p>
          <a:p>
            <a:pPr>
              <a:defRPr sz="1100">
                <a:latin typeface="Calibri"/>
              </a:defRPr>
            </a:pPr>
            <a:r>
              <a:t>• Cases are drawn from the V3 ACE set in the CASE STUDIES folder; they are anonymised teaching material, not live records.</a:t>
            </a:r>
          </a:p>
          <a:p>
            <a:pPr>
              <a:defRPr sz="1100">
                <a:latin typeface="Calibri"/>
              </a:defRPr>
            </a:pPr>
            <a:r>
              <a:t>• Risk teaching assumes you map decisions to your own agency, NHS interface, and professional indemnity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Attention and memory for risk material decline across long unbroken stretches; breaks are part of safe design for trauma and suicide content.</a:t>
            </a:r>
          </a:p>
          <a:p>
            <a:pPr>
              <a:defRPr sz="1100">
                <a:latin typeface="Calibri"/>
              </a:defRPr>
            </a:pPr>
            <a:r>
              <a:t>• Net scheduled teaching time is always less than seven hours per day once openings, lunch, and breaks are subtracted.</a:t>
            </a:r>
          </a:p>
          <a:p>
            <a:pPr>
              <a:defRPr sz="1100">
                <a:latin typeface="Calibri"/>
              </a:defRPr>
            </a:pPr>
            <a:r>
              <a:t>• The same slide sequence can be split across a live timetable if your venue uses a different lunch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ACE here names the holding structure for postgraduate clinical training, not a separate therapy model.</a:t>
            </a:r>
          </a:p>
          <a:p>
            <a:pPr>
              <a:defRPr sz="1100">
                <a:latin typeface="Calibri"/>
              </a:defRPr>
            </a:pPr>
            <a:r>
              <a:t>• Containment overlaps with psychosynthesis emphasis on relationship and sequence before interpretation.</a:t>
            </a:r>
          </a:p>
          <a:p>
            <a:pPr>
              <a:defRPr sz="1100">
                <a:latin typeface="Calibri"/>
              </a:defRPr>
            </a:pPr>
            <a:r>
              <a:t>• Engagement matches ACE-Cases design: each vignette ends in formulation, immediate decision, and longer-term or supervision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Transferable skills from healthcare, education, or justice settings alter what feels familiar but not what counts as proportionate risk action in counselling.</a:t>
            </a:r>
          </a:p>
          <a:p>
            <a:pPr>
              <a:defRPr sz="1100">
                <a:latin typeface="Calibri"/>
              </a:defRPr>
            </a:pPr>
            <a:r>
              <a:t>• Documentation habits from other roles need aligning with counselling confidentiality and data protection.</a:t>
            </a:r>
          </a:p>
          <a:p>
            <a:pPr>
              <a:defRPr sz="1100">
                <a:latin typeface="Calibri"/>
              </a:defRPr>
            </a:pPr>
            <a:r>
              <a:t>• Personal mental health disclosure is never required for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NHS and third-sector services often require diagnostic codes for access; that administrative fact does not make the code the whole person.</a:t>
            </a:r>
          </a:p>
          <a:p>
            <a:pPr>
              <a:defRPr sz="1100">
                <a:latin typeface="Calibri"/>
              </a:defRPr>
            </a:pPr>
            <a:r>
              <a:t>• A strong formulation states what would falsify it—for example new risk information or a change in housing or employment.</a:t>
            </a:r>
          </a:p>
          <a:p>
            <a:pPr>
              <a:defRPr sz="1100">
                <a:latin typeface="Calibri"/>
              </a:defRPr>
            </a:pPr>
            <a:r>
              <a:t>• Trainees sometimes over-weight diagnosis when GP letters are the only collateral; formulation corrects that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Brief contemplative openings are common before psychologically dense material and may lower physiological arousal for some participants.</a:t>
            </a:r>
          </a:p>
          <a:p>
            <a:pPr>
              <a:defRPr sz="1100">
                <a:latin typeface="Calibri"/>
              </a:defRPr>
            </a:pPr>
            <a:r>
              <a:t>• Check-in remains bounded; disclosure of personal mental health history is not a requirement for learning.</a:t>
            </a:r>
          </a:p>
          <a:p>
            <a:pPr>
              <a:defRPr sz="1100">
                <a:latin typeface="Calibri"/>
              </a:defRPr>
            </a:pPr>
            <a:r>
              <a:t>• The morning block stacks formulation, shame, and passive risk before neurodiversity and overload in the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Morning material stacks shame, family expectation, and passive risk before the neurodiversity afternoon so trainees feel why formulation cannot be purely categorical.</a:t>
            </a:r>
          </a:p>
          <a:p>
            <a:pPr>
              <a:defRPr sz="1100">
                <a:latin typeface="Calibri"/>
              </a:defRPr>
            </a:pPr>
            <a:r>
              <a:t>• Leah’s GP letter and voluntary-sector setting mirror common low-intensity entry points where risk is under-reported in referral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Shared language with GPs and psychiatrists reduces collision between medication, talking therapies, and social care when risk is in play.</a:t>
            </a:r>
          </a:p>
          <a:p>
            <a:pPr>
              <a:defRPr sz="1100">
                <a:latin typeface="Calibri"/>
              </a:defRPr>
            </a:pPr>
            <a:r>
              <a:t>• Psychosynthesis does not require abandoning DSM or ICD categories; it asks how identification with labels is managed in the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Collateral from CAMHS, CMHT, or occupational health creates expectation effects; the client may defend or resist a label for good reasons.</a:t>
            </a:r>
          </a:p>
          <a:p>
            <a:pPr>
              <a:defRPr sz="1100">
                <a:latin typeface="Calibri"/>
              </a:defRPr>
            </a:pPr>
            <a:r>
              <a:t>• Formulation should name maintaining factors outside the skin: housing, work conditions, caring load, discrimination.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Passive ideation and fleeting intent occupy a wide grey band; documentation should capture verbatim phrases and your clinical reasoning.</a:t>
            </a:r>
          </a:p>
          <a:p>
            <a:pPr>
              <a:defRPr sz="1100">
                <a:latin typeface="Calibri"/>
              </a:defRPr>
            </a:pPr>
            <a:r>
              <a:t>• Protective factors (children, values, fear of pain) lower but do not remove risk; they belong in formulation and in safety planning.</a:t>
            </a:r>
          </a:p>
          <a:p>
            <a:pPr>
              <a:defRPr sz="1100">
                <a:latin typeface="Calibri"/>
              </a:defRPr>
            </a:pPr>
            <a:r>
              <a:t>• When self-report shifts between contacts, risk review frequency increases rather than decreases.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Vignette source: V3 ACE case file ACE-Case-Leah.md in the CASE STUDIES folder.</a:t>
            </a:r>
          </a:p>
          <a:p>
            <a:pPr>
              <a:defRPr sz="1100">
                <a:latin typeface="Calibri"/>
              </a:defRPr>
            </a:pPr>
            <a:r>
              <a:t>• Scenario unfolds on the following slides; use reasonable clinical assumptions where detail is missing.</a:t>
            </a:r>
          </a:p>
          <a:p>
            <a:pPr>
              <a:defRPr sz="1100">
                <a:latin typeface="Calibri"/>
              </a:defRPr>
            </a:pPr>
            <a:r>
              <a:t>• Shame, family pressure, tentative neurodiversity themes, and shifting risk disclosure are central teaching foci.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Sensory and executive strain can present as “failure to cope” in workplaces that assume uniform tolerance for noise and unpredictability.</a:t>
            </a:r>
          </a:p>
          <a:p>
            <a:pPr>
              <a:defRPr sz="1100">
                <a:latin typeface="Calibri"/>
              </a:defRPr>
            </a:pPr>
            <a:r>
              <a:t>• Refusing assessment can protect identity while also delaying adjustments that might reduce collapse; both sides belong in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Shifting self-report across sessions is data: it may reflect shame, cognitive avoidance, or genuine impulse fluctuation.</a:t>
            </a:r>
          </a:p>
          <a:p>
            <a:pPr>
              <a:defRPr sz="1100">
                <a:latin typeface="Calibri"/>
              </a:defRPr>
            </a:pPr>
            <a:r>
              <a:t>• Family financial threats raise exploitation and emotional safety dynamics alongside suicide risk.</a:t>
            </a:r>
          </a:p>
          <a:p>
            <a:pPr>
              <a:defRPr sz="1100">
                <a:latin typeface="Calibri"/>
              </a:defRPr>
            </a:pPr>
            <a:r>
              <a:t>• Voluntary-sector contracts often lack medical backup; GP liaison is frequently the available NHS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Assagioli’s subpersonality language translates to common therapy phrases: inner critic, compliant child, angry adolescent.</a:t>
            </a:r>
          </a:p>
          <a:p>
            <a:pPr>
              <a:defRPr sz="1100">
                <a:latin typeface="Calibri"/>
              </a:defRPr>
            </a:pPr>
            <a:r>
              <a:t>• Parts work is not a substitute for risk questions; it follows or runs parallel to safeguarding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Firman and Gila’s material on identification helps explain over-responsibility in therapists when clients express passive ideation.</a:t>
            </a:r>
          </a:p>
          <a:p>
            <a:pPr>
              <a:defRPr sz="1100">
                <a:latin typeface="Calibri"/>
              </a:defRPr>
            </a:pPr>
            <a:r>
              <a:t>• Nelson’s integration theme cautions against romanticising breakdown; the ethical bar stays at safeguarding and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Disidentification is practised in small steps: grounding, sentence stems, timeline work—not instant transpersonal claims.</a:t>
            </a:r>
          </a:p>
          <a:p>
            <a:pPr>
              <a:defRPr sz="1100">
                <a:latin typeface="Calibri"/>
              </a:defRPr>
            </a:pPr>
            <a:r>
              <a:t>• Therapist countertransference when parents are cast as cruel may obscure the client’s mixed loyalty and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Integration language does not promise linear recovery; it describes direction of travel under supervision.</a:t>
            </a:r>
          </a:p>
          <a:p>
            <a:pPr>
              <a:defRPr sz="1100">
                <a:latin typeface="Calibri"/>
              </a:defRPr>
            </a:pPr>
            <a:r>
              <a:t>• Firman and Gila’s attention to context supports environmental adjustment as ethical practice, previewing the afternoon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Cupboard disclosure without clear intent or plan still warrants updated risk formulation and often GP awareness when medication access is salient.</a:t>
            </a:r>
          </a:p>
          <a:p>
            <a:pPr>
              <a:defRPr sz="1100">
                <a:latin typeface="Calibri"/>
              </a:defRPr>
            </a:pPr>
            <a:r>
              <a:t>• Breaching confidentiality to parents risks shame and dropout; withholding may leave domestic risk unmanaged.</a:t>
            </a:r>
          </a:p>
          <a:p>
            <a:pPr>
              <a:defRPr sz="1100">
                <a:latin typeface="Calibri"/>
              </a:defRPr>
            </a:pPr>
            <a:r>
              <a:t>• Same-day decisions should be recorded with alternatives considered and reasons for the path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Pacing balances shame-sensitive exploration with repeated risk review when self-report shifts.</a:t>
            </a:r>
          </a:p>
          <a:p>
            <a:pPr>
              <a:defRPr sz="1100">
                <a:latin typeface="Calibri"/>
              </a:defRPr>
            </a:pPr>
            <a:r>
              <a:t>• Supervision might examine countertransference toward punitive-sounding parents versus realistic safeguarding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Cognitive-load theory supports recovery intervals before complex decision tasks such as safeguarding escalation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Afternoon material connects nervous-system load with housing, schooling, and welfare interfaces common in UK practice.</a:t>
            </a:r>
          </a:p>
          <a:p>
            <a:pPr>
              <a:defRPr sz="1100">
                <a:latin typeface="Calibri"/>
              </a:defRPr>
            </a:pPr>
            <a:r>
              <a:t>• Ousmane’s contradictions train documentation when self-report shifts between contacts.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NICE and NHS services may use diagnostic thresholds for ADHD and autism that lag behind self-identification or community language.</a:t>
            </a:r>
          </a:p>
          <a:p>
            <a:pPr>
              <a:defRPr sz="1100">
                <a:latin typeface="Calibri"/>
              </a:defRPr>
            </a:pPr>
            <a:r>
              <a:t>• Workplace and education adjustments are legal and clinical levers, not “special treatment” in a pejorative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Burnout after years of masking is often misread as depression without context; history and environment correct that error.</a:t>
            </a:r>
          </a:p>
          <a:p>
            <a:pPr>
              <a:defRPr sz="1100">
                <a:latin typeface="Calibri"/>
              </a:defRPr>
            </a:pPr>
            <a:r>
              <a:t>• Shame intensifies when failure is attributed to character rather than to load and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Psychosynthesis bifocal vision holds realistic limits and environmental strain alongside meaning and dignity.</a:t>
            </a:r>
          </a:p>
          <a:p>
            <a:pPr>
              <a:defRPr sz="1100">
                <a:latin typeface="Calibri"/>
              </a:defRPr>
            </a:pPr>
            <a:r>
              <a:t>• Single-parent poverty tightens the margin for error when executive load is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GPs under time pressure may offer minimal intervention; ADHD waiting lists can exceed twelve months in many areas.</a:t>
            </a:r>
          </a:p>
          <a:p>
            <a:pPr>
              <a:defRPr sz="1100">
                <a:latin typeface="Calibri"/>
              </a:defRPr>
            </a:pPr>
            <a:r>
              <a:t>• Safeguarding language can be triggered when schools perceive neglect; formulation must separate poverty and overload from intent to harm.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Vignette source: V3 ACE case file ACE-Case-Ousmane.md in the CASE STUDIES folder.</a:t>
            </a:r>
          </a:p>
          <a:p>
            <a:pPr>
              <a:defRPr sz="1100">
                <a:latin typeface="Calibri"/>
              </a:defRPr>
            </a:pPr>
            <a:r>
              <a:t>• Executive overload, parenting, safeguarding edge, and contradictory presentation are central teaching foci.</a:t>
            </a:r>
          </a:p>
          <a:p>
            <a:pPr>
              <a:defRPr sz="1100">
                <a:latin typeface="Calibri"/>
              </a:defRPr>
            </a:pPr>
            <a:r>
              <a:t>• NHS and school interfaces constrain what can be done in one counselling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Contradiction between capable presentation and functional collapse is common in masking and overload, not proof of manipulation.</a:t>
            </a:r>
          </a:p>
          <a:p>
            <a:pPr>
              <a:defRPr sz="1100">
                <a:latin typeface="Calibri"/>
              </a:defRPr>
            </a:pPr>
            <a:r>
              <a:t>• Text contact raises boundary and clinical-record questions; agencies differ on whether SMS constitutes part of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Children’s services thresholds vary; school concern letters often precede formal section 17 or section 47 processes in England and Wales contexts.</a:t>
            </a:r>
          </a:p>
          <a:p>
            <a:pPr>
              <a:defRPr sz="1100">
                <a:latin typeface="Calibri"/>
              </a:defRPr>
            </a:pPr>
            <a:r>
              <a:t>• Documentation of contradictory accounts protects you later if risk is retrospectively questioned.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Formulation first clarifies hypotheses about overload versus neglect versus both; without it, liaison can be reactive.</a:t>
            </a:r>
          </a:p>
          <a:p>
            <a:pPr>
              <a:defRPr sz="1100">
                <a:latin typeface="Calibri"/>
              </a:defRPr>
            </a:pPr>
            <a:r>
              <a:t>• Immediate decisions often hinge on whether children are currently safe enough for brief delay while engagement is secured.</a:t>
            </a:r>
          </a:p>
          <a:p>
            <a:pPr>
              <a:defRPr sz="1100">
                <a:latin typeface="Calibri"/>
              </a:defRPr>
            </a:pPr>
            <a:r>
              <a:t>• Supervision questions later may target bifocal vision when every systemic door feels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Six-session arcs in overloaded parents often alternate practical wins with shame processing; depth without basics usually fails.</a:t>
            </a:r>
          </a:p>
          <a:p>
            <a:pPr>
              <a:defRPr sz="1100">
                <a:latin typeface="Calibri"/>
              </a:defRPr>
            </a:pPr>
            <a:r>
              <a:t>• Supervision might examine whether fear of statutory services is distorting your threshold upward or downward.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Small repeatable changes track with neuroplasticity themes on day two: repetition shapes habit more than single insights.</a:t>
            </a:r>
          </a:p>
          <a:p>
            <a:pPr>
              <a:defRPr sz="1100">
                <a:latin typeface="Calibri"/>
              </a:defRPr>
            </a:pPr>
            <a:r>
              <a:t>• Contracts should name how out-of-session contact is used so crisis texts are clinically intentional.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Post-prandial dips in vigilance are common; risk-heavy material scheduled immediately after lunch may warrant slower 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Sleep disruption after emotionally loaded training is a common group phenomenon and does not by itself indicate disorder.</a:t>
            </a:r>
          </a:p>
          <a:p>
            <a:pPr>
              <a:defRPr sz="1100">
                <a:latin typeface="Calibri"/>
              </a:defRPr>
            </a:pPr>
            <a:r>
              <a:t>• Today’s dissociation and escalation teaching assumes yesterday’s shame and risk material is already integrated cognitively.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Dissociation teaching follows trauma framing because defensive absence is easier to understand once nervous-system threat is named.</a:t>
            </a:r>
          </a:p>
          <a:p>
            <a:pPr>
              <a:defRPr sz="1100">
                <a:latin typeface="Calibri"/>
              </a:defRPr>
            </a:pPr>
            <a:r>
              <a:t>• Emily’s university context adds institutional confidentiality pressure distinct from NHS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PTSD and complex trauma formulations in ICD-11 and DSM-5 still leave grey overlap with anxiety and mood disorders in routine practice.</a:t>
            </a:r>
          </a:p>
          <a:p>
            <a:pPr>
              <a:defRPr sz="1100">
                <a:latin typeface="Calibri"/>
              </a:defRPr>
            </a:pPr>
            <a:r>
              <a:t>• Therapist pacing regulates arousal in the hour; faster is not always deeper.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Childhood adversity rates are elevated in ADHD cohorts; correlation does not tell you which to treat first in an adult.</a:t>
            </a:r>
          </a:p>
          <a:p>
            <a:pPr>
              <a:defRPr sz="1100">
                <a:latin typeface="Calibri"/>
              </a:defRPr>
            </a:pPr>
            <a:r>
              <a:t>• Medication decisions belong to psychiatry; counselling formulation still informs what to monitor and report back with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DSM dissociative disorders are under-diagnosed; subthreshold dissociation still matters for safety planning.</a:t>
            </a:r>
          </a:p>
          <a:p>
            <a:pPr>
              <a:defRPr sz="1100">
                <a:latin typeface="Calibri"/>
              </a:defRPr>
            </a:pPr>
            <a:r>
              <a:t>• Differentiate ordinary distraction from dissociative absence when self-harm or suicide content is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Grof and Clarke volumes inform understanding of psychosis and spirituality interfaces; they do not replace safeguarding law or competence limits.</a:t>
            </a:r>
          </a:p>
          <a:p>
            <a:pPr>
              <a:defRPr sz="1100">
                <a:latin typeface="Calibri"/>
              </a:defRPr>
            </a:pPr>
            <a:r>
              <a:t>• Nelson’s integration theme warns against forcing insight before the client can stay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Vignette source: V3 ACE case file ACE-Case-Emily.md in the CASE STUDIES folder.</a:t>
            </a:r>
          </a:p>
          <a:p>
            <a:pPr>
              <a:defRPr sz="1100">
                <a:latin typeface="Calibri"/>
              </a:defRPr>
            </a:pPr>
            <a:r>
              <a:t>• Dissociation, inconsistent self-harm reporting, university policy tension, and escalation dilemmas are central teaching foci.</a:t>
            </a:r>
          </a:p>
          <a:p>
            <a:pPr>
              <a:defRPr sz="1100">
                <a:latin typeface="Calibri"/>
              </a:defRPr>
            </a:pPr>
            <a:r>
              <a:t>• Do not infer trauma history that is not in the written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Inconsistent timelines are clinically meaningful: they may reflect shame, memory fragmentation, or both.</a:t>
            </a:r>
          </a:p>
          <a:p>
            <a:pPr>
              <a:defRPr sz="1100">
                <a:latin typeface="Calibri"/>
              </a:defRPr>
            </a:pPr>
            <a:r>
              <a:t>• Do not infer a specific trauma history that she has not given; stay with presented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University counselling sits inside student conduct and safeguarding policies that differ by institution; you need your own service manual.</a:t>
            </a:r>
          </a:p>
          <a:p>
            <a:pPr>
              <a:defRPr sz="1100">
                <a:latin typeface="Calibri"/>
              </a:defRPr>
            </a:pPr>
            <a:r>
              <a:t>• Flat affect in written communication after dissociation reports is not reassurance; it is ambiguous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Stabilisation-first sequencing is consistent with NICE-informed trauma-informed care even when full PTSD treatment waits.</a:t>
            </a:r>
          </a:p>
          <a:p>
            <a:pPr>
              <a:defRPr sz="1100">
                <a:latin typeface="Calibri"/>
              </a:defRPr>
            </a:pPr>
            <a:r>
              <a:t>• Institutional escalation without consent may be lawful in some serious-risk policies; legality and alliance still conflict clinically.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Immediate decision-making with partial data mirrors real student services work where crisis lines refuse generic anxiety presentations.</a:t>
            </a:r>
          </a:p>
          <a:p>
            <a:pPr>
              <a:defRPr sz="1100">
                <a:latin typeface="Calibri"/>
              </a:defRPr>
            </a:pPr>
            <a:r>
              <a:t>• Ethical trade-offs should be written: what you protect (life, autonomy, education) and what you risk (alliance, confidentiality).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Supervision might test whether fear of being seen as “over-reacting” is lowering your threshold inappropriately.</a:t>
            </a:r>
          </a:p>
          <a:p>
            <a:pPr>
              <a:defRPr sz="1100">
                <a:latin typeface="Calibri"/>
              </a:defRPr>
            </a:pPr>
            <a:r>
              <a:t>• Stabilisation plans fail if escalation is never reconsidered when new facts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This supports realistic homework and between-session structure rather than single breakthrough expectations.</a:t>
            </a:r>
          </a:p>
          <a:p>
            <a:pPr>
              <a:defRPr sz="1100">
                <a:latin typeface="Calibri"/>
              </a:defRPr>
            </a:pPr>
            <a:r>
              <a:t>• Medication and neurodiversity both modulate plasticity; formulation stays multimodal.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Collaborative safety planning names triggers, early signs, and help-seeking routes appropriate to your service hours.</a:t>
            </a:r>
          </a:p>
          <a:p>
            <a:pPr>
              <a:defRPr sz="1100">
                <a:latin typeface="Calibri"/>
              </a:defRPr>
            </a:pPr>
            <a:r>
              <a:t>• Step-down and step-up of frequency should follow risk and functioning, not habit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The afternoon segment stacks acute-ambiguity risk with documentation and integration; recovery before it supports steadier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Private-sector and stepped-care gaps change what “escalation” means but not documentation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NHS and social care thresholds are not identical to counselling thresholds; know your employer’s policy.</a:t>
            </a:r>
          </a:p>
          <a:p>
            <a:pPr>
              <a:defRPr sz="1100">
                <a:latin typeface="Calibri"/>
              </a:defRPr>
            </a:pPr>
            <a:r>
              <a:t>• Duty to warn or protect varies by jurisdiction; training curricula should name local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Vignette source: V3 ACE case file ACE-Case-Michael.md in the CASE STUDIES folder.</a:t>
            </a:r>
          </a:p>
          <a:p>
            <a:pPr>
              <a:defRPr sz="1100">
                <a:latin typeface="Calibri"/>
              </a:defRPr>
            </a:pPr>
            <a:r>
              <a:t>• Ambiguous risk below crisis thresholds, contradictory hope cues, and private-sector context are central teaching foci.</a:t>
            </a:r>
          </a:p>
          <a:p>
            <a:pPr>
              <a:defRPr sz="1100">
                <a:latin typeface="Calibri"/>
              </a:defRPr>
            </a:pPr>
            <a:r>
              <a:t>• Reasonable clinicians may disagree on escalation timing; reasoning quality is the learning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Contradictory future orientation versus withdrawal is not intent to die; it is ambiguity that competent clinicians read differently.</a:t>
            </a:r>
          </a:p>
          <a:p>
            <a:pPr>
              <a:defRPr sz="1100">
                <a:latin typeface="Calibri"/>
              </a:defRPr>
            </a:pPr>
            <a:r>
              <a:t>• Functional markers anchor risk review when words minimise distress.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Documentation separates observed behaviour, client words, and clinician inference—each line carries different evidential weight.</a:t>
            </a:r>
          </a:p>
          <a:p>
            <a:pPr>
              <a:defRPr sz="1100">
                <a:latin typeface="Calibri"/>
              </a:defRPr>
            </a:pPr>
            <a:r>
              <a:t>• Supervision unpacks whether your anxiety is calibrated to his data or to your own history with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Overnight flips often involve new intent, substance use, sudden isolation loss, or third-party report of plan.</a:t>
            </a:r>
          </a:p>
          <a:p>
            <a:pPr>
              <a:defRPr sz="1100">
                <a:latin typeface="Calibri"/>
              </a:defRPr>
            </a:pPr>
            <a:r>
              <a:t>• Private clients still merit NHS medical assessment when physical decline or severe depression is suspected.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Four-session arcs might pair behavioural activation with grief processing if risk stays stable.</a:t>
            </a:r>
          </a:p>
          <a:p>
            <a:pPr>
              <a:defRPr sz="1100">
                <a:latin typeface="Calibri"/>
              </a:defRPr>
            </a:pPr>
            <a:r>
              <a:t>• Supervision questions on countertransference reduce false certainty in either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Michael’s file illustrates that reasonable disagreement between clinicians is compatible with accountable individual decisions.</a:t>
            </a:r>
          </a:p>
          <a:p>
            <a:pPr>
              <a:defRPr sz="1100">
                <a:latin typeface="Calibri"/>
              </a:defRPr>
            </a:pPr>
            <a:r>
              <a:t>• Ethical tension stays live; closure narratives are avoided.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Group and individual supervision differ in confidentiality; bring anonymised facts consistent with your service policy.</a:t>
            </a:r>
          </a:p>
          <a:p>
            <a:pPr>
              <a:defRPr sz="1100">
                <a:latin typeface="Calibri"/>
              </a:defRPr>
            </a:pPr>
            <a:r>
              <a:t>• Supervision minutes can be subpoenaed in some proceedings; content should stay factual and proportionate.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Integration links Leah’s shame, Ousmane’s overload, Emily’s dissociation, and Michael’s ambiguity under one risk–formulation framework.</a:t>
            </a:r>
          </a:p>
          <a:p>
            <a:pPr>
              <a:defRPr sz="1100">
                <a:latin typeface="Calibri"/>
              </a:defRPr>
            </a:pPr>
            <a:r>
              <a:t>• Psychosynthesis contributions sit alongside safeguarding law and NHS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Ambivalence, fatigue, or numbness after risk teaching resemble common stress responses and are not by themselves signs of disorder.</a:t>
            </a:r>
          </a:p>
          <a:p>
            <a:pPr>
              <a:defRPr sz="1100">
                <a:latin typeface="Calibri"/>
              </a:defRPr>
            </a:pPr>
            <a:r>
              <a:t>• Trainees are encouraged to use programme pastoral routes and their own supervision where personal material has been stirred.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First three references are complete as printed; match your programme’s Harvard punctuation if required.</a:t>
            </a:r>
          </a:p>
          <a:p>
            <a:pPr>
              <a:defRPr sz="1100">
                <a:latin typeface="Calibri"/>
              </a:defRPr>
            </a:pPr>
            <a:r>
              <a:t>• Grof and Clarke entries lack publisher and place in this master list; confirm in library catalogues before formal essays.</a:t>
            </a:r>
          </a:p>
          <a:p>
            <a:pPr>
              <a:defRPr sz="1100">
                <a:latin typeface="Calibri"/>
              </a:defRPr>
            </a:pPr>
            <a:r>
              <a:t>• Critical medicalisation literature may be taught separately; only cite with full bibliographic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png"/><Relationship Id="rId7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r>
              <a:t>Psychopathology &amp; synthesis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r>
              <a:t>Psychosynthesis &amp; Education Trust</a:t>
            </a:r>
          </a:p>
          <a:p>
            <a:r>
              <a:t>Postgraduate weekend · 11–12 April 2026</a:t>
            </a: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Weekend rhythm and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Saturday and Sunday: 10:00–17:00 (UK), as contracted for this module.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Each day includes about fifteen minutes meditation, an optional fifteen-minute check-in, teaching blocks, a twenty-minute morning break, lunch (often 13:00–14:00), and a twenty-minute afternoon break.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 this file, day-one afternoon teaching appears before the lunch slide, then day two; live timetables may reorder blocks while preserving total teaching and break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Teaching frame: authority, containment,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Authority: clear contracts, accountable risk questions, and decisions you could defend to a regulator or employer.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Containment: pacing, boundaries on depth, and stabilisation before exploratory work where dissociation or shame dominates.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Engagement: active formulation tasks, uncertainty tolerated, and reasoning made visible rather than impressionistic.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Postgraduate learning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 bring substantial prior professional and life experience; the standard is formation, not introductory recall.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Clinical judgement means reasons tied to observations, questions asked, and record entries—not preference without evidence.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Pairs and small discussion translate theory into decisions you might make under your contract and supervision arrangement.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Diagnosis and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Diagnosis functions as a working hypothesis: a shorthand for clustering symptoms and functioning, open to revision as context emerges.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is evolving and contextual: it links history, relationships, culture, environment, and risk in a narrative you update in supervision.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Neither replaces the other; both can sit in the same file if the reasoning for each is explicit.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one —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Meditation of about fifteen minutes follows PET convention for starting teaching days.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Optional check-in of about fifteen minutes: “How do you feel about this material?”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Then move into the day one morning block: framing, risk principles, and the Leah case.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one —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Framing, diagnosis and formulation, risk principles, case Leah (shame, family, ND tension, risk).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Psychosynthesis links: parts, meaning alongside risk, brief I–Self and disidentification.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Ends at the morning break before the neurodiversity and Ousmane block.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Framing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Psychopathology offers shared language across professions and services when that language is used descriptively rather than as identity.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Meaning and risk are held together: one does not cancel assessment, and assessment does not cancel curiosity about what the client cares about.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Uncertainty is ordinary; paralysis and premature closure are both clinical errors in different directions.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Working with psychopathology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Diagnostic labels describe patterns, not the whole person; clients arrive already shaped by prior assessments and by what families believe those labels mean.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Your formulation integrates symptoms, history, culture, and environment and can change when new information appears.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Thinking clinically means holding categories lightly enough to notice what does not fit, without denying real impairment or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Risk —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is dynamic: it shifts with isolation, sleep loss, humiliation, substance use, and relationship rupture, not only with expressed emotion.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Intensity of affect is not a one-to-one map to level of danger; quiet compliance can accompany high-lethality planning.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Direct, respectful enquiry about thoughts, intent, plan, means, and protective factors is standard practice, not an escalation in itself.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Thresholds for NHS crisis or emergency services vary by area and gatekeeping; your local pathway still requires a clear clinical rationale in the notes.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"Leah"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Leah — presentation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has left several retail and hospitality jobs within weeks; busy environments, shift changes, and managerial check-ins overwhelm her.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withdraws to her room, reverses sleep, drops contact with friends, and describes low energy, self-criticism, and post-social rumination.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 friend raised autism or ADHD; she recognises overload and burnout but refuses assessment, fearing a label would end hope of being “normal.”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Curiosity in the room meets shame and pride; exploration stays descriptive and co-created, not diagnostic.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Leah — risk, family pressure, therapy ambivalence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Session two: she denies self-harm; session three after a fight she discloses standing at paracetamol and ibuprofen, wanting everything to stop, then walking away.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cannot say how long she stood there or whether she handled packets; affect flattens when pressed; she minimises and has not told the GP.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Her mother threatened to stop non-essential spending if she does not find stable work by spring; Leah reads that as conditional love.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Part of her wants honesty and structure; part expects to drop therapy as she dropped jobs; there is no out-of-hours crisis cover in this service.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 must decide in-session whether same-day GP contact is proportionate or whether that risks betrayal and dropout with risk still unassessed elsewhere.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Sub-personalities and shame (Leah)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Different parts may hold contradictory positions: one ashamed and hiding risk, one hopeful about therapy, one hostile to parents, one fearful of labels.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Mapping those positions without dramatising can reduce fusion with any single story the client tells in one hour.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Shame often attaches to help-seeking and to risk disclosure; the part that minimises may be trying to preserve dignity.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Meaning alongside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Suffering can be meaningful in the client’s life story without minimising danger or delaying safety steps.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Non-identification supports witnessing patterns without the therapist fusing with rescue fantasies or with contempt for the client.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decisions remain ordinary, accountable, and documented; meaning-making does not replace them.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I, Self, and disidentification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An observing stance—naming affect and impulse without fusing with them—supports disidentification in session.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Clinical use includes not over-identifying with the client’s narrative or with your own anxiety about getting risk wrong.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Depth and spirit in psychosynthesis still sit inside boundaries, competence, and the duty of care.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Psychosynthesis perspective (integration)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Distress may reflect fragmentation of subpersonalities; integration is gradual and relationship-dependent.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Containment precedes exploration when shame, risk, or dissociation are live.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Context and inner process are both in the formulation; neither cancels safeguarding or NHS pathways.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Leah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draft a working formulation that holds mood, shame, family context, possible ND-relevant processing differences, and risk—stating explicitly what you do not know and what would change your view.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what do you do after the cupboard disclosure (same day / before next session)—including whether to involve GP, breach confidentiality to parents, or use another route—and why?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Leah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outline how you would pace the next six to eight sessions if she remains engaged, and name one question you would take to supervision about either risk or family/system pressure.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Morning break — 20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Twenty-minute break before neurodiversity, overload, safeguarding, and Ousmane.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Return time is stated in your cohort schedule; sustained attention drops when breaks are skipped or shortened.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one — afternoon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Neurodiversity, executive load, masking, environment, case Ousmane (overload, children, services).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Practical stabilisation before depth; bifocal vision in tasks.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This block in the file precedes the lunch slide; align to your Saturday clock if needed.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Neurodiversity — clinical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Neurodiversity frames difference in processing; impairment is often interaction between person and environment.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Executive functions—planning, inhibition, working memory—explain organisation and timing problems without moral blame.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Sensory overload drives shutdown; masking consumes resources and delays recognition, especially where social expectation is high.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Masking and the cost of compensation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Camouflaging effort in work, parenting, or study leads to exhaustion, late collapse, and misrecognition by brief contacts.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Clients may present as capable in structured appointments while function at home disintegrates.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should name the price of passing as neurotypical when demand exceeds capacity.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Environment × person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Adjusting context—timing, reminders, sensory load, paperwork support—is part of ethical practice, not a lowering of standards.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When the environment changes, the same person may function markedly differently; formulation updates accordingly.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Liaison with housing, school, or benefits may be as important as insight-oriented work in some weeks.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Clinical challenges (neurodiversity)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Difference is frequently misread as poor motivation or non-compliance in services built on uniform expectations.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Shame accumulates through repeated failure narratives from employers, schools, and prior clinicians.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Your stance needs flexibility without pretending certainty where assessment and support are still pending.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"Ousmane"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Ousmane — overload and contradiction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Executive load: mind goes blank on multi-step tasks, unopened post, phone menus lost once anxiety rises.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Sleep is poor; some days he cannot start meals or wash uniforms despite love for his children and fear of judgement.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Possible ADHD was noted before; assessment never completed after long waits and a dropped triage call.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Between-session texts may sound desperate while sessions sound minimised; channel use may fall outside your service policy.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Ousmane — ethics, services, shifting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Autonomy and trust versus duty to children: early school involvement may protect or may drive him away from all support.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NHS ADHD waits and unaffordable private assessment limit biological framing even when it would help self-understanding.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GP contact was superficial; mindfulness advice did not address housing or parenting load.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 reports takeaways four nights one week, then “mostly proper meals” the next and cannot align details.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 choose without unanimity or full information: safeguarding conversation, GP re-referral, stabilisation contract, or another proportionate step—and you record the shifting history.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Ousmane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integrate neurodiversity-related and executive-load factors with poverty, parenting load, shame, and service thresholds—stating what remains unknown.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what is your next move after this session (for example consent for school liaison, GP letter, safeguarding discussion, safety plan only)—with brief rationale and what would make you revise it.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Ousmane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sketch a six-session arc balancing practical stabilisation with emotional work, and name one supervision question on safeguarding boundaries or bifocal vision under extreme strain.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Working practically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Use structure, routine, written prompts, and graded tasks where they reduce executive demand.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Reduce overwhelm before pushing insight; stabilisation supports later meaning-making.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Referral and advocacy—housing, benefits, school—may sit alongside counselling within role boundaries.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Lunch — 1 hour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Lunch is often scheduled 13:00–14:00; confirm the time in your cohort paperwork.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 this deck, day two begins after lunch; your venue may instead continue day one into the late afternoon.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two —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Meditation of about fifteen minutes.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Check-in of about fifteen minutes: “What did yesterday bring up for you?”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Then day two morning: trauma, differential with ADHD, dissociation, Emily, neuroplasticity, clinical response.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two —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Trauma physiology, trauma versus ADHD overlap, dissociation, Emily case, neuroplasticity, phased response.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Ends at afternoon break before Michael and integration themes.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Trauma — core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Trauma is held in the nervous system as well as in narrative memory; body responses can precede words.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Regulation, perception, and relating change after threat; triggers can flip states quickly.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Clients may oscillate between hyperarousal and shutdown; both carry relational and risk implications.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Trauma presentation and ADHD — overlap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Inattention, restlessness, sleep disruption, and emotional lability appear in both trauma-related states and ADHD.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Premature single explanations waste time; formulation holds both until history, onset, and response to stabilisation clarify the picture.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NHS ADHD assessments are often lengthy; trauma-informed stabilisation can run in parallel without closing either hypothesis.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Dissociation is often protective after overwhelm; it may show as spacing out, depersonalisation, gaps in time, or inconsistent recall.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Subtle dissociation is easy to miss in brief contacts; risk assessment degrades when continuity of self is unstable.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Strong dissociation correlates with higher risk when intent and behaviour are not fully accessible to conscious report.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Containment before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Rapid depth or transpersonal interpretation is unsafe when fragmentation and risk are active.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Stabilisation means relationship reliability, predictable structure, and skills for grounding before trauma narrative work.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Spiritual emergency literature describes crisis states; it is background reading, not a technique checklist for beginners.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"Emily"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Emily — mood, dissociation, inconsistent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Self-harm reportedly “weeks ago” in session one; by session three she cannot tell cutting three days ago from ideation only.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Healed marks on her forearm are shown; she links them to probable dissociation but cannot sequence events.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Detachment episodes last minutes to hours; after one she missed counselling entirely and lost the afternoon.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Sensory disconnection examples include hearing a phone without linking it to herself.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Emily — risk, services, escalation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is unsure she can stay safe; she fears psychiatric assessment, study leave, or being seen as manipulative.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Family values stoicism; disclosure to them is partial. A flat email arrives asking to cancel the next session while saying she is “okay now.”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No GP collateral. Local crisis services often gate on explicit intent or recent attempt; her presentation is partial and fluctuating.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 tutor emailed asking if she is “engaging”; you have not answered. Escalation might save life or destroy alliance; non-escalation might hide risk.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Emily — stabilisation examples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Stabilisation might include brief orientation or grounding in session, a simple sleep or meal routine target, or one negotiated academic boundary such as a supported extension—examples only, not a protocol.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Micro-boundaries on workload reduce overload while trust builds; depth trauma work waits until presence is more reliable.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review frequency increases when self-report is unstable; documentation names what is unknown.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Emily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link mood, dissociation, academic pressure, family context, and self-harm—explicitly noting contradictions in her account and what you still cannot know.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given the vague email and unclear recent self-harm, what do you do before the next scheduled contact (outreach, involve others, document and wait)—and what is the ethical trade-off?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Emily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outline stabilisation-first work for the next few sessions if she remains in contact, and one supervision question on escalation thresholds or institutional pressure.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Neuroplasticity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Repeated experience strengthens neural and emotional patterns—for better and for worse.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Trauma-linked survival responses become automatic; change tends to be gradual and non-linear.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Insight alone rarely shifts embodied habits without repeated relational and behavioural practice.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Clinical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Stabilise before exploratory trauma processing when dissociation or risk is active.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Pace the hour to prevent dysregulation; fewer interpretations when arousal is high.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monitoring continues after clients feel safer because new material often emerges with reduced guarding.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Afternoon break — 20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Twenty-minute break before the afternoon block: Michael case, hold uncertainty while acting, supervision as containment, integration, and closing.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Return time is stated in your cohort schedule.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two — afternoon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under ambiguity (Michael), documentation, supervision, integration, references.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David case removed; Michael carries the acute risk-teaching load for this version.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Risk decisions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Balance autonomy with duty of care; escalate when risk becomes active against defined criteria.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Supervision supports proportionate decisions; records show questions, answers, and rationale.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Clear documentation protects clients and practitioners when events are later disputed.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"Michael"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Michael — function, contradiction, private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Sleep fragments between waking at 3 a.m. and sleeping past midday; eating is patchy; unintended weight loss; hygiene slips on bad weeks.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 works from home on a thin contract; daytime isolation is almost total; no occupational health route.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NHS talking therapies use stepped-care thresholds; private counselling may sit outside those pathways while concern remains real.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Sister offered joint session; he refuses, then says maybe later, and does not follow up—another ambivalent data point.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Michael — judgement without 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Practitioner unease sits below emergency-service thresholds yet above comfort with simple reassurance.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Autonomy supports continuing exploratory work; duty of care questions whether minimisation is being colluded with.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Insisting on GP contact now might rupture therapy; deferring might leave medical risk unassessed.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Two clinicians could disagree on timing; you still choose an action before the session ends and record unknowns explicitly.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Michael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integrate bereavement, withdrawal, functional change, and the contradictory future hint—stating what supports lower immediate risk and what keeps escalation on the table.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act now (for example insist on GP contact or boundary shift) or hold and contract—and what would flip your choice overnight?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Michael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outline use of the next four sessions if he continues, and one supervision question separating your anxiety from his data.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Hold uncertainty while acting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Uncertainty does not remove duty to decide: you choose outreach level, frequency, documentation, and consultation on incomplete data.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Acting can mean a safety plan, GP encouragement, or family contact with consent—not only emergency services.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Waiting with a clear review date differs from passive drift; both should be explicit in notes.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Supervision as containment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Supervision holds uncertainty that cannot be fully processed in the hour with the client.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It supports proportionate risk decisions and challenges both rescue and avoidance pulls.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It is a professional requirement in most UK training and practice frameworks, not an optional extra when anxious.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Hold meaning and risk together across the weekend’s cases without collapsing into either pure pathology or pure optimism.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Recognise limits of the counselling role relative to medicine, statutory services, and employer duties.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Decision-making, documentation, and supervision together form ethical practice—not intuition alone.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Closing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 short period of quiet consolidation before leaving can support integration of dense risk and formulation material from the weekend.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Structured peer checkout is optional in many cohorts; psychological safety includes the right not to disclose personal material.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Continued personal activation after risk-focused teaching is a common response; programmes usually signpost pastoral care and supervision rather than large-group therapeutic processing.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Nelson, J.E. (1994) Healing the split: Integrating spirit into our understanding of the mentally ill. Albany, NY: State University of New York Press.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Firman, J. and Gila, A. (2002) Psychosynthesis: A psychology of the spirit. Albany, NY: State University of New York Press.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Firman, J. and Gila, A. (1997) The primal wound: A transpersonal view of trauma, addiction, and growth. Albany, NY: State University of New York Press.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Grof, S. and Grof, C. (eds) (1989) Spiritual emergency: When personal transformation becomes a crisis. [Publication details to confirm.]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Clarke, I. (ed.) (2001) Psychosis and spirituality: Exploring the new frontier. [Publication details to confirm.]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Clarke, I. (ed.) (2010) Psychosis and spirituality: Consolidating the new paradigm. [Publication details to confirm.]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5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16</cp:revision>
  <dcterms:created xsi:type="dcterms:W3CDTF">2020-02-24T12:13:07Z</dcterms:created>
  <dcterms:modified xsi:type="dcterms:W3CDTF">2026-04-10T06:20:41Z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