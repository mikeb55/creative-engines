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387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66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026" y="1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516" y="4474399"/>
            <a:ext cx="5607368" cy="3660150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026" y="8829755"/>
            <a:ext cx="3037787" cy="46664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delivery version</a:t>
            </a:r>
          </a:p>
          <a:p>
            <a:r>
              <a:t>Template aligned</a:t>
            </a:r>
          </a:p>
          <a:p>
            <a:r>
              <a:t>Full teaching + delivery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 fear</a:t>
            </a:r>
          </a:p>
          <a:p>
            <a:r>
              <a:t>Build thinking</a:t>
            </a:r>
          </a:p>
          <a:p>
            <a:r>
              <a:t>Set tone clearly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'You are not here to get it right, you are here to think clearly'</a:t>
            </a:r>
          </a:p>
          <a:p>
            <a:r>
              <a:t>Name anxiety explicitly – this lowers it</a:t>
            </a:r>
          </a:p>
          <a:p>
            <a:r>
              <a:t>Set expectation: uncertainty is normal</a:t>
            </a:r>
          </a:p>
          <a:p>
            <a:r>
              <a:t>Keep pace slow at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'Diagnosis is a tool, not a truth'</a:t>
            </a:r>
          </a:p>
          <a:p>
            <a:r>
              <a:t>Give real example of referral language</a:t>
            </a:r>
          </a:p>
          <a:p>
            <a:r>
              <a:t>Challenge both rejection and over-reliance</a:t>
            </a:r>
          </a:p>
          <a:p>
            <a:r>
              <a:t>Keep grounded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'The loudest client is not always the most risky'</a:t>
            </a:r>
          </a:p>
          <a:p>
            <a:r>
              <a:t>Give contrasting example</a:t>
            </a:r>
          </a:p>
          <a:p>
            <a:r>
              <a:t>Normalise discomfort asking about suicide</a:t>
            </a:r>
          </a:p>
          <a:p>
            <a:r>
              <a:t>Prepare them for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slowly – let it land</a:t>
            </a:r>
          </a:p>
          <a:p>
            <a:r>
              <a:t>Do NOT interpret immediately</a:t>
            </a:r>
          </a:p>
          <a:p>
            <a:r>
              <a:t>Watch for rescuing responses</a:t>
            </a:r>
          </a:p>
          <a:p>
            <a:r>
              <a:t>Let silence do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'Be specific – no vague answers'</a:t>
            </a:r>
          </a:p>
          <a:p>
            <a:r>
              <a:t>Push difference between meaning vs risk</a:t>
            </a:r>
          </a:p>
          <a:p>
            <a:r>
              <a:t>Challenge reassurance</a:t>
            </a:r>
          </a:p>
          <a:p>
            <a:r>
              <a:t>Bring back to safety repeatedly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'This is not meaningless – but it is also not safe yet'</a:t>
            </a:r>
          </a:p>
          <a:p>
            <a:r>
              <a:t>Reference Nelson without over-explaining</a:t>
            </a:r>
          </a:p>
          <a:p>
            <a:r>
              <a:t>Warn against romanticising crisis</a:t>
            </a:r>
          </a:p>
          <a:p>
            <a:r>
              <a:t>Anchor in stabilisation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Neurodiversity</a:t>
            </a:r>
          </a:p>
          <a:p>
            <a:r>
              <a:t>Misinterpretation</a:t>
            </a:r>
          </a:p>
          <a:p>
            <a:r>
              <a:t>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'Functioning does not mean coping'</a:t>
            </a:r>
          </a:p>
          <a:p>
            <a:r>
              <a:t>Challenge unconscious bias directly</a:t>
            </a:r>
          </a:p>
          <a:p>
            <a:r>
              <a:t>Use real-world examples</a:t>
            </a:r>
          </a:p>
          <a:p>
            <a:r>
              <a:t>Keep clinical, not ideological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'Do not rush to ADHD'</a:t>
            </a:r>
          </a:p>
          <a:p>
            <a:r>
              <a:t>Bring in social and economic context</a:t>
            </a:r>
          </a:p>
          <a:p>
            <a:r>
              <a:t>Highlight shame as key factor</a:t>
            </a:r>
          </a:p>
          <a:p>
            <a:r>
              <a:t>Hold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beyond labels</a:t>
            </a:r>
          </a:p>
          <a:p>
            <a:r>
              <a:t>Encourage disagreement</a:t>
            </a:r>
          </a:p>
          <a:p>
            <a:r>
              <a:t>Say: 'What would actually help this client tomorrow?'</a:t>
            </a:r>
          </a:p>
          <a:p>
            <a:r>
              <a:t>Bring back to practical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Trauma</a:t>
            </a:r>
          </a:p>
          <a:p>
            <a:r>
              <a:t>Dissociation</a:t>
            </a:r>
          </a:p>
          <a:p>
            <a:r>
              <a:t>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'Not everything should be opened'</a:t>
            </a:r>
          </a:p>
          <a:p>
            <a:r>
              <a:t>Use simple language</a:t>
            </a:r>
          </a:p>
          <a:p>
            <a:r>
              <a:t>Link to lived experience</a:t>
            </a:r>
          </a:p>
          <a:p>
            <a:r>
              <a:t>Emphasise pacing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discomfort sit</a:t>
            </a:r>
          </a:p>
          <a:p>
            <a:r>
              <a:t>Do not rescue too quickly</a:t>
            </a:r>
          </a:p>
          <a:p>
            <a:r>
              <a:t>Observe anxiety in group</a:t>
            </a:r>
          </a:p>
          <a:p>
            <a:r>
              <a:t>Stay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Force decision-making</a:t>
            </a:r>
          </a:p>
          <a:p>
            <a:r>
              <a:t>Reject vague responses</a:t>
            </a:r>
          </a:p>
          <a:p>
            <a:r>
              <a:t>Say: 'You have to choose'</a:t>
            </a:r>
          </a:p>
          <a:p>
            <a:r>
              <a:t>Highlight responsibility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Drop this mid discussion</a:t>
            </a:r>
          </a:p>
          <a:p>
            <a:r>
              <a:t>Watch shift in energy</a:t>
            </a:r>
          </a:p>
          <a:p>
            <a:r>
              <a:t>Push re-evaluation</a:t>
            </a:r>
          </a:p>
          <a:p>
            <a:r>
              <a:t>Highlight escalation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</a:t>
            </a:r>
          </a:p>
          <a:p>
            <a:r>
              <a:t>Ethics</a:t>
            </a:r>
          </a:p>
          <a:p>
            <a:r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'This is where it becomes real'</a:t>
            </a:r>
          </a:p>
          <a:p>
            <a:r>
              <a:t>Let dilemma land</a:t>
            </a:r>
          </a:p>
          <a:p>
            <a:r>
              <a:t>Avoid solving quickly</a:t>
            </a:r>
          </a:p>
          <a:p>
            <a:r>
              <a:t>Focus on responsibility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Push for specifics</a:t>
            </a:r>
          </a:p>
          <a:p>
            <a:r>
              <a:t>Say: 'What exactly would you do after this session?'</a:t>
            </a:r>
          </a:p>
          <a:p>
            <a:r>
              <a:t>Highlight supervision</a:t>
            </a:r>
          </a:p>
          <a:p>
            <a:r>
              <a:t>Avoid generalities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slow</a:t>
            </a:r>
          </a:p>
          <a:p>
            <a:r>
              <a:t>Encourage empathy</a:t>
            </a:r>
          </a:p>
          <a:p>
            <a:r>
              <a:t>Avoid pathologising</a:t>
            </a:r>
          </a:p>
          <a:p>
            <a:r>
              <a:t>Notice subtle cues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Increase complexity</a:t>
            </a:r>
          </a:p>
          <a:p>
            <a:r>
              <a:t>Say: 'What are you noticing now?'</a:t>
            </a:r>
          </a:p>
          <a:p>
            <a:r>
              <a:t>Encourage formulation</a:t>
            </a:r>
          </a:p>
          <a:p>
            <a:r>
              <a:t>Hold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'Now you have to decide'</a:t>
            </a:r>
          </a:p>
          <a:p>
            <a:r>
              <a:t>Do not resolve for them</a:t>
            </a:r>
          </a:p>
          <a:p>
            <a:r>
              <a:t>Push responsibility</a:t>
            </a:r>
          </a:p>
          <a:p>
            <a:r>
              <a:t>Hold discomfort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together whole weekend</a:t>
            </a:r>
          </a:p>
          <a:p>
            <a:r>
              <a:t>Say: 'This is the work'</a:t>
            </a:r>
          </a:p>
          <a:p>
            <a:r>
              <a:t>Highlight boundaries</a:t>
            </a:r>
          </a:p>
          <a:p>
            <a:r>
              <a:t>End with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V2.9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 this weekend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fear → thinking</a:t>
            </a:r>
          </a:p>
          <a:p>
            <a:r>
              <a:t>Understanding without reducing the person</a:t>
            </a:r>
          </a:p>
          <a:p>
            <a:r>
              <a:t>Working safely with complexity</a:t>
            </a:r>
          </a:p>
          <a:p>
            <a:r>
              <a:t>Psychosynthesis as a clinical 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 – working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language, not identity</a:t>
            </a:r>
          </a:p>
          <a:p>
            <a:r>
              <a:t>Used across systems (GP / psychiatry)</a:t>
            </a:r>
          </a:p>
          <a:p>
            <a:r>
              <a:t>Supports communication and risk awareness</a:t>
            </a:r>
          </a:p>
          <a:p>
            <a:r>
              <a:t>Never the whole person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– what people get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Confusing intensity with danger</a:t>
            </a:r>
          </a:p>
          <a:p>
            <a:r>
              <a:t>Missing quiet or contained risk</a:t>
            </a:r>
          </a:p>
          <a:p>
            <a:r>
              <a:t>Over-pathologising difference</a:t>
            </a:r>
          </a:p>
          <a:p>
            <a:r>
              <a:t>Avoiding direct questions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confusion and distress</a:t>
            </a:r>
          </a:p>
          <a:p>
            <a:r>
              <a:t>Baby feels unreal / not hers</a:t>
            </a:r>
          </a:p>
          <a:p>
            <a:r>
              <a:t>Severe sleep deprivation</a:t>
            </a:r>
          </a:p>
          <a:p>
            <a:r>
              <a:t>Fear of harming child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happening psychologically?</a:t>
            </a:r>
          </a:p>
          <a:p>
            <a:r>
              <a:t>What concerns you clinically?</a:t>
            </a:r>
          </a:p>
          <a:p>
            <a:r>
              <a:t>What would you do first?</a:t>
            </a:r>
          </a:p>
          <a:p>
            <a:r>
              <a:t>What would you avoid doing?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Psychosynthesis lens – the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 of experience</a:t>
            </a:r>
          </a:p>
          <a:p>
            <a:r>
              <a:t>Loosening of boundaries</a:t>
            </a:r>
          </a:p>
          <a:p>
            <a:r>
              <a:t>Overwhelming material emerging</a:t>
            </a:r>
          </a:p>
          <a:p>
            <a:r>
              <a:t>Requires containment before exploration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– beyond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in processing and regulation</a:t>
            </a:r>
          </a:p>
          <a:p>
            <a:r>
              <a:t>Masking as adaptive survival strategy</a:t>
            </a:r>
          </a:p>
          <a:p>
            <a:r>
              <a:t>Sensory overwhelm is real</a:t>
            </a:r>
          </a:p>
          <a:p>
            <a:r>
              <a:t>Overlap with trauma and attachment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parent, chronic disorganisation</a:t>
            </a:r>
          </a:p>
          <a:p>
            <a:r>
              <a:t>Executive dysfunction, missed deadlines</a:t>
            </a:r>
          </a:p>
          <a:p>
            <a:r>
              <a:t>Financial pressure, housing risk</a:t>
            </a:r>
          </a:p>
          <a:p>
            <a:r>
              <a:t>Self-critical and ashamed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might be misread as pathology?</a:t>
            </a:r>
          </a:p>
          <a:p>
            <a:r>
              <a:t>What might be adaptive?</a:t>
            </a:r>
          </a:p>
          <a:p>
            <a:r>
              <a:t>What are the real risks?</a:t>
            </a:r>
          </a:p>
          <a:p>
            <a:r>
              <a:t>What support is actually needed?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and the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Trauma is held in the body</a:t>
            </a:r>
          </a:p>
          <a:p>
            <a:r>
              <a:t>Window of tolerance matters</a:t>
            </a:r>
          </a:p>
          <a:p>
            <a:r>
              <a:t>Dissociation as protection</a:t>
            </a:r>
          </a:p>
          <a:p>
            <a:r>
              <a:t>Therapy can destabilise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 increasing</a:t>
            </a:r>
          </a:p>
          <a:p>
            <a:r>
              <a:t>Dissociation in sessions</a:t>
            </a:r>
          </a:p>
          <a:p>
            <a:r>
              <a:t>Academic + family pressure</a:t>
            </a:r>
          </a:p>
          <a:p>
            <a:r>
              <a:t>Ambivalent about help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concerns you most?</a:t>
            </a:r>
          </a:p>
          <a:p>
            <a:r>
              <a:t>What would you do next?</a:t>
            </a:r>
          </a:p>
          <a:p>
            <a:r>
              <a:t>Do you escalate or continue?</a:t>
            </a:r>
          </a:p>
          <a:p>
            <a:r>
              <a:t>What are the risks if wrong?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INFORMATION –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last session</a:t>
            </a:r>
          </a:p>
          <a:p>
            <a:r>
              <a:t>Dissociation lasting hours</a:t>
            </a:r>
          </a:p>
          <a:p>
            <a:r>
              <a:t>Increasing isolation</a:t>
            </a:r>
          </a:p>
          <a:p>
            <a:r>
              <a:t>Loss of trust in self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Stockpiling medication</a:t>
            </a:r>
          </a:p>
          <a:p>
            <a:r>
              <a:t>High stress and pressure</a:t>
            </a:r>
          </a:p>
          <a:p>
            <a:r>
              <a:t>History of trauma</a:t>
            </a:r>
          </a:p>
          <a:p>
            <a:r>
              <a:t>Feels trapped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–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you continue or escalate?</a:t>
            </a:r>
          </a:p>
          <a:p>
            <a:r>
              <a:t>What immediate action?</a:t>
            </a:r>
          </a:p>
          <a:p>
            <a:r>
              <a:t>What would you document?</a:t>
            </a:r>
          </a:p>
          <a:p>
            <a:r>
              <a:t>What support do you seek?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Case Study: ‘Michael’ –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Grief and isolation</a:t>
            </a:r>
          </a:p>
          <a:p>
            <a:r>
              <a:t>Possible neurodivergence</a:t>
            </a:r>
          </a:p>
          <a:p>
            <a:r>
              <a:t>Relational distance</a:t>
            </a:r>
          </a:p>
          <a:p>
            <a:r>
              <a:t>Regret and withdrawal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withdrawal</a:t>
            </a:r>
          </a:p>
          <a:p>
            <a:r>
              <a:t>Family tension emerging</a:t>
            </a:r>
          </a:p>
          <a:p>
            <a:r>
              <a:t>Rigid behaviour patterns</a:t>
            </a:r>
          </a:p>
          <a:p>
            <a:r>
              <a:t>Function declining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Refuses external support</a:t>
            </a:r>
          </a:p>
          <a:p>
            <a:r>
              <a:t>Safeguarding concerns emerging</a:t>
            </a:r>
          </a:p>
          <a:p>
            <a:r>
              <a:t>Therapist feels pressure</a:t>
            </a:r>
          </a:p>
          <a:p>
            <a:r>
              <a:t>Risk unclear but present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 – ‘Michael’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your role?</a:t>
            </a:r>
          </a:p>
          <a:p>
            <a:r>
              <a:t>Where are your limits?</a:t>
            </a:r>
          </a:p>
          <a:p>
            <a:r>
              <a:t>What do you do next?</a:t>
            </a:r>
          </a:p>
          <a:p>
            <a:r>
              <a:t>How do you hold meaning AND risk?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A94D02-9B44-414A-80CB-48DB080080D6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a1fa2a2e-ccb8-4b97-81d1-52fad927bd6d"/>
    <ds:schemaRef ds:uri="http://schemas.microsoft.com/office/infopath/2007/PartnerControls"/>
    <ds:schemaRef ds:uri="http://schemas.openxmlformats.org/package/2006/metadata/core-properties"/>
    <ds:schemaRef ds:uri="6904e643-86ad-4f5e-a7f4-4b2e1f854ed1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846</Words>
  <Application>Microsoft Office PowerPoint</Application>
  <PresentationFormat>Widescreen</PresentationFormat>
  <Paragraphs>193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Psychopathology and Synthesis – V2.9</vt:lpstr>
      <vt:lpstr>DAY 1 – AM</vt:lpstr>
      <vt:lpstr>What we are doing this weekend</vt:lpstr>
      <vt:lpstr>Psychopathology – working definition</vt:lpstr>
      <vt:lpstr>Risk – what people get wrong</vt:lpstr>
      <vt:lpstr>Risk Case Study: ‘Terri’</vt:lpstr>
      <vt:lpstr>Task – ‘Terri’</vt:lpstr>
      <vt:lpstr>Psychosynthesis lens – the split</vt:lpstr>
      <vt:lpstr>DAY 1 – PM</vt:lpstr>
      <vt:lpstr>Neurodiversity – beyond basics</vt:lpstr>
      <vt:lpstr>Neurodiversity Case Study: ‘Ousmane’</vt:lpstr>
      <vt:lpstr>Task – ‘Ousmane’</vt:lpstr>
      <vt:lpstr>DAY 2 – AM</vt:lpstr>
      <vt:lpstr>Trauma and the nervous system</vt:lpstr>
      <vt:lpstr>Trauma Scenario: ‘Emily’</vt:lpstr>
      <vt:lpstr>Task – ‘Emily’</vt:lpstr>
      <vt:lpstr>NEW INFORMATION – ‘Emily’</vt:lpstr>
      <vt:lpstr>DAY 2 – PM</vt:lpstr>
      <vt:lpstr>Risk Case Study: ‘David’</vt:lpstr>
      <vt:lpstr>Task – ‘David’</vt:lpstr>
      <vt:lpstr>Integration Case Study: ‘Michael’ – Stage 1</vt:lpstr>
      <vt:lpstr>Stage 2 – ‘Michael’</vt:lpstr>
      <vt:lpstr>Stage 3 – ‘Michael’</vt:lpstr>
      <vt:lpstr>Final Integration – ‘Michael’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15</cp:revision>
  <cp:lastPrinted>2026-04-05T18:43:18Z</cp:lastPrinted>
  <dcterms:created xsi:type="dcterms:W3CDTF">2020-02-24T12:13:07Z</dcterms:created>
  <dcterms:modified xsi:type="dcterms:W3CDTF">2026-04-05T22:21:18Z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