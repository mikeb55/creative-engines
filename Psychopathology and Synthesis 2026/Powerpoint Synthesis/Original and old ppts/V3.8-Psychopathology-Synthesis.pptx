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387" r:id="rId5"/>
    <p:sldId id="257" r:id="rId6"/>
    <p:sldId id="388" r:id="rId7"/>
    <p:sldId id="389" r:id="rId14"/>
    <p:sldId id="390" r:id="rId15"/>
    <p:sldId id="391" r:id="rId16"/>
    <p:sldId id="392" r:id="rId17"/>
    <p:sldId id="393" r:id="rId18"/>
    <p:sldId id="394" r:id="rId19"/>
    <p:sldId id="395" r:id="rId20"/>
    <p:sldId id="396" r:id="rId21"/>
    <p:sldId id="397" r:id="rId22"/>
    <p:sldId id="398" r:id="rId23"/>
    <p:sldId id="399" r:id="rId24"/>
    <p:sldId id="400" r:id="rId25"/>
    <p:sldId id="401" r:id="rId26"/>
    <p:sldId id="402" r:id="rId27"/>
    <p:sldId id="403" r:id="rId28"/>
    <p:sldId id="404" r:id="rId29"/>
    <p:sldId id="405" r:id="rId30"/>
    <p:sldId id="406" r:id="rId31"/>
    <p:sldId id="407" r:id="rId32"/>
    <p:sldId id="408" r:id="rId33"/>
    <p:sldId id="409" r:id="rId34"/>
    <p:sldId id="410" r:id="rId35"/>
    <p:sldId id="411" r:id="rId36"/>
    <p:sldId id="412" r:id="rId37"/>
    <p:sldId id="413" r:id="rId38"/>
    <p:sldId id="414" r:id="rId39"/>
    <p:sldId id="415" r:id="rId40"/>
    <p:sldId id="416" r:id="rId41"/>
  </p:sldIdLst>
  <p:sldSz cx="12192000" cy="6858000"/>
  <p:notesSz cx="7011988" cy="92979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58287E3-2986-4574-B527-35BDA0CFDEEE}">
          <p14:sldIdLst>
            <p14:sldId id="387"/>
            <p14:sldId id="257"/>
            <p14:sldId id="3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9D88"/>
    <a:srgbClr val="2A60B6"/>
    <a:srgbClr val="FFFFFF"/>
    <a:srgbClr val="95B1B5"/>
    <a:srgbClr val="8C8C8C"/>
    <a:srgbClr val="888888"/>
    <a:srgbClr val="5FB9A4"/>
    <a:srgbClr val="557377"/>
    <a:srgbClr val="557777"/>
    <a:srgbClr val="5EBA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ystal Joseph" userId="a32e985e-e558-4691-99f3-98a93d3ab4d5" providerId="ADAL" clId="{A649D378-B43F-4D4F-A628-ADFD8851EF70}"/>
    <pc:docChg chg="modSld">
      <pc:chgData name="Krystal Joseph" userId="a32e985e-e558-4691-99f3-98a93d3ab4d5" providerId="ADAL" clId="{A649D378-B43F-4D4F-A628-ADFD8851EF70}" dt="2023-03-09T14:49:16.128" v="9" actId="20577"/>
      <pc:docMkLst>
        <pc:docMk/>
      </pc:docMkLst>
      <pc:sldChg chg="modSp mod">
        <pc:chgData name="Krystal Joseph" userId="a32e985e-e558-4691-99f3-98a93d3ab4d5" providerId="ADAL" clId="{A649D378-B43F-4D4F-A628-ADFD8851EF70}" dt="2023-03-09T14:49:16.128" v="9" actId="20577"/>
        <pc:sldMkLst>
          <pc:docMk/>
          <pc:sldMk cId="654933530" sldId="387"/>
        </pc:sldMkLst>
        <pc:spChg chg="mod">
          <ac:chgData name="Krystal Joseph" userId="a32e985e-e558-4691-99f3-98a93d3ab4d5" providerId="ADAL" clId="{A649D378-B43F-4D4F-A628-ADFD8851EF70}" dt="2023-03-09T14:49:16.128" v="9" actId="20577"/>
          <ac:spMkLst>
            <pc:docMk/>
            <pc:sldMk cId="654933530" sldId="387"/>
            <ac:spMk id="3" creationId="{74419044-4AA4-432B-9FC2-34A161AC00F5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925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94994-DAB8-4940-A2A2-3EAC47BAACED}" type="datetimeFigureOut">
              <a:rPr lang="en-GB" smtClean="0"/>
              <a:pPr/>
              <a:t>05/04/2026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80062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5163"/>
            <a:ext cx="5608638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1263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925" y="8831263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CD773-3630-428E-B291-DA887A47BBA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178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170146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2F261-5DB4-43E8-8834-FCB5C5BC8F2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33E443-2966-4549-B5C3-2BC2D30BDE2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55337-AE1A-4C02-B306-3A9BC6ABCA0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DEA915C-C39C-4C4B-ADB5-FC0359F23E6C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83295-2E27-4F72-8F10-2F7E033B6C3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0C271-BAF6-4A5C-B32C-B8397327DC8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74F9AE-8261-40FE-A2C9-68A1766884F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2487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266700" y="6248400"/>
            <a:ext cx="11925299" cy="6095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2883A5-5187-47FE-9BD2-305FAC8150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27030"/>
            <a:ext cx="10515600" cy="682620"/>
          </a:xfrm>
        </p:spPr>
        <p:txBody>
          <a:bodyPr>
            <a:normAutofit/>
          </a:bodyPr>
          <a:lstStyle>
            <a:lvl1pPr>
              <a:defRPr sz="3200" b="1" cap="all" baseline="0">
                <a:solidFill>
                  <a:srgbClr val="557377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5053C-DF56-4F89-8337-E3C322DD643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0B472-8DDE-405D-B26E-42BF8B5D83F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B61A7EB-551C-401B-A4D5-1BAFBFE20AD1}" type="slidenum">
              <a:rPr/>
              <a:pPr lvl="0"/>
              <a:t>‹#›</a:t>
            </a:fld>
            <a:endParaRPr lang="en-GB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2" y="6248401"/>
            <a:ext cx="180022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93" y="6287889"/>
            <a:ext cx="1987132" cy="532011"/>
          </a:xfrm>
          <a:prstGeom prst="rect">
            <a:avLst/>
          </a:prstGeom>
        </p:spPr>
      </p:pic>
      <p:cxnSp>
        <p:nvCxnSpPr>
          <p:cNvPr id="11" name="Connecteur droit 10"/>
          <p:cNvCxnSpPr/>
          <p:nvPr userDrawn="1"/>
        </p:nvCxnSpPr>
        <p:spPr>
          <a:xfrm>
            <a:off x="962025" y="971550"/>
            <a:ext cx="10487025" cy="158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3986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51DAD-9CD4-4BBE-8429-137C00E466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18995-B27B-4793-BAD1-2C9BFE3EF6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C0184-2100-4984-8807-054D4726775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B2067C4-7861-4533-B559-C342B56AC70C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D5393-AAE3-4A19-8D5D-E7BED04E30E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069BD-390E-4CCB-B310-0A8DCE7551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068F0EE-A232-4DBD-8705-F503FFB57731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930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E9204-8610-46B9-887E-B947D2FA898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1B7BD-20EC-4C99-882C-2422A143AB3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2CB975-81E8-48B5-B943-E0DA48308ED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10623-4A31-400E-BE07-8BA1D7A823B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F2F22CE-8A9E-4D2F-9961-356DA329C082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1885-DEE9-438E-865E-E426B2BD045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3E540-FC36-4FD5-917A-F93AE53B6B0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4515B16-D461-4A99-B7A5-3793CBAF828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334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775BA-88D7-4D61-AAFD-14D0653FE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7ACDF-339E-42B1-9631-E2DF4BE744D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2122EE-06E2-4BB0-A6B4-1A3D15D172B1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3A3B20-207B-4485-BE11-E5A264E47207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C480B-C99C-47AF-9CD0-1D2ABCE5D62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8E3E2F-0674-4AD1-ACCD-CE252013E95F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395C6-DF55-4747-B4E2-E6BC10535BA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D023C9-54C8-49E9-B991-FA3F695AF88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CBEADC3-BE14-4C3D-9567-0EA9B5D00DB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6672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00" name="Picture 4" descr="Image result for nature images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" y="2462211"/>
            <a:ext cx="3790950" cy="2843213"/>
          </a:xfrm>
          <a:prstGeom prst="rect">
            <a:avLst/>
          </a:prstGeom>
          <a:noFill/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3772317" y="2457450"/>
            <a:ext cx="8419684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2527571"/>
            <a:ext cx="2362200" cy="63242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7624" y="3184529"/>
            <a:ext cx="8334375" cy="1325559"/>
          </a:xfrm>
        </p:spPr>
        <p:txBody>
          <a:bodyPr>
            <a:normAutofit/>
          </a:bodyPr>
          <a:lstStyle>
            <a:lvl1pPr algn="ctr"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048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DF3793-BAE9-437B-8A5F-6E09982CB6A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0D4A11C-E10E-49D1-A457-515A04D0F282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78CD3-AB8B-4EC5-BEE9-2EE84F0510F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B974E-1CDA-44ED-82C2-6EF9B190783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411E039-3FA5-4407-B5D0-8ECF49CB1CEA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28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48A7-5981-4AE6-BB17-5B3A5323F4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FEEC8-43C1-4FD3-9822-A47AFB5A199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75489-DC33-4317-A0B7-56C3CCB8962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4B181-C3BA-4BE8-9667-4C962D067AB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D9C971A-763E-4F48-B4F5-8F7E5D6086B5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29EA0-058D-4943-8CA2-DC48738DA78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3CBCAB-A901-4FE3-9429-DE37954EB7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C845A25-067C-4C6C-AAF2-4947761BA849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104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399E-40F9-4233-B2E7-107AC26356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E9FF3C-849B-42DF-B84C-06C4F05C8B5C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GB" sz="3200"/>
            </a:lvl1pPr>
          </a:lstStyle>
          <a:p>
            <a:pPr lvl="0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1FB28-EBF3-4E70-8FCB-65AD2F5E58E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7F9DA-3B34-45DD-B70E-04C6D097674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2A64458-BA3C-43D3-9C6A-CEF90CEA7337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EFF4D-8480-4A47-AE1D-525350D6885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EA910-1397-46CA-A617-25E9BA0B673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2F44FA6-125C-4132-9364-484AD954AC1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001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55D5E-B3E4-4271-AEFC-4AB20C6CE1E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A9F0E-15E6-42D0-8660-02A75B7060E2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7390C-4229-4707-8A9A-AE616AFCD60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78F5972-73BF-482C-A91D-4486B02DBB56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44D30-4F3F-4A7D-857D-B0147A845FA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100AC-2A01-45FA-87B5-42A0B51D96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DFDA395-54BA-4872-B1D3-5855F17000A0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060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514128-6621-43DB-B378-4B7F3AF45067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37178-F018-43A8-843F-D46AA415FEB9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5094D-33E2-498F-840A-EAEA08DBC39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0B2691A-2C78-45D8-858E-8A76E2650E62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DB88E-E6FA-4686-8583-8EE8174E9A7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3A89-AE74-4923-9790-162ECA03E61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085F833-0DC4-4798-B2EF-1D9462A98302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121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CE82F5-3B00-49A9-B251-8641D41CE8A5}"/>
              </a:ext>
            </a:extLst>
          </p:cNvPr>
          <p:cNvSpPr txBox="1">
            <a:spLocks noGrp="1"/>
          </p:cNvSpPr>
          <p:nvPr>
            <p:ph/>
          </p:nvPr>
        </p:nvSpPr>
        <p:spPr>
          <a:xfrm>
            <a:off x="838203" y="365129"/>
            <a:ext cx="10515600" cy="581183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E7F09-D487-450A-8640-0B59DDFBE67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8625A3D6-5615-45EB-8954-BD8696AA0EC8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0894E-A4B5-4221-9E72-12566E84DC8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D2A358-E568-4E2A-8059-0FFCF1EAD34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B7B76B32-4E1F-4575-B80A-BB3C3D46344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5303553"/>
      </p:ext>
    </p:extLst>
  </p:cSld>
  <p:clrMapOvr>
    <a:masterClrMapping/>
  </p:clrMapOvr>
  <p:hf sldNum="0"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E2D462-DF7F-477A-8891-78F2F4B784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6C42B-A4BC-432A-82CE-0BCE64517F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7BBA3-05B2-49E6-9F3B-D31C7F355E4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D4FCDF70-BCC5-4DC0-AC0C-DC917E5283C7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A7C8E-B7C3-43FB-90D9-4822EB07268B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450B8-12DC-46CC-A793-97B22BE0A8F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F336CFE9-663B-45C2-8E6E-F62CF2F2E0A0}" type="slidenum">
              <a:rPr/>
              <a:pPr lvl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microsoft.com/office/2007/relationships/hdphoto" Target="../media/hdphoto1.wdp"/><Relationship Id="rId6" Type="http://schemas.openxmlformats.org/officeDocument/2006/relationships/image" Target="../media/image3.png"/><Relationship Id="rId7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3690628" y="-1"/>
            <a:ext cx="8501372" cy="404634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1AD365-F829-4BC6-BCC7-C4FF0F5758B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672013" y="817124"/>
            <a:ext cx="7516939" cy="2462361"/>
          </a:xfrm>
        </p:spPr>
        <p:txBody>
          <a:bodyPr anchor="ctr" anchorCtr="0">
            <a:normAutofit/>
          </a:bodyPr>
          <a:lstStyle/>
          <a:p>
            <a:pPr lvl="0"/>
            <a:endParaRPr lang="en-GB" sz="28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4197244" y="4046349"/>
            <a:ext cx="7994755" cy="802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4419044-4AA4-432B-9FC2-34A161AC00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17166" y="4198678"/>
            <a:ext cx="7734926" cy="530352"/>
          </a:xfrm>
        </p:spPr>
        <p:txBody>
          <a:bodyPr>
            <a:normAutofit/>
          </a:bodyPr>
          <a:lstStyle/>
          <a:p>
            <a:pPr lvl="0"/>
            <a:r>
              <a:rPr lang="en-US" b="1">
                <a:solidFill>
                  <a:schemeClr val="bg1"/>
                </a:solidFill>
              </a:rPr>
              <a:t>March 2023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6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528" y="5074868"/>
            <a:ext cx="5816182" cy="15571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564768-CF9A-47CD-B0C3-884A7AE0F2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457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933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F5989-7B2D-4A34-A5A0-07A23F5071B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>
                <a:solidFill>
                  <a:srgbClr val="1E9399"/>
                </a:solidFill>
              </a:rPr>
              <a:t> </a:t>
            </a:r>
            <a:r>
              <a:rPr lang="en-GB" dirty="0">
                <a:solidFill>
                  <a:srgbClr val="1E9399"/>
                </a:solidFill>
              </a:rPr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BE728-B8DB-4224-9532-73213A8FCBD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243004"/>
            <a:ext cx="10515600" cy="4676775"/>
          </a:xfrm>
        </p:spPr>
        <p:txBody>
          <a:bodyPr>
            <a:noAutofit/>
          </a:bodyPr>
          <a:lstStyle/>
          <a:p>
            <a:pPr lvl="0">
              <a:lnSpc>
                <a:spcPct val="90000"/>
              </a:lnSpc>
              <a:buSzPct val="140000"/>
              <a:buFont typeface="Arial" pitchFamily="34"/>
              <a:buChar char="•"/>
            </a:pPr>
            <a:endParaRPr lang="en-GB" sz="2400" dirty="0"/>
          </a:p>
          <a:p>
            <a:pPr lvl="0">
              <a:lnSpc>
                <a:spcPct val="90000"/>
              </a:lnSpc>
              <a:buSzPct val="140000"/>
              <a:buFont typeface="Arial" pitchFamily="34"/>
              <a:buChar char="•"/>
            </a:pPr>
            <a:endParaRPr lang="en-GB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BFC544-6CDB-46EE-9E1F-D177EA3E4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8044" y="363912"/>
            <a:ext cx="2387635" cy="648071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6699F-A29A-4EE9-BE73-5F93E70F5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225A3-6994-4B55-9A03-D71B47745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345547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 – 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are doing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Psychopathology as a working language</a:t>
            </a:r>
          </a:p>
          <a:p>
            <a:r>
              <a:t>Balancing meaning with safety</a:t>
            </a:r>
          </a:p>
          <a:p>
            <a:r>
              <a:t>Working with uncertainty and complexity</a:t>
            </a:r>
          </a:p>
          <a:p>
            <a:r>
              <a:t>Psychosynthesis as a framework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– key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is dynamic and relational</a:t>
            </a:r>
          </a:p>
          <a:p>
            <a:r>
              <a:t>Intensity ≠ level of danger</a:t>
            </a:r>
          </a:p>
          <a:p>
            <a:r>
              <a:t>Quiet risk is often missed</a:t>
            </a:r>
          </a:p>
          <a:p>
            <a:r>
              <a:t>Direct enquiry is essential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"Leah"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Repeated work breakdown linked to overwhelm and anxiety</a:t>
            </a:r>
          </a:p>
          <a:p>
            <a:r>
              <a:t>Increasing withdrawal, low mood, and persistent shame</a:t>
            </a:r>
          </a:p>
          <a:p>
            <a:r>
              <a:t>Emerging risk: passive death wishes and proximity to means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Task: "Leah"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Assessment priorities and immediate risks</a:t>
            </a:r>
          </a:p>
          <a:p>
            <a:r>
              <a:t>Initial formulation (mood, anxiety, context, ND question)</a:t>
            </a:r>
          </a:p>
          <a:p>
            <a:r>
              <a:t>Plan for sessions 1–2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– Longden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Meaning and distress can co-exist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Psychosynthesis – the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Fragmentation and loss of integration</a:t>
            </a:r>
          </a:p>
          <a:p>
            <a:r>
              <a:t>Overwhelming material entering awareness</a:t>
            </a:r>
          </a:p>
          <a:p>
            <a:r>
              <a:t>Containment before exploration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BREAK – 20 MINUTES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 – PM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Neurodiversity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Difference in processing and regulation</a:t>
            </a:r>
          </a:p>
          <a:p>
            <a:r>
              <a:t>Masking and adaptation</a:t>
            </a:r>
          </a:p>
          <a:p>
            <a:r>
              <a:t>Overlap with trauma and stress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– Autism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Internal experience often invisible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'Ousmane'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difficulty and disorganisation</a:t>
            </a:r>
          </a:p>
          <a:p>
            <a:r>
              <a:t>Financial stress and housing risk</a:t>
            </a:r>
          </a:p>
          <a:p>
            <a:r>
              <a:t>High shame and misinterpretation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– 'Ousmane'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Distinguish difference from disorder</a:t>
            </a:r>
          </a:p>
          <a:p>
            <a:r>
              <a:t>Identify real risks</a:t>
            </a:r>
          </a:p>
          <a:p>
            <a:r>
              <a:t>Define practical support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LUNCH – 1 HOUR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 – 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Trauma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Held in body and nervous system</a:t>
            </a:r>
          </a:p>
          <a:p>
            <a:r>
              <a:t>Window of tolerance</a:t>
            </a:r>
          </a:p>
          <a:p>
            <a:r>
              <a:t>Dissociation as protection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'Emily'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Self-harm and dissociation</a:t>
            </a:r>
          </a:p>
          <a:p>
            <a:r>
              <a:t>Loss of time</a:t>
            </a:r>
          </a:p>
          <a:p>
            <a:r>
              <a:t>Escalating pressure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– 'Emily'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risk</a:t>
            </a:r>
          </a:p>
          <a:p>
            <a:r>
              <a:t>Next steps</a:t>
            </a:r>
          </a:p>
          <a:p>
            <a:r>
              <a:t>Escalation decisions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– Dissociation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Recognising subtle signs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Neuroplasticity (Clinical Context)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Repeated emotional experience shapes the brain</a:t>
            </a:r>
          </a:p>
          <a:p>
            <a:r>
              <a:t>Trauma and avoidance patterns become reinforced</a:t>
            </a:r>
          </a:p>
          <a:p>
            <a:r>
              <a:t>Change depends on stable, repeated relational experience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INFORMATION – 'Emily'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Missed session</a:t>
            </a:r>
          </a:p>
          <a:p>
            <a:r>
              <a:t>Extended dissociation</a:t>
            </a:r>
          </a:p>
          <a:p>
            <a:r>
              <a:t>Increasing isolation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BREAK – 20 MINUTES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 – PM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– Hearing Voices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Meaning and distress together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– Suicide conversation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Direct, calm questioning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'David'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stress and overwhelm</a:t>
            </a:r>
          </a:p>
          <a:p>
            <a:r>
              <a:t>Stockpiling medication</a:t>
            </a:r>
          </a:p>
          <a:p>
            <a:r>
              <a:t>Emerging risk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– 'David'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Escalate or continue</a:t>
            </a:r>
          </a:p>
          <a:p>
            <a:r>
              <a:t>Immediate actions</a:t>
            </a:r>
          </a:p>
          <a:p>
            <a:r>
              <a:t>Documentation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Meaning and risk</a:t>
            </a:r>
          </a:p>
          <a:p>
            <a:r>
              <a:t>Therapist limits</a:t>
            </a:r>
          </a:p>
          <a:p>
            <a:r>
              <a:t>Clear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B7715A7C83D644AC2BC87BEED320BB" ma:contentTypeVersion="17" ma:contentTypeDescription="Create a new document." ma:contentTypeScope="" ma:versionID="b579d6682cf5ec55229a1cee0ab4b119">
  <xsd:schema xmlns:xsd="http://www.w3.org/2001/XMLSchema" xmlns:xs="http://www.w3.org/2001/XMLSchema" xmlns:p="http://schemas.microsoft.com/office/2006/metadata/properties" xmlns:ns2="a1fa2a2e-ccb8-4b97-81d1-52fad927bd6d" xmlns:ns3="6904e643-86ad-4f5e-a7f4-4b2e1f854ed1" targetNamespace="http://schemas.microsoft.com/office/2006/metadata/properties" ma:root="true" ma:fieldsID="de0774a0c91f91c2ce2bb7c955de4fb5" ns2:_="" ns3:_="">
    <xsd:import namespace="a1fa2a2e-ccb8-4b97-81d1-52fad927bd6d"/>
    <xsd:import namespace="6904e643-86ad-4f5e-a7f4-4b2e1f854e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fa2a2e-ccb8-4b97-81d1-52fad927bd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50692f8-24a0-4675-95ba-921da9ffe5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04e643-86ad-4f5e-a7f4-4b2e1f854ed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e7e3d17-6130-48ab-a535-7db12c6afcfa}" ma:internalName="TaxCatchAll" ma:showField="CatchAllData" ma:web="6904e643-86ad-4f5e-a7f4-4b2e1f854ed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1fa2a2e-ccb8-4b97-81d1-52fad927bd6d">
      <Terms xmlns="http://schemas.microsoft.com/office/infopath/2007/PartnerControls"/>
    </lcf76f155ced4ddcb4097134ff3c332f>
    <TaxCatchAll xmlns="6904e643-86ad-4f5e-a7f4-4b2e1f854ed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04BD344-58C5-4DFF-96FA-8624227E33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fa2a2e-ccb8-4b97-81d1-52fad927bd6d"/>
    <ds:schemaRef ds:uri="6904e643-86ad-4f5e-a7f4-4b2e1f854e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5A94D02-9B44-414A-80CB-48DB080080D6}">
  <ds:schemaRefs>
    <ds:schemaRef ds:uri="http://schemas.microsoft.com/office/2006/metadata/properties"/>
    <ds:schemaRef ds:uri="http://schemas.microsoft.com/office/infopath/2007/PartnerControls"/>
    <ds:schemaRef ds:uri="a1fa2a2e-ccb8-4b97-81d1-52fad927bd6d"/>
    <ds:schemaRef ds:uri="6904e643-86ad-4f5e-a7f4-4b2e1f854ed1"/>
  </ds:schemaRefs>
</ds:datastoreItem>
</file>

<file path=customXml/itemProps3.xml><?xml version="1.0" encoding="utf-8"?>
<ds:datastoreItem xmlns:ds="http://schemas.openxmlformats.org/officeDocument/2006/customXml" ds:itemID="{A53FDF64-1B1C-41AD-A9E4-18F02A6836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918</TotalTime>
  <Words>5</Words>
  <Application>Microsoft Office PowerPoint</Application>
  <PresentationFormat>Widescreen</PresentationFormat>
  <Paragraphs>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AND  COMMUNICATIONS -  STRATEGY &amp; PLAN</dc:title>
  <dc:creator>Heloise Proust</dc:creator>
  <cp:lastModifiedBy>Mike Bryant</cp:lastModifiedBy>
  <cp:revision>14</cp:revision>
  <dcterms:created xsi:type="dcterms:W3CDTF">2020-02-24T12:13:07Z</dcterms:created>
  <dcterms:modified xsi:type="dcterms:W3CDTF">2026-04-05T18:33:22Z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0x0101009EB7715A7C83D644AC2BC87BEED320BB</vt:lpwstr>
  </property>
  <property fmtid="{D5CDD505-2E9C-101B-9397-08002B2CF9AE}" pid="3" name="MediaServiceImageTags">
    <vt:lpwstr/>
  </property>
</Properties>
</file>