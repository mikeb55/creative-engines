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7"/>
  </p:notesMasterIdLst>
  <p:sldIdLst>
    <p:sldId id="38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30" autoAdjust="0"/>
  </p:normalViewPr>
  <p:slideViewPr>
    <p:cSldViewPr snapToGrid="0">
      <p:cViewPr varScale="1">
        <p:scale>
          <a:sx n="84" d="100"/>
          <a:sy n="84" d="100"/>
        </p:scale>
        <p:origin x="1596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Approximate teaching time per day once meditation, check-in, breaks and lunch are removed is on the order of a few hours of focused teaching—not seven full hours at the board.</a:t>
            </a:r>
            <a:br/>
            <a:r>
              <a:t>Slide labels follow the prior deck: ‘Day one — afternoon’ appears after the mid-morning break and before the lunch slide; map these blocks to your actual Saturday/Sunday clock times.</a:t>
            </a:r>
            <a:br/>
            <a:r>
              <a:t>Map content blocks: (1) framing, psychopathology, risk, Leah, psychosynthesis; (2) break; (3) neurodiversity, Ousmane, practical; (4) lunch; (5) day two opening; (6) trauma, dissociation, Emily, bridges, neuroplasticity, response; (7) break; (8) risk cases, ambiguity, integration, closing.</a:t>
            </a:r>
            <a:br/>
            <a:r>
              <a:t>Adjust to your group: experienced adults may need more discussion time, not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second-career trainees and varied prior roles.</a:t>
            </a:r>
            <a:br/>
            <a:r>
              <a:t>Invite people to connect material to prior work or caring contexts without forcing disclosure.</a:t>
            </a:r>
            <a:br/>
            <a:r>
              <a:t>If discussion runs rich, shorten a later bullet block rather than rushing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opening calm and bounded. Check-in is optional; some groups prefer brief go-round, others pair share then one or two voices to the room.</a:t>
            </a:r>
            <a:br/>
            <a:r>
              <a:t>If the material stirs shame or personal history, normalise pacing and opt-out.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from opening. State timing intention for this block before you begin (e.g. aim to break before neurodiversity).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as professional stance, not optimism. Adults respond well to “both/and.”</a:t>
            </a:r>
            <a:br/>
            <a:r>
              <a:t>Invite: where have you seen meaning and risk split in supervision or agency culture?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Discussion prompt (short): “What is one label that helped a client—and one that harmed?”</a:t>
            </a:r>
            <a:br/>
            <a:r>
              <a:t>Keep it professional; no requirement to disclose personal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Slow down here. This is competence, not drama.</a:t>
            </a:r>
            <a:br/>
            <a:r>
              <a:t>If your training has a specific risk protocol, name it without inventing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or summarise the case briefly. Leave space for affect—do not rush to ‘answers.’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discussion: bridge to psychosynthesis without preaching.</a:t>
            </a:r>
            <a:br/>
            <a:r>
              <a:t>Ask the room: where is meaning in this picture—and where is genuine risk?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Short slide. Source tone: Firman &amp; Gila on identification dynamics; Nelson on splits and integration as careful clinical work—not romantic breakdown.</a:t>
            </a:r>
            <a:br/>
            <a:r>
              <a:t>Avoid spiritual bypass: meaning never replaces safeguarding.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Thread Assagioli/Firman &amp; Gila themes already familiar to trainees.</a:t>
            </a:r>
            <a:br/>
            <a:r>
              <a:t>Pair prompt: “What would containment look like in week one with Leah?”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movement, water, quiet. No new content during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lunch return (if you use it): 2-minute re-grounding; name one focus for this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neutral, non-trivialising language. Neurodivergence is not a metaphor.</a:t>
            </a:r>
            <a:br/>
            <a:r>
              <a:t>Invite: environment and expectations as part of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Discussion: “Where does your setting punish difference?” Keep institutional critique bounded and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to psychosynthesis: context and relationship as well as inner process (Firman &amp; Gila).</a:t>
            </a:r>
            <a:br/>
            <a:r>
              <a:t>This is clinical framing—not slogans.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pacing as Leah: case first, anxiety acknowledged, then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Practical focus respects adult learners who think in systems (work, family, housing).</a:t>
            </a:r>
            <a:br/>
            <a:r>
              <a:t>Supervision hook: what would you document?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Explicitly permission ordinary interventions: reminders, scheduling, referrals, liaison.</a:t>
            </a:r>
            <a:br/>
            <a:r>
              <a:t>Psychosynthesis depth work follows stability—not instead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Protect the hour. If your Saturday continues after lunch, resume at an appropriate slide; this deck follows V3.97 order (day-one ‘PM’ block before lunch, then day two).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Day-two check-in may bring fatigue or activation. Normalise both.</a:t>
            </a:r>
            <a:br/>
            <a:r>
              <a:t>If someone is destabilised, follow PET pastoral/safeguarding practice—do not improvise therapy in the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approximate end time for this block before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Steady tone. No sensational examples.</a:t>
            </a:r>
            <a:br/>
            <a:r>
              <a:t>Firman &amp; Gila (1997) primal wound themes can inform compassion without explaining every client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Bridge to containment: do not romanticise fragmentation (Nelson; clinical psychosis/spirituality literature only where appropriate to your course).</a:t>
            </a:r>
            <a:br/>
            <a:r>
              <a:t>Invite judgement: what would you misread as ‘spacing out’?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Explicitly counter spiritual bypass. Grof spiritual emergency and Clarke volumes are background reading for extreme states—not recipes for technique.</a:t>
            </a:r>
            <a:br/>
            <a:r>
              <a:t>Stay within your competence and supervision 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Pause. Dissociation is not a spectacle. Maintain dignity in the teaching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realistic documentation and consultation culture.</a:t>
            </a:r>
            <a:br/>
            <a:r>
              <a:t>Adult trainees often carry fear of ‘getting it wrong’—name that as ethical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Firman &amp; Gila: Self-related themes without promising outcomes.</a:t>
            </a:r>
            <a:br/>
            <a:r>
              <a:t>Trauma work: respect neuroplasticity slide next—change as relational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Keeps hope grounded. Avoid bootstrapping.</a:t>
            </a:r>
            <a:br/>
            <a:r>
              <a:t>Link to day-one practical work: small repeatable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Supervision prompt: “What shifted in risk when the client felt safer?”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Day two PM will foreground risk decisions and ambiguity. Brief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cumulative load. Invite slower speech and optional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Risk teaching: clarity over drama. Follow your agency’s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invent statutory steps. Say: follow local safeguarding and emergency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Normalise</a:t>
            </a:r>
            <a:r>
              <a:rPr dirty="0"/>
              <a:t> supervision as professionalism—not admission of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Ambiguity is ordinary in mature practice. Hold the discomfort pedagogically.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Meta: anxiety in the clinician is data, not proof of danger.</a:t>
            </a:r>
            <a:br/>
            <a:r>
              <a:t>Stay bounded; this is not group therapy for the trainers.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threads: Nelson on careful integration of ‘split’ experiences; Firman &amp; Gila for spirit in psychology without losing clinical seriousness.</a:t>
            </a:r>
            <a:br/>
            <a:r>
              <a:t>Optional: mention critical medicalisation literature only if taught elsewhere—Boyle chapter details not confirmed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movement for the teaching content—not therapy.</a:t>
            </a:r>
            <a:br/>
            <a:r>
              <a:t>Invite: one commitment to supervision or consultation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short. No forced positivity.</a:t>
            </a:r>
            <a:br/>
            <a:r>
              <a:t>If time ran over, cut this before cutting safety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Harvard style where full details were provided. Grof and Clarke entries lack verified publisher/places in the materials used to build this deck—confirm against your library catalogue before citing in essays.</a:t>
            </a:r>
            <a:br>
              <a:rPr dirty="0"/>
            </a:br>
            <a:r>
              <a:rPr dirty="0"/>
              <a:t>Optional critical reading (not listed above): Boyle, M. in Coles, Keenan &amp; Diamond (eds) Madness contested (PCCS Books, Monmouth)—confirm year and pagination before use.</a:t>
            </a:r>
            <a:br>
              <a:rPr dirty="0"/>
            </a:br>
            <a:r>
              <a:rPr dirty="0"/>
              <a:t>Speaker: do not read references aloud unless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April 2026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A825BB-E379-2974-8967-FDB2E061E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2013" y="817563"/>
            <a:ext cx="7516812" cy="2462212"/>
          </a:xfrm>
        </p:spPr>
        <p:txBody>
          <a:bodyPr/>
          <a:lstStyle/>
          <a:p>
            <a:r>
              <a:rPr dirty="0"/>
              <a:t>Psychopathology &amp; synthesis</a:t>
            </a:r>
          </a:p>
        </p:txBody>
      </p:sp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Weekend rhythm &amp;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Saturday &amp; Sunday: 10:00–17:00 (UK)</a:t>
            </a:r>
          </a:p>
          <a:p>
            <a:pPr>
              <a:defRPr sz="2000"/>
            </a:pPr>
            <a:r>
              <a:rPr sz="2000"/>
              <a:t>Each day: ~15 min meditation · optional ~15 min check-in · teaching · 20 min break · lunch (often 13:00–14:00) · 20 min break</a:t>
            </a:r>
          </a:p>
          <a:p>
            <a:pPr>
              <a:defRPr sz="2000"/>
            </a:pPr>
            <a:r>
              <a:rPr sz="2000"/>
              <a:t>Facilitator task: map approximate minutes per block so teaching, breaks, lunch, and openings still fit the day.</a:t>
            </a:r>
          </a:p>
          <a:p>
            <a:pPr>
              <a:defRPr sz="2000"/>
            </a:pPr>
            <a:r>
              <a:rPr sz="2000"/>
              <a:t>Heavy material is spaced; breaks are part of ethical pacing—not optional extras.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How we learn this weekend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You bring substantial life and professional experience—this is advanced formation, not undergraduate coverage.</a:t>
            </a:r>
          </a:p>
          <a:p>
            <a:pPr>
              <a:defRPr sz="2000"/>
            </a:pPr>
            <a:r>
              <a:rPr sz="2000"/>
              <a:t>We prioritise clinical judgement, realistic uncertainty, and what you might actually do on Monday.</a:t>
            </a:r>
          </a:p>
          <a:p>
            <a:pPr>
              <a:defRPr sz="2000"/>
            </a:pPr>
            <a:r>
              <a:rPr sz="2000"/>
              <a:t>Reflection and pair conversation are teaching methods, not fillers.</a:t>
            </a:r>
          </a:p>
          <a:p>
            <a:pPr>
              <a:defRPr sz="2000"/>
            </a:pPr>
            <a:r>
              <a:rPr sz="2000"/>
              <a:t>Language stays respectful: no talking down; difficulty is held, not performed.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Day one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/>
              <a:t>Meditation (~15 minutes) — PET tradition</a:t>
            </a:r>
          </a:p>
          <a:p>
            <a:pPr>
              <a:defRPr sz="2000"/>
            </a:pPr>
            <a:r>
              <a:rPr sz="2000" dirty="0"/>
              <a:t>Optional check-in (~15 minutes): “How do you feel about this material?”</a:t>
            </a:r>
          </a:p>
          <a:p>
            <a:pPr>
              <a:defRPr sz="2000"/>
            </a:pPr>
            <a:r>
              <a:rPr sz="2000" dirty="0"/>
              <a:t>Then: move into day one — morning teaching block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one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r>
              <a:rPr sz="2200"/>
              <a:t>Framing · psychopathology · risk · case (Leah) · psychosynthesis threads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Framing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Psychopathology offers shared clinical language.</a:t>
            </a:r>
          </a:p>
          <a:p>
            <a:pPr>
              <a:defRPr sz="2000"/>
            </a:pPr>
            <a:r>
              <a:rPr sz="2000"/>
              <a:t>It supports formulation—not identity collapse.</a:t>
            </a:r>
          </a:p>
          <a:p>
            <a:pPr>
              <a:defRPr sz="2000"/>
            </a:pPr>
            <a:r>
              <a:rPr sz="2000"/>
              <a:t>Meaning and risk must be held together.</a:t>
            </a:r>
          </a:p>
          <a:p>
            <a:pPr>
              <a:defRPr sz="2000"/>
            </a:pPr>
            <a:r>
              <a:rPr sz="2000"/>
              <a:t>Therapists tolerate uncertainty without freezing or rushing.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Working with psychopathology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Diagnostic labels describe patterns—not people.</a:t>
            </a:r>
          </a:p>
          <a:p>
            <a:pPr>
              <a:defRPr sz="2000"/>
            </a:pPr>
            <a:r>
              <a:rPr sz="2000"/>
              <a:t>Formulation integrates symptoms, history, and context.</a:t>
            </a:r>
          </a:p>
          <a:p>
            <a:pPr>
              <a:defRPr sz="2000"/>
            </a:pPr>
            <a:r>
              <a:rPr sz="2000"/>
              <a:t>Clients arrive shaped by prior labels and systems.</a:t>
            </a:r>
          </a:p>
          <a:p>
            <a:pPr>
              <a:defRPr sz="2000"/>
            </a:pPr>
            <a:r>
              <a:rPr sz="2000"/>
              <a:t>Think clinically without collapsing into diagnosis as destiny.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Risk —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Risk is dynamic and can escalate quickly.</a:t>
            </a:r>
          </a:p>
          <a:p>
            <a:pPr>
              <a:defRPr sz="2000"/>
            </a:pPr>
            <a:r>
              <a:rPr sz="2000"/>
              <a:t>Intensity does not equal level of danger.</a:t>
            </a:r>
          </a:p>
          <a:p>
            <a:pPr>
              <a:defRPr sz="2000"/>
            </a:pPr>
            <a:r>
              <a:rPr sz="2000"/>
              <a:t>Quiet clients may carry significant risk.</a:t>
            </a:r>
          </a:p>
          <a:p>
            <a:pPr>
              <a:defRPr sz="2000"/>
            </a:pPr>
            <a:r>
              <a:rPr sz="2000"/>
              <a:t>Direct, respectful questions reduce—not increase—risk when done with care.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Case study · Shame — “Leah”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Task · Leah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Clarify thoughts, intent, and access to means.</a:t>
            </a:r>
          </a:p>
          <a:p>
            <a:pPr>
              <a:defRPr sz="2000"/>
            </a:pPr>
            <a:r>
              <a:rPr sz="2000"/>
              <a:t>Develop formulation: shame, avoidance, context.</a:t>
            </a:r>
          </a:p>
          <a:p>
            <a:pPr>
              <a:defRPr sz="2000"/>
            </a:pPr>
            <a:r>
              <a:rPr sz="2000"/>
              <a:t>Prioritise first two sessions and pacing.</a:t>
            </a:r>
          </a:p>
          <a:p>
            <a:pPr>
              <a:defRPr sz="2000"/>
            </a:pPr>
            <a:r>
              <a:rPr sz="2000"/>
              <a:t>Match structure to client capacity.</a:t>
            </a:r>
          </a:p>
          <a:p>
            <a:pPr>
              <a:defRPr sz="2000"/>
            </a:pPr>
            <a:r>
              <a:rPr sz="2000"/>
              <a:t>Reflective prompt: What would you not do here, and why?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Psychosynthesis bridge · Meaning alongside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Suffering can be meaningful without minimising danger.</a:t>
            </a:r>
          </a:p>
          <a:p>
            <a:pPr>
              <a:defRPr sz="2000"/>
            </a:pPr>
            <a:r>
              <a:rPr sz="2000"/>
              <a:t>Non-identification supports seeing patterns without fusion or contempt.</a:t>
            </a:r>
          </a:p>
          <a:p>
            <a:pPr>
              <a:defRPr sz="2000"/>
            </a:pPr>
            <a:r>
              <a:rPr sz="2000"/>
              <a:t>Risk decisions stay ethical and ordinary—not heroic.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Psychosynthesis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Distress can reflect fragmentation of parts (subpersonalities).</a:t>
            </a:r>
          </a:p>
          <a:p>
            <a:pPr>
              <a:defRPr sz="2000"/>
            </a:pPr>
            <a:r>
              <a:rPr sz="2000"/>
              <a:t>An observing centre supports disidentification where appropriate.</a:t>
            </a:r>
          </a:p>
          <a:p>
            <a:pPr>
              <a:defRPr sz="2000"/>
            </a:pPr>
            <a:r>
              <a:rPr sz="2000"/>
              <a:t>Containment is required before exploration.</a:t>
            </a:r>
          </a:p>
          <a:p>
            <a:pPr>
              <a:defRPr sz="2000"/>
            </a:pPr>
            <a:r>
              <a:rPr sz="2000"/>
              <a:t>Integration develops gradually—over time and relationship.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Morning break · ~20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one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r>
              <a:rPr sz="2200"/>
              <a:t>Neurodiversity · clinical challenges · case (Ousmane) · practical 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Neurodiversity — clinical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Difference in processing rather than deficit-only framing.</a:t>
            </a:r>
          </a:p>
          <a:p>
            <a:pPr>
              <a:defRPr sz="2000"/>
            </a:pPr>
            <a:r>
              <a:rPr sz="2000"/>
              <a:t>Executive function affects organisation and action.</a:t>
            </a:r>
          </a:p>
          <a:p>
            <a:pPr>
              <a:defRPr sz="2000"/>
            </a:pPr>
            <a:r>
              <a:rPr sz="2000"/>
              <a:t>Sensory overload drives overwhelm and shutdown.</a:t>
            </a:r>
          </a:p>
          <a:p>
            <a:pPr>
              <a:defRPr sz="2000"/>
            </a:pPr>
            <a:r>
              <a:rPr sz="2000"/>
              <a:t>Masking hides difficulty and increases exhaustion.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Clinical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Difference is often misread as lack of motivation.</a:t>
            </a:r>
          </a:p>
          <a:p>
            <a:pPr>
              <a:defRPr sz="2000"/>
            </a:pPr>
            <a:r>
              <a:rPr sz="2000"/>
              <a:t>Shame develops through repeated failure narratives.</a:t>
            </a:r>
          </a:p>
          <a:p>
            <a:pPr>
              <a:defRPr sz="2000"/>
            </a:pPr>
            <a:r>
              <a:rPr sz="2000"/>
              <a:t>Function varies depending on environment.</a:t>
            </a:r>
          </a:p>
          <a:p>
            <a:pPr>
              <a:defRPr sz="2000"/>
            </a:pPr>
            <a:r>
              <a:rPr sz="2000"/>
              <a:t>Work requires flexibility without false certainty.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200"/>
            </a:pPr>
            <a:r>
              <a:t>Psychosynthesis bridge · Adaptation, not pretend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Adjustment of environment and pace can be deeply ethical—not ‘lowering standards.’</a:t>
            </a:r>
          </a:p>
          <a:p>
            <a:pPr>
              <a:defRPr sz="2000"/>
            </a:pPr>
            <a:r>
              <a:rPr sz="2000"/>
              <a:t>Integration includes honest limits; not everyone must look ‘neurotypical’ to be well.</a:t>
            </a:r>
          </a:p>
          <a:p>
            <a:pPr>
              <a:defRPr sz="2000"/>
            </a:pPr>
            <a:r>
              <a:rPr sz="2000"/>
              <a:t>Avoid idealising neurodivergence or collapsing it into tragedy.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Case study · Neurodiversity — “Ousmane”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Task · Ousmane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Formulate neurodiversity, stress, and environment together.</a:t>
            </a:r>
          </a:p>
          <a:p>
            <a:pPr>
              <a:defRPr sz="2000"/>
            </a:pPr>
            <a:r>
              <a:rPr sz="2000"/>
              <a:t>Identify safeguarding risks for children where relevant.</a:t>
            </a:r>
          </a:p>
          <a:p>
            <a:pPr>
              <a:defRPr sz="2000"/>
            </a:pPr>
            <a:r>
              <a:rPr sz="2000"/>
              <a:t>Prioritise practical next steps.</a:t>
            </a:r>
          </a:p>
          <a:p>
            <a:pPr>
              <a:defRPr sz="2000"/>
            </a:pPr>
            <a:r>
              <a:rPr sz="2000"/>
              <a:t>Focus on what might change this week.</a:t>
            </a:r>
          </a:p>
          <a:p>
            <a:pPr>
              <a:defRPr sz="2000"/>
            </a:pPr>
            <a:r>
              <a:rPr sz="2000"/>
              <a:t>Pair discussion: one environmental change · one relational stance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Working practically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Use structure, routine, and predictability where helpful.</a:t>
            </a:r>
          </a:p>
          <a:p>
            <a:pPr>
              <a:defRPr sz="2000"/>
            </a:pPr>
            <a:r>
              <a:rPr sz="2000"/>
              <a:t>Reduce overwhelm before increasing insight.</a:t>
            </a:r>
          </a:p>
          <a:p>
            <a:pPr>
              <a:defRPr sz="2000"/>
            </a:pPr>
            <a:r>
              <a:rPr sz="2000"/>
              <a:t>Adjust environment where possible.</a:t>
            </a:r>
          </a:p>
          <a:p>
            <a:pPr>
              <a:defRPr sz="2000"/>
            </a:pPr>
            <a:r>
              <a:rPr sz="2000"/>
              <a:t>Support agency and functional change—without rushing ‘depth.’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Lunch · ~1 hour (often 13:00–14:00)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Day two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Meditation (~15 minutes)</a:t>
            </a:r>
          </a:p>
          <a:p>
            <a:pPr>
              <a:defRPr sz="2000"/>
            </a:pPr>
            <a:r>
              <a:rPr sz="2000"/>
              <a:t>Check-in (~15 minutes): “What did yesterday bring up for you?”</a:t>
            </a:r>
          </a:p>
          <a:p>
            <a:pPr>
              <a:defRPr sz="2000"/>
            </a:pPr>
            <a:r>
              <a:rPr sz="2000"/>
              <a:t>Overnight processing is normal—no obligation to share detail.</a:t>
            </a:r>
          </a:p>
          <a:p>
            <a:pPr>
              <a:defRPr sz="2000"/>
            </a:pPr>
            <a:r>
              <a:rPr sz="2000"/>
              <a:t>Then: day two — morning block (trauma, dissociation, Emily)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two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r>
              <a:rPr sz="2200"/>
              <a:t>Trauma · dissociation · case (Emily) · neuroplasticity · clinical response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Trauma — core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Trauma is held in the nervous system—not only in ‘the story.’</a:t>
            </a:r>
          </a:p>
          <a:p>
            <a:pPr>
              <a:defRPr sz="2000"/>
            </a:pPr>
            <a:r>
              <a:rPr sz="2000"/>
              <a:t>It alters regulation, perception, and relating.</a:t>
            </a:r>
          </a:p>
          <a:p>
            <a:pPr>
              <a:defRPr sz="2000"/>
            </a:pPr>
            <a:r>
              <a:rPr sz="2000"/>
              <a:t>Triggers can produce rapid state changes.</a:t>
            </a:r>
          </a:p>
          <a:p>
            <a:pPr>
              <a:defRPr sz="2000"/>
            </a:pPr>
            <a:r>
              <a:rPr sz="2000"/>
              <a:t>Clients may shift between arousal and shutdown.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Often a protective response to overwhelming experience.</a:t>
            </a:r>
          </a:p>
          <a:p>
            <a:pPr>
              <a:defRPr sz="2000"/>
            </a:pPr>
            <a:r>
              <a:rPr sz="2000"/>
              <a:t>May involve loss of continuity or presence.</a:t>
            </a:r>
          </a:p>
          <a:p>
            <a:pPr>
              <a:defRPr sz="2000"/>
            </a:pPr>
            <a:r>
              <a:rPr sz="2000"/>
              <a:t>Can be subtle and easily missed in clinic.</a:t>
            </a:r>
          </a:p>
          <a:p>
            <a:pPr>
              <a:defRPr sz="2000"/>
            </a:pPr>
            <a:r>
              <a:rPr sz="2000"/>
              <a:t>Strongly linked to increased risk—assess carefully.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200"/>
            </a:pPr>
            <a:r>
              <a:t>Psychosynthesis bridge · Containment before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‘Opening everything up’ is not always kind.</a:t>
            </a:r>
          </a:p>
          <a:p>
            <a:pPr>
              <a:defRPr sz="2000"/>
            </a:pPr>
            <a:r>
              <a:rPr sz="2000"/>
              <a:t>Stabilisation and relationship come first.</a:t>
            </a:r>
          </a:p>
          <a:p>
            <a:pPr>
              <a:defRPr sz="2000"/>
            </a:pPr>
            <a:r>
              <a:rPr sz="2000"/>
              <a:t>Spiritual or transpersonal material is not a shortcut past terror.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Case study · Dissociation — “Emily”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Task · Emily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Assess risk alongside dissociation.</a:t>
            </a:r>
          </a:p>
          <a:p>
            <a:pPr>
              <a:defRPr sz="2000"/>
            </a:pPr>
            <a:r>
              <a:rPr sz="2000"/>
              <a:t>Decide whether to escalate support.</a:t>
            </a:r>
          </a:p>
          <a:p>
            <a:pPr>
              <a:defRPr sz="2000"/>
            </a:pPr>
            <a:r>
              <a:rPr sz="2000"/>
              <a:t>Prioritise stabilisation and safety.</a:t>
            </a:r>
          </a:p>
          <a:p>
            <a:pPr>
              <a:defRPr sz="2000"/>
            </a:pPr>
            <a:r>
              <a:rPr sz="2000"/>
              <a:t>Question reliability of self-report—without contempt.</a:t>
            </a:r>
          </a:p>
          <a:p>
            <a:pPr>
              <a:defRPr sz="2000"/>
            </a:pPr>
            <a:r>
              <a:rPr sz="2000"/>
              <a:t>Reflective prompt: what would make you lose sleep tonight?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200"/>
            </a:pPr>
            <a:r>
              <a:t>Psychosynthesis bridge · Self, woundedness, and 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Depth is compatible with safety: smaller steps, repeated contact.</a:t>
            </a:r>
          </a:p>
          <a:p>
            <a:pPr>
              <a:defRPr sz="2000"/>
            </a:pPr>
            <a:r>
              <a:rPr sz="2000"/>
              <a:t>Meaning may emerge without forcing narrative coherence immediately.</a:t>
            </a:r>
          </a:p>
          <a:p>
            <a:pPr>
              <a:defRPr sz="2000"/>
            </a:pPr>
            <a:r>
              <a:rPr sz="2000"/>
              <a:t>Therapist pace regulates the field—use yours deliberately.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Neuroplasticity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Repetition strengthens emotional patterns—for better and worse.</a:t>
            </a:r>
          </a:p>
          <a:p>
            <a:pPr>
              <a:defRPr sz="2000"/>
            </a:pPr>
            <a:r>
              <a:rPr sz="2000"/>
              <a:t>Trauma can reinforce rigid survival responses.</a:t>
            </a:r>
          </a:p>
          <a:p>
            <a:pPr>
              <a:defRPr sz="2000"/>
            </a:pPr>
            <a:r>
              <a:rPr sz="2000"/>
              <a:t>Insight alone rarely changes embodied behaviour.</a:t>
            </a:r>
          </a:p>
          <a:p>
            <a:pPr>
              <a:defRPr sz="2000"/>
            </a:pPr>
            <a:r>
              <a:rPr sz="2000"/>
              <a:t>Change often requires repeated relational experience over time.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Clinical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Stabilise before deeper exploration.</a:t>
            </a:r>
          </a:p>
          <a:p>
            <a:pPr>
              <a:defRPr sz="2000"/>
            </a:pPr>
            <a:r>
              <a:rPr sz="2000"/>
              <a:t>Use pacing to prevent dysregulation.</a:t>
            </a:r>
          </a:p>
          <a:p>
            <a:pPr>
              <a:defRPr sz="2000"/>
            </a:pPr>
            <a:r>
              <a:rPr sz="2000"/>
              <a:t>Reduce overwhelm to support engagement.</a:t>
            </a:r>
          </a:p>
          <a:p>
            <a:pPr>
              <a:defRPr sz="2000"/>
            </a:pPr>
            <a:r>
              <a:rPr sz="2000"/>
              <a:t>Monitor risk as patterns shift—especially after stabilisation begins.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Afternoon break · ~20 minutes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two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r>
              <a:rPr sz="2200"/>
              <a:t>Risk (David) · ambiguity (Michael) · integration · closing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Case study · Risk — “David”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Task · David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Decide: continue or escalate.</a:t>
            </a:r>
          </a:p>
          <a:p>
            <a:pPr>
              <a:defRPr sz="2000"/>
            </a:pPr>
            <a:r>
              <a:rPr sz="2000"/>
              <a:t>Act immediately on current risk where indicated.</a:t>
            </a:r>
          </a:p>
          <a:p>
            <a:pPr>
              <a:defRPr sz="2000"/>
            </a:pPr>
            <a:r>
              <a:rPr sz="2000"/>
              <a:t>Document clearly and justify decisions.</a:t>
            </a:r>
          </a:p>
          <a:p>
            <a:pPr>
              <a:defRPr sz="2000"/>
            </a:pPr>
            <a:r>
              <a:rPr sz="2000"/>
              <a:t>Consider impact of trauma on disclosure.</a:t>
            </a:r>
          </a:p>
          <a:p>
            <a:pPr>
              <a:defRPr sz="2000"/>
            </a:pPr>
            <a:r>
              <a:rPr sz="2000"/>
              <a:t>Pair: what is one line you would write in notes?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Risk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3600" dirty="0"/>
              <a:t>Balance autonomy with duty of care.</a:t>
            </a:r>
          </a:p>
          <a:p>
            <a:pPr>
              <a:defRPr sz="2000"/>
            </a:pPr>
            <a:r>
              <a:rPr sz="3600" dirty="0"/>
              <a:t>Escalate when risk becomes active.</a:t>
            </a:r>
          </a:p>
          <a:p>
            <a:pPr>
              <a:defRPr sz="2000"/>
            </a:pPr>
            <a:r>
              <a:rPr sz="3600" dirty="0"/>
              <a:t>Use supervision for complex decisions.</a:t>
            </a:r>
          </a:p>
          <a:p>
            <a:pPr>
              <a:defRPr sz="2000"/>
            </a:pPr>
            <a:r>
              <a:rPr sz="3600" dirty="0"/>
              <a:t>Clear documentation protects clients and practitioners.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Case study · Ambiguity — “Michael”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Task · Michael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Decide whether uncertainty requires action now.</a:t>
            </a:r>
          </a:p>
          <a:p>
            <a:pPr>
              <a:defRPr sz="2000"/>
            </a:pPr>
            <a:r>
              <a:rPr sz="2000"/>
              <a:t>Define what would trigger escalation.</a:t>
            </a:r>
          </a:p>
          <a:p>
            <a:pPr>
              <a:defRPr sz="2000"/>
            </a:pPr>
            <a:r>
              <a:rPr sz="2000"/>
              <a:t>Consider risks of acting versus waiting.</a:t>
            </a:r>
          </a:p>
          <a:p>
            <a:pPr>
              <a:defRPr sz="2000"/>
            </a:pPr>
            <a:r>
              <a:rPr sz="2000"/>
              <a:t>Notice therapist anxiety in decision-making—without shame.</a:t>
            </a:r>
          </a:p>
          <a:p>
            <a:pPr>
              <a:defRPr sz="2000"/>
            </a:pPr>
            <a:r>
              <a:rPr sz="2000"/>
              <a:t>Large group: one judgement call only—avoid debate spirals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200"/>
            </a:pPr>
            <a:r>
              <a:t>Psychosynthesis bridge · Formulation and clinical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3200" dirty="0"/>
              <a:t>Psychosynthesis offers a frame: parts, Self, meaning, context—not a bypass around ethics or diagnosis.</a:t>
            </a:r>
          </a:p>
          <a:p>
            <a:pPr>
              <a:defRPr sz="2000"/>
            </a:pPr>
            <a:r>
              <a:rPr sz="3200" dirty="0"/>
              <a:t>Integration without </a:t>
            </a:r>
            <a:r>
              <a:rPr sz="3200" dirty="0" err="1"/>
              <a:t>idealisation</a:t>
            </a:r>
            <a:r>
              <a:rPr sz="3200" dirty="0"/>
              <a:t>: clients remain real people in real systems.</a:t>
            </a:r>
          </a:p>
          <a:p>
            <a:pPr>
              <a:defRPr sz="2000"/>
            </a:pPr>
            <a:r>
              <a:rPr sz="3200" dirty="0"/>
              <a:t>Relationship and environment matter as much as inner process.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Hold meaning and risk simultaneously.</a:t>
            </a:r>
          </a:p>
          <a:p>
            <a:pPr>
              <a:defRPr sz="2000"/>
            </a:pPr>
            <a:r>
              <a:rPr sz="2000"/>
              <a:t>Recognise limits of the therapeutic role.</a:t>
            </a:r>
          </a:p>
          <a:p>
            <a:pPr>
              <a:defRPr sz="2000"/>
            </a:pPr>
            <a:r>
              <a:rPr sz="2000"/>
              <a:t>Decision-making is core to ethical practice.</a:t>
            </a:r>
          </a:p>
          <a:p>
            <a:pPr>
              <a:defRPr sz="2000"/>
            </a:pPr>
            <a:r>
              <a:rPr sz="2000"/>
              <a:t>Use reflection and supervision consistently.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Closing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Brief grounding or silence—facilitator’s choice.</a:t>
            </a:r>
          </a:p>
          <a:p>
            <a:pPr>
              <a:defRPr sz="2000"/>
            </a:pPr>
            <a:r>
              <a:rPr sz="2000"/>
              <a:t>Optional round: one word from the weekend (decline always allowed).</a:t>
            </a:r>
          </a:p>
          <a:p>
            <a:pPr>
              <a:defRPr sz="2000"/>
            </a:pPr>
            <a:r>
              <a:rPr sz="2000"/>
              <a:t>Thank the group for attention to difficult material.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1400"/>
              <a:t>Nelson, J.E. (1994) Healing the split: Integrating spirit into our understanding of the mentally ill. Albany, NY: State University of New York Press.</a:t>
            </a:r>
          </a:p>
          <a:p>
            <a:pPr>
              <a:defRPr sz="2000"/>
            </a:pPr>
            <a:r>
              <a:rPr sz="1400"/>
              <a:t>Firman, J. and Gila, A. (2002) Psychosynthesis: A psychology of the spirit. Albany, NY: State University of New York Press.</a:t>
            </a:r>
          </a:p>
          <a:p>
            <a:pPr>
              <a:defRPr sz="2000"/>
            </a:pPr>
            <a:r>
              <a:rPr sz="1400"/>
              <a:t>Firman, J. and Gila, A. (1997) The primal wound: A transpersonal view of trauma, addiction, and growth. Albany, NY: State University of New York Press.</a:t>
            </a:r>
          </a:p>
          <a:p>
            <a:pPr>
              <a:defRPr sz="2000"/>
            </a:pPr>
            <a:r>
              <a:rPr sz="1400"/>
              <a:t>Grof, S. and Grof, C. (eds) (1989) Spiritual emergency: When personal transformation becomes a crisis. [Publication details to confirm.]</a:t>
            </a:r>
          </a:p>
          <a:p>
            <a:pPr>
              <a:defRPr sz="2000"/>
            </a:pPr>
            <a:r>
              <a:rPr sz="1400"/>
              <a:t>Clarke, I. (ed.) (2001) Psychosis and spirituality: Exploring the new frontier. [Publication details to confirm.]</a:t>
            </a:r>
          </a:p>
          <a:p>
            <a:pPr>
              <a:defRPr sz="2000"/>
            </a:pPr>
            <a:r>
              <a:rPr sz="1400"/>
              <a:t>Clarke, I. (ed.) (2010) Psychosis and spirituality: Consolidating the new paradigm. [Publication details to confirm.]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2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2618</Words>
  <Application>Microsoft Office PowerPoint</Application>
  <PresentationFormat>Widescreen</PresentationFormat>
  <Paragraphs>205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Psychopathology &amp; synthesis</vt:lpstr>
      <vt:lpstr>Weekend rhythm &amp; time</vt:lpstr>
      <vt:lpstr>How we learn this weekend</vt:lpstr>
      <vt:lpstr>Day one — opening</vt:lpstr>
      <vt:lpstr>Day one — morning</vt:lpstr>
      <vt:lpstr>Framing the work</vt:lpstr>
      <vt:lpstr>Working with psychopathology</vt:lpstr>
      <vt:lpstr>Risk — core principles</vt:lpstr>
      <vt:lpstr>Case study · Shame — “Leah”</vt:lpstr>
      <vt:lpstr>Task · Leah</vt:lpstr>
      <vt:lpstr>Psychosynthesis bridge · Meaning alongside risk</vt:lpstr>
      <vt:lpstr>Psychosynthesis perspective</vt:lpstr>
      <vt:lpstr>Morning break · ~20 minutes</vt:lpstr>
      <vt:lpstr>Day one — afternoon</vt:lpstr>
      <vt:lpstr>Neurodiversity — clinical view</vt:lpstr>
      <vt:lpstr>Clinical challenges</vt:lpstr>
      <vt:lpstr>Psychosynthesis bridge · Adaptation, not pretend normality</vt:lpstr>
      <vt:lpstr>Case study · Neurodiversity — “Ousmane”</vt:lpstr>
      <vt:lpstr>Task · Ousmane</vt:lpstr>
      <vt:lpstr>Working practically</vt:lpstr>
      <vt:lpstr>Lunch · ~1 hour (often 13:00–14:00)</vt:lpstr>
      <vt:lpstr>Day two — opening</vt:lpstr>
      <vt:lpstr>Day two — morning</vt:lpstr>
      <vt:lpstr>Trauma — core understanding</vt:lpstr>
      <vt:lpstr>Dissociation</vt:lpstr>
      <vt:lpstr>Psychosynthesis bridge · Containment before exploration</vt:lpstr>
      <vt:lpstr>Case study · Dissociation — “Emily”</vt:lpstr>
      <vt:lpstr>Task · Emily</vt:lpstr>
      <vt:lpstr>Psychosynthesis bridge · Self, woundedness, and pace</vt:lpstr>
      <vt:lpstr>Neuroplasticity</vt:lpstr>
      <vt:lpstr>Clinical response</vt:lpstr>
      <vt:lpstr>Afternoon break · ~20 minutes</vt:lpstr>
      <vt:lpstr>Day two — afternoon</vt:lpstr>
      <vt:lpstr>Case study · Risk — “David”</vt:lpstr>
      <vt:lpstr>Task · David</vt:lpstr>
      <vt:lpstr>Risk decisions</vt:lpstr>
      <vt:lpstr>Case study · Ambiguity — “Michael”</vt:lpstr>
      <vt:lpstr>Task · Michael</vt:lpstr>
      <vt:lpstr>Psychosynthesis bridge · Formulation and clinical work</vt:lpstr>
      <vt:lpstr>Integration</vt:lpstr>
      <vt:lpstr>Closing reflection</vt:lpstr>
      <vt:lpstr>Selected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17</cp:revision>
  <dcterms:created xsi:type="dcterms:W3CDTF">2020-02-24T12:13:07Z</dcterms:created>
  <dcterms:modified xsi:type="dcterms:W3CDTF">2026-04-10T05:59:17Z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