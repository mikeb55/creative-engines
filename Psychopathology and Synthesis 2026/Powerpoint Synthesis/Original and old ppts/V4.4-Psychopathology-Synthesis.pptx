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5"/>
  </p:notesMasterIdLst>
  <p:sldIdLst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47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4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443" r:id="rId61"/>
    <p:sldId id="444" r:id="rId62"/>
    <p:sldId id="445" r:id="rId63"/>
    <p:sldId id="446" r:id="rId64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47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Case work (teaching slides + tasks, venue-dependent): Leah ~40–45 min; Ousmane ~50–55 min; Emily ~60 min; Michael ~60–65 min; plus contracted breaks and lunch.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</a:p>
          <a:p>
            <a:pPr>
              <a:defRPr sz="1100">
                <a:latin typeface="Calibri"/>
              </a:defRPr>
            </a:pPr>
            <a:r>
              <a:t>• Cases match the V4 Word handouts in the CASE STUDIES folder (V4-Leah-Shame.docx through V4-Michael-Risk.docx);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Map these intervals onto your cohort paperwork; confirm lunch clock locally (often 13:00–14:00).</a:t>
            </a:r>
          </a:p>
          <a:p>
            <a:pPr>
              <a:defRPr sz="1100">
                <a:latin typeface="Calibri"/>
              </a:defRPr>
            </a:pPr>
            <a:r>
              <a:t>• Attention and memory for risk material decline across long unbroken stretches; breaks are part of safe design for trauma and suicide content.</a:t>
            </a:r>
          </a:p>
          <a:p>
            <a:pPr>
              <a:defRPr sz="1100">
                <a:latin typeface="Calibri"/>
              </a:defRPr>
            </a:pPr>
            <a:r>
              <a:t>• Net scheduled teaching time is always less than seven hours per day once openings, lunch, and breaks are subtracted.</a:t>
            </a:r>
          </a:p>
          <a:p>
            <a:pPr>
              <a:defRPr sz="1100">
                <a:latin typeface="Calibri"/>
              </a:defRPr>
            </a:pPr>
            <a:r>
              <a:t>• The same slide sequence can be split across a live timetable if your venue uses a different lunch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Early Day 1: keep this framing compact so Leah (40–45 min including tasks) still fits before the morning break.</a:t>
            </a:r>
          </a:p>
          <a:p>
            <a:pPr>
              <a:defRPr sz="1100">
                <a:latin typeface="Calibri"/>
              </a:defRPr>
            </a:pPr>
            <a:r>
              <a:t>• ACE here names the holding structure for postgraduate clinical training, not a separate therapy model.</a:t>
            </a:r>
          </a:p>
          <a:p>
            <a:pPr>
              <a:defRPr sz="1100">
                <a:latin typeface="Calibri"/>
              </a:defRPr>
            </a:pPr>
            <a:r>
              <a:t>• Containment overlaps with psychosynthesis emphasis on relationship and sequence before interpretation.</a:t>
            </a:r>
          </a:p>
          <a:p>
            <a:pPr>
              <a:defRPr sz="1100">
                <a:latin typeface="Calibri"/>
              </a:defRPr>
            </a:pPr>
            <a:r>
              <a:t>• Engagement matches ACE-Cases design: each vignette ends in formulation, immediate decision, and longer-term or supervision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Still Day 1 AM: if you are past ~45 minutes from day start and still in pre-Leah material, shorten discussion to protect the Leah window.</a:t>
            </a:r>
          </a:p>
          <a:p>
            <a:pPr>
              <a:defRPr sz="1100">
                <a:latin typeface="Calibri"/>
              </a:defRPr>
            </a:pPr>
            <a:r>
              <a:t>• Transferable skills from healthcare, education, or justice settings alter what feels familiar but not what counts as proportionate risk action in counselling.</a:t>
            </a:r>
          </a:p>
          <a:p>
            <a:pPr>
              <a:defRPr sz="1100">
                <a:latin typeface="Calibri"/>
              </a:defRPr>
            </a:pPr>
            <a:r>
              <a:t>• Documentation habits from other roles need aligning with counselling confidentiality and data protection.</a:t>
            </a:r>
          </a:p>
          <a:p>
            <a:pPr>
              <a:defRPr sz="1100">
                <a:latin typeface="Calibri"/>
              </a:defRPr>
            </a:pPr>
            <a:r>
              <a:t>• Personal mental health disclosure is never required for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AM: diagnosis versus formulation feeds directly into Leah; allow a few minutes for questions before the case title slide.</a:t>
            </a:r>
          </a:p>
          <a:p>
            <a:pPr>
              <a:defRPr sz="1100">
                <a:latin typeface="Calibri"/>
              </a:defRPr>
            </a:pPr>
            <a:r>
              <a:t>• NHS and third-sector services often require diagnostic codes for access; that administrative fact does not make the code the whole person.</a:t>
            </a:r>
          </a:p>
          <a:p>
            <a:pPr>
              <a:defRPr sz="1100">
                <a:latin typeface="Calibri"/>
              </a:defRPr>
            </a:pPr>
            <a:r>
              <a:t>• A strong formulation states what would falsify it—for example new risk information or a change in housing or employment.</a:t>
            </a:r>
          </a:p>
          <a:p>
            <a:pPr>
              <a:defRPr sz="1100">
                <a:latin typeface="Calibri"/>
              </a:defRPr>
            </a:pPr>
            <a:r>
              <a:t>• Trainees sometimes over-weight diagnosis when GP letters are the only collateral; formulation corrects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1: allow roughly 15 minutes meditation plus up to 15 minutes check-in before the slides that follow.</a:t>
            </a:r>
          </a:p>
          <a:p>
            <a:pPr>
              <a:defRPr sz="1100">
                <a:latin typeface="Calibri"/>
              </a:defRPr>
            </a:pPr>
            <a:r>
              <a:t>• Brief contemplative openings are common before psychologically dense material and may lower physiological arousal for some participants.</a:t>
            </a:r>
          </a:p>
          <a:p>
            <a:pPr>
              <a:defRPr sz="1100">
                <a:latin typeface="Calibri"/>
              </a:defRPr>
            </a:pPr>
            <a:r>
              <a:t>• Check-in remains bounded; disclosure of personal mental health history is not a requirement for learning.</a:t>
            </a:r>
          </a:p>
          <a:p>
            <a:pPr>
              <a:defRPr sz="1100">
                <a:latin typeface="Calibri"/>
              </a:defRPr>
            </a:pPr>
            <a:r>
              <a:t>• The morning block stacks formulation, shame, and passive risk before neurodiversity and overload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 segment: you are heading toward Leah; budget ~40–45 minutes for the full Leah sequence (slides + both task slides + exercise) before the twenty-minute morning break.</a:t>
            </a:r>
          </a:p>
          <a:p>
            <a:pPr>
              <a:defRPr sz="1100">
                <a:latin typeface="Calibri"/>
              </a:defRPr>
            </a:pPr>
            <a:r>
              <a:t>• Morning material stacks shame, family expectation, and passive risk before the neurodiversity afternoon so trainees feel why formulation cannot be purely categorical.</a:t>
            </a:r>
          </a:p>
          <a:p>
            <a:pPr>
              <a:defRPr sz="1100">
                <a:latin typeface="Calibri"/>
              </a:defRPr>
            </a:pPr>
            <a:r>
              <a:t>• Leah’s GP letter and voluntary-sector setting mirror common low-intensity entry points where risk is under-reported in referral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Shared language with GPs and psychiatrists reduces collision between medication, talking therapies, and social care when risk is in play.</a:t>
            </a:r>
          </a:p>
          <a:p>
            <a:pPr>
              <a:defRPr sz="1100">
                <a:latin typeface="Calibri"/>
              </a:defRPr>
            </a:pPr>
            <a:r>
              <a:t>• Psychosynthesis does not require abandoning DSM or ICD categories; it asks how identification with labels is managed in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Collateral from CAMHS, CMHT, or occupational health creates expectation effects; the client may defend or resist a label for good reasons.</a:t>
            </a:r>
          </a:p>
          <a:p>
            <a:pPr>
              <a:defRPr sz="1100">
                <a:latin typeface="Calibri"/>
              </a:defRPr>
            </a:pPr>
            <a:r>
              <a:t>• Formulation should name maintaining factors outside the skin: housing, work conditions, caring load,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Passive ideation and fleeting intent occupy a wide grey band; documentation should capture verbatim phrases and your clinical reasoning.</a:t>
            </a:r>
          </a:p>
          <a:p>
            <a:pPr>
              <a:defRPr sz="1100">
                <a:latin typeface="Calibri"/>
              </a:defRPr>
            </a:pPr>
            <a:r>
              <a:t>• Protective factors (children, values, fear of pain) lower but do not remove risk; they belong in formulation and in safety planning.</a:t>
            </a:r>
          </a:p>
          <a:p>
            <a:pPr>
              <a:defRPr sz="1100">
                <a:latin typeface="Calibri"/>
              </a:defRPr>
            </a:pPr>
            <a:r>
              <a:t>• When self-report shifts between contacts, risk review frequency increases rather than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(Day 1 AM): 40–45 minutes total for all Leah slides including both task slides and paired or small-group work.</a:t>
            </a:r>
          </a:p>
          <a:p>
            <a:pPr>
              <a:defRPr sz="1100">
                <a:latin typeface="Calibri"/>
              </a:defRPr>
            </a:pPr>
            <a:r>
              <a:t>• Full narrative and tasks: V4-Leah-Shame.docx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The following slides summarise for teaching; the Word handout is the shared reference for trainees.</a:t>
            </a:r>
          </a:p>
          <a:p>
            <a:pPr>
              <a:defRPr sz="1100">
                <a:latin typeface="Calibri"/>
              </a:defRPr>
            </a:pPr>
            <a:r>
              <a:t>• Foci: shame, family pressure, tentative neurodiversity themes, shifting risk disclosure, early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roughly half the Leah window often goes to narrative slides; reserve the remainder for tasks.</a:t>
            </a:r>
          </a:p>
          <a:p>
            <a:pPr>
              <a:defRPr sz="1100">
                <a:latin typeface="Calibri"/>
              </a:defRPr>
            </a:pPr>
            <a:r>
              <a:t>• Sensory and executive strain can present as “failure to cope” in workplaces that assume uniform tolerance for noise and unpredictability.</a:t>
            </a:r>
          </a:p>
          <a:p>
            <a:pPr>
              <a:defRPr sz="1100">
                <a:latin typeface="Calibri"/>
              </a:defRPr>
            </a:pPr>
            <a:r>
              <a:t>• Refusing assessment can protect identity while also delaying adjustments that might reduce collapse; both sides belong in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if you are past ~25 minutes from the Leah title slide, move soon to Tasks — Leah.</a:t>
            </a:r>
          </a:p>
          <a:p>
            <a:pPr>
              <a:defRPr sz="1100">
                <a:latin typeface="Calibri"/>
              </a:defRPr>
            </a:pPr>
            <a:r>
              <a:t>• Shifting self-report across sessions is data: it may reflect shame, cognitive avoidance, or genuine impulse fluctuation.</a:t>
            </a:r>
          </a:p>
          <a:p>
            <a:pPr>
              <a:defRPr sz="1100">
                <a:latin typeface="Calibri"/>
              </a:defRPr>
            </a:pPr>
            <a:r>
              <a:t>• Family financial threats raise exploitation and emotional safety dynamics alongside suicide risk.</a:t>
            </a:r>
          </a:p>
          <a:p>
            <a:pPr>
              <a:defRPr sz="1100">
                <a:latin typeface="Calibri"/>
              </a:defRPr>
            </a:pPr>
            <a:r>
              <a:t>• Voluntary-sector contracts often lack medical backup; GP liaison is frequently the available NHS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Assagioli’s subpersonality language translates to common therapy phrases: inner critic, compliant child, angry adolescent.</a:t>
            </a:r>
          </a:p>
          <a:p>
            <a:pPr>
              <a:defRPr sz="1100">
                <a:latin typeface="Calibri"/>
              </a:defRPr>
            </a:pPr>
            <a:r>
              <a:t>• Parts work is not a substitute for risk questions; it follows or runs parallel to safeguarding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Firman and Gila’s material on identification helps explain over-responsibility in therapists when clients express passive ideation.</a:t>
            </a:r>
          </a:p>
          <a:p>
            <a:pPr>
              <a:defRPr sz="1100">
                <a:latin typeface="Calibri"/>
              </a:defRPr>
            </a:pPr>
            <a:r>
              <a:t>• Nelson’s integration theme cautions against romanticising breakdown; the ethical bar stays at safeguarding and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Disidentification is practised in small steps: grounding, sentence stems, timeline work—not instant transpersonal claims.</a:t>
            </a:r>
          </a:p>
          <a:p>
            <a:pPr>
              <a:defRPr sz="1100">
                <a:latin typeface="Calibri"/>
              </a:defRPr>
            </a:pPr>
            <a:r>
              <a:t>• Therapist countertransference when parents are cast as cruel may obscure the client’s mixed loyalty and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Integration language does not promise linear recovery; it describes direction of travel under supervision.</a:t>
            </a:r>
          </a:p>
          <a:p>
            <a:pPr>
              <a:defRPr sz="1100">
                <a:latin typeface="Calibri"/>
              </a:defRPr>
            </a:pPr>
            <a:r>
              <a:t>• Firman and Gila’s attention to context supports environmental adjustment as ethical practice, previewing the afternoon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tasks: allow roughly 20–25 minutes for pair/small-group work on both task slides combined if you are near the 40–45 minute Leah budget.</a:t>
            </a:r>
          </a:p>
          <a:p>
            <a:pPr>
              <a:defRPr sz="1100">
                <a:latin typeface="Calibri"/>
              </a:defRPr>
            </a:pPr>
            <a:r>
              <a:t>• Cupboard disclosure without clear intent or plan still warrants updated risk formulation and often GP awareness when medication access is salient.</a:t>
            </a:r>
          </a:p>
          <a:p>
            <a:pPr>
              <a:defRPr sz="1100">
                <a:latin typeface="Calibri"/>
              </a:defRPr>
            </a:pPr>
            <a:r>
              <a:t>• Breaching confidentiality to parents risks shame and dropout; withholding may leave domestic risk unmanaged.</a:t>
            </a:r>
          </a:p>
          <a:p>
            <a:pPr>
              <a:defRPr sz="1100">
                <a:latin typeface="Calibri"/>
              </a:defRPr>
            </a:pPr>
            <a:r>
              <a:t>• Same-day decisions should be recorded with alternatives considered and reasons for the path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Leah block: brief plenary or move straight to morning break if time is tight.</a:t>
            </a:r>
          </a:p>
          <a:p>
            <a:pPr>
              <a:defRPr sz="1100">
                <a:latin typeface="Calibri"/>
              </a:defRPr>
            </a:pPr>
            <a:r>
              <a:t>• Pacing balances shame-sensitive exploration with repeated risk review when self-report shifts.</a:t>
            </a:r>
          </a:p>
          <a:p>
            <a:pPr>
              <a:defRPr sz="1100">
                <a:latin typeface="Calibri"/>
              </a:defRPr>
            </a:pPr>
            <a:r>
              <a:t>• Supervision might examine countertransference toward punitive-sounding parents versus realistic safeguarding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Morning break: 20 minutes; confirm return time on the cohort schedule before Ousmane (50–55 min including tasks).</a:t>
            </a:r>
          </a:p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PM (before lunch in this file): allow ~50–55 minutes for neurodiversity teaching plus full Ousmane sequence including both task slides.</a:t>
            </a:r>
          </a:p>
          <a:p>
            <a:pPr>
              <a:defRPr sz="1100">
                <a:latin typeface="Calibri"/>
              </a:defRPr>
            </a:pPr>
            <a:r>
              <a:t>• Afternoon material connects nervous-system load with housing, schooling, and welfare interfaces common in UK practice.</a:t>
            </a:r>
          </a:p>
          <a:p>
            <a:pPr>
              <a:defRPr sz="1100">
                <a:latin typeface="Calibri"/>
              </a:defRPr>
            </a:pPr>
            <a:r>
              <a:t>• Ousmane’s contradictions train documentation when self-report shifts between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NICE and NHS services may use diagnostic thresholds for ADHD and autism that lag behind self-identification or community language.</a:t>
            </a:r>
          </a:p>
          <a:p>
            <a:pPr>
              <a:defRPr sz="1100">
                <a:latin typeface="Calibri"/>
              </a:defRPr>
            </a:pPr>
            <a:r>
              <a:t>• Workplace and education adjustments are legal and clinical levers, not “special treatment” in a pejorative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Burnout after years of masking is often misread as depression without context; history and environment correct that error.</a:t>
            </a:r>
          </a:p>
          <a:p>
            <a:pPr>
              <a:defRPr sz="1100">
                <a:latin typeface="Calibri"/>
              </a:defRPr>
            </a:pPr>
            <a:r>
              <a:t>• Shame intensifies when failure is attributed to character rather than to load and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Psychosynthesis bifocal vision holds realistic limits and environmental strain alongside meaning and dignity.</a:t>
            </a:r>
          </a:p>
          <a:p>
            <a:pPr>
              <a:defRPr sz="1100">
                <a:latin typeface="Calibri"/>
              </a:defRPr>
            </a:pPr>
            <a:r>
              <a:t>• Single-parent poverty tightens the margin for error when executive load is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GPs under time pressure may offer minimal intervention; ADHD waiting lists can exceed twelve months in many areas.</a:t>
            </a:r>
          </a:p>
          <a:p>
            <a:pPr>
              <a:defRPr sz="1100">
                <a:latin typeface="Calibri"/>
              </a:defRPr>
            </a:pPr>
            <a:r>
              <a:t>• Safeguarding language can be triggered when schools perceive neglect; formulation must separate poverty and overload from intent to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(Day 1 PM): 50–55 minutes total for case slides, both task slides, and exercise time.</a:t>
            </a:r>
          </a:p>
          <a:p>
            <a:pPr>
              <a:defRPr sz="1100">
                <a:latin typeface="Calibri"/>
              </a:defRPr>
            </a:pPr>
            <a:r>
              <a:t>• Full narrative and tasks: V4-Ousmane-Overload.docx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executive overload, parenting, safeguarding edge, contradictory presentation, systems interfaces.</a:t>
            </a:r>
          </a:p>
          <a:p>
            <a:pPr>
              <a:defRPr sz="1100">
                <a:latin typeface="Calibri"/>
              </a:defRPr>
            </a:pPr>
            <a:r>
              <a:t>• NHS and school pathways constrain what one counselling hour can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Contradiction between capable presentation and functional collapse is common in masking and overload, not proof of manipulation.</a:t>
            </a:r>
          </a:p>
          <a:p>
            <a:pPr>
              <a:defRPr sz="1100">
                <a:latin typeface="Calibri"/>
              </a:defRPr>
            </a:pPr>
            <a:r>
              <a:t>• Text contact raises boundary and clinical-record questions; agencies differ on whether SMS constitutes part of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Children’s services thresholds vary; school concern letters often precede formal section 17 or section 47 processes in England and Wales contexts.</a:t>
            </a:r>
          </a:p>
          <a:p>
            <a:pPr>
              <a:defRPr sz="1100">
                <a:latin typeface="Calibri"/>
              </a:defRPr>
            </a:pPr>
            <a:r>
              <a:t>• Documentation of contradictory accounts protects you later if risk is retrospectively questioned.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tasks: allow ~25–30 minutes for pair/small-group work across both task slides within the 50–55 minute Ousmane budget.</a:t>
            </a:r>
          </a:p>
          <a:p>
            <a:pPr>
              <a:defRPr sz="1100">
                <a:latin typeface="Calibri"/>
              </a:defRPr>
            </a:pPr>
            <a:r>
              <a:t>• Formulation first clarifies hypotheses about overload versus neglect versus both; without it, liaison can be reactive.</a:t>
            </a:r>
          </a:p>
          <a:p>
            <a:pPr>
              <a:defRPr sz="1100">
                <a:latin typeface="Calibri"/>
              </a:defRPr>
            </a:pPr>
            <a:r>
              <a:t>• Immediate decisions often hinge on whether children are currently safe enough for brief delay while engagement is secured.</a:t>
            </a:r>
          </a:p>
          <a:p>
            <a:pPr>
              <a:defRPr sz="1100">
                <a:latin typeface="Calibri"/>
              </a:defRPr>
            </a:pPr>
            <a:r>
              <a:t>• Supervision questions later may target bifocal vision when every systemic door feels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Six-session arcs in overloaded parents often alternate practical wins with shame processing; depth without basics usually fails.</a:t>
            </a:r>
          </a:p>
          <a:p>
            <a:pPr>
              <a:defRPr sz="1100">
                <a:latin typeface="Calibri"/>
              </a:defRPr>
            </a:pPr>
            <a:r>
              <a:t>• Supervision might examine whether fear of statutory services is distorting your threshold upward or downward.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Day 1 PM block in this deck: short consolidation before the 60-minute lunch if your live day still has afternoon teaching after lunch, reorder accordingly.</a:t>
            </a:r>
          </a:p>
          <a:p>
            <a:pPr>
              <a:defRPr sz="1100">
                <a:latin typeface="Calibri"/>
              </a:defRPr>
            </a:pPr>
            <a:r>
              <a:t>• Small repeatable changes track with neuroplasticity themes on day two: repetition shapes habit more than single insights.</a:t>
            </a:r>
          </a:p>
          <a:p>
            <a:pPr>
              <a:defRPr sz="1100">
                <a:latin typeface="Calibri"/>
              </a:defRPr>
            </a:pPr>
            <a:r>
              <a:t>• Contracts should name how out-of-session contact is used so crisis texts are clinically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Lunch: 60 minutes; confirm start and end times locally (often 13:00–14:00).</a:t>
            </a:r>
          </a:p>
          <a:p>
            <a:pPr>
              <a:defRPr sz="1100">
                <a:latin typeface="Calibri"/>
              </a:defRPr>
            </a:pPr>
            <a:r>
              <a:t>• Post-prandial dips in vigilance are common; risk-heavy material scheduled immediately after lunch may warrant slower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534D-47D2-3F83-D4F1-634AC26D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13C4D-FF73-13BE-229E-F940E97F6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CC0CA-CFC9-E1BF-3FA6-F38B6BE1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Case work (teaching slides + tasks, venue-dependent): Leah ~40–45 min; Ousmane ~50–55 min; Emily ~60 min; Michael ~60–65 min; plus contracted breaks and lunch.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</a:p>
          <a:p>
            <a:pPr>
              <a:defRPr sz="1100">
                <a:latin typeface="Calibri"/>
              </a:defRPr>
            </a:pPr>
            <a:r>
              <a:t>• Cases match the V4 Word handouts in the CASE STUDIES folder (V4-Leah-Shame.docx through V4-Michael-Risk.docx);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93929-B360-8363-45BD-73318A1F5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3923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start: ~15 minutes meditation plus ~15 minutes check-in before trauma and Emily material.</a:t>
            </a:r>
          </a:p>
          <a:p>
            <a:pPr>
              <a:defRPr sz="1100">
                <a:latin typeface="Calibri"/>
              </a:defRPr>
            </a:pPr>
            <a:r>
              <a:t>• Sleep disruption after emotionally loaded training is a common group phenomenon and does not by itself indicate disorder.</a:t>
            </a:r>
          </a:p>
          <a:p>
            <a:pPr>
              <a:defRPr sz="1100">
                <a:latin typeface="Calibri"/>
              </a:defRPr>
            </a:pPr>
            <a:r>
              <a:t>• Today’s dissociation and escalation teaching assumes yesterday’s shame and risk material is already integrated cognitively.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(before afternoon break): allow ~60 minutes for Emily (case + tasks) within a wider morning that also includes trauma overlap teaching, neuroplasticity, and clinical response.</a:t>
            </a:r>
          </a:p>
          <a:p>
            <a:pPr>
              <a:defRPr sz="1100">
                <a:latin typeface="Calibri"/>
              </a:defRPr>
            </a:pPr>
            <a:r>
              <a:t>• Dissociation teaching follows trauma framing because defensive absence is easier to understand once nervous-system threat is named.</a:t>
            </a:r>
          </a:p>
          <a:p>
            <a:pPr>
              <a:defRPr sz="1100">
                <a:latin typeface="Calibri"/>
              </a:defRPr>
            </a:pPr>
            <a:r>
              <a:t>• Emily’s university context adds institutional confidentiality pressure distinct from NHS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PTSD and complex trauma formulations in ICD-11 and DSM-5 still leave grey overlap with anxiety and mood disorders in routine practice.</a:t>
            </a:r>
          </a:p>
          <a:p>
            <a:pPr>
              <a:defRPr sz="1100">
                <a:latin typeface="Calibri"/>
              </a:defRPr>
            </a:pPr>
            <a:r>
              <a:t>• Therapist pacing regulates arousal in the hour; faster is not always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Childhood adversity rates are elevated in ADHD cohorts; correlation does not tell you which to treat first in an adult.</a:t>
            </a:r>
          </a:p>
          <a:p>
            <a:pPr>
              <a:defRPr sz="1100">
                <a:latin typeface="Calibri"/>
              </a:defRPr>
            </a:pPr>
            <a:r>
              <a:t>• Medication decisions belong to psychiatry; counselling formulation still informs what to monitor and report back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DSM dissociative disorders are under-diagnosed; subthreshold dissociation still matters for safety planning.</a:t>
            </a:r>
          </a:p>
          <a:p>
            <a:pPr>
              <a:defRPr sz="1100">
                <a:latin typeface="Calibri"/>
              </a:defRPr>
            </a:pPr>
            <a:r>
              <a:t>• Differentiate ordinary distraction from dissociative absence when self-harm or suicide content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Grof and Clarke volumes inform understanding of psychosis and spirituality interfaces; they do not replace safeguarding law or competence limits.</a:t>
            </a:r>
          </a:p>
          <a:p>
            <a:pPr>
              <a:defRPr sz="1100">
                <a:latin typeface="Calibri"/>
              </a:defRPr>
            </a:pPr>
            <a:r>
              <a:t>• Nelson’s integration theme warns against forcing insight before the client can stay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(Day 2 AM): 60 minutes total for case slides, both task slides, and exercise time.</a:t>
            </a:r>
          </a:p>
          <a:p>
            <a:pPr>
              <a:defRPr sz="1100">
                <a:latin typeface="Calibri"/>
              </a:defRPr>
            </a:pPr>
            <a:r>
              <a:t>• Full narrative and tasks: V4-Emily-Dissociation.docx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dissociation, inconsistent self-harm reporting, university policy tension, escalation under unreliable data.</a:t>
            </a:r>
          </a:p>
          <a:p>
            <a:pPr>
              <a:defRPr sz="1100">
                <a:latin typeface="Calibri"/>
              </a:defRPr>
            </a:pPr>
            <a:r>
              <a:t>• Do not infer trauma history that is not in the written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Inconsistent timelines are clinically meaningful: they may reflect shame, memory fragmentation, or both.</a:t>
            </a:r>
          </a:p>
          <a:p>
            <a:pPr>
              <a:defRPr sz="1100">
                <a:latin typeface="Calibri"/>
              </a:defRPr>
            </a:pPr>
            <a:r>
              <a:t>• Do not infer a specific trauma history that she has not given; stay with presented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University counselling sits inside student conduct and safeguarding policies that differ by institution; you need your own service manual.</a:t>
            </a:r>
          </a:p>
          <a:p>
            <a:pPr>
              <a:defRPr sz="1100">
                <a:latin typeface="Calibri"/>
              </a:defRPr>
            </a:pPr>
            <a:r>
              <a:t>• Flat affect in written communication after dissociation reports is not reassurance; it is ambiguous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Stabilisation-first sequencing is consistent with NICE-informed trauma-informed care even when full PTSD treatment waits.</a:t>
            </a:r>
          </a:p>
          <a:p>
            <a:pPr>
              <a:defRPr sz="1100">
                <a:latin typeface="Calibri"/>
              </a:defRPr>
            </a:pPr>
            <a:r>
              <a:t>• Institutional escalation without consent may be lawful in some serious-risk policies; legality and alliance still conflict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tasks: allow ~28–32 minutes for pair/small-group work across both task slides within the 60-minute Emily budget.</a:t>
            </a:r>
          </a:p>
          <a:p>
            <a:pPr>
              <a:defRPr sz="1100">
                <a:latin typeface="Calibri"/>
              </a:defRPr>
            </a:pPr>
            <a:r>
              <a:t>• Immediate decision-making with partial data mirrors real student services work where crisis lines refuse generic anxiety presentations.</a:t>
            </a:r>
          </a:p>
          <a:p>
            <a:pPr>
              <a:defRPr sz="1100">
                <a:latin typeface="Calibri"/>
              </a:defRPr>
            </a:pPr>
            <a:r>
              <a:t>• Ethical trade-offs should be written: what you protect (life, autonomy, education) and what you risk (alliance, confidentiality).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Emily block: brief plenary optional before neuroplasticity and clinical response.</a:t>
            </a:r>
          </a:p>
          <a:p>
            <a:pPr>
              <a:defRPr sz="1100">
                <a:latin typeface="Calibri"/>
              </a:defRPr>
            </a:pPr>
            <a:r>
              <a:t>• Supervision might test whether fear of being seen as “over-reacting” is lowering your threshold inappropriately.</a:t>
            </a:r>
          </a:p>
          <a:p>
            <a:pPr>
              <a:defRPr sz="1100">
                <a:latin typeface="Calibri"/>
              </a:defRPr>
            </a:pPr>
            <a:r>
              <a:t>• Stabilisation plans fail if escalation is never reconsidered when new facts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AM: neuroplasticity follows dissociation and Emily work; keep this and the next slide relatively tight so the afternoon break and Michael (60–65 min) stay protected.</a:t>
            </a:r>
          </a:p>
          <a:p>
            <a:pPr>
              <a:defRPr sz="1100">
                <a:latin typeface="Calibri"/>
              </a:defRPr>
            </a:pPr>
            <a:r>
              <a:t>• This supports realistic homework and between-session structure rather than single breakthrough expectations.</a:t>
            </a:r>
          </a:p>
          <a:p>
            <a:pPr>
              <a:defRPr sz="1100">
                <a:latin typeface="Calibri"/>
              </a:defRPr>
            </a:pPr>
            <a:r>
              <a:t>• Medication and neurodiversity both modulate plasticity; formulation stays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closure: this slide bridges into the twenty-minute afternoon break before Michael and integration.</a:t>
            </a:r>
          </a:p>
          <a:p>
            <a:pPr>
              <a:defRPr sz="1100">
                <a:latin typeface="Calibri"/>
              </a:defRPr>
            </a:pPr>
            <a:r>
              <a:t>• Collaborative safety planning names triggers, early signs, and help-seeking routes appropriate to your service hours.</a:t>
            </a:r>
          </a:p>
          <a:p>
            <a:pPr>
              <a:defRPr sz="1100">
                <a:latin typeface="Calibri"/>
              </a:defRPr>
            </a:pPr>
            <a:r>
              <a:t>• Step-down and step-up of frequency should follow risk and functioning, not habit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Afternoon break: 20 minutes; confirm return time before Michael (60–65 min including tasks, hold-uncertainty, supervision, integration).</a:t>
            </a:r>
          </a:p>
          <a:p>
            <a:pPr>
              <a:defRPr sz="1100">
                <a:latin typeface="Calibri"/>
              </a:defRPr>
            </a:pPr>
            <a:r>
              <a:t>• The afternoon segment stacks acute-ambiguity risk with documentation and integration; recovery before it supports steadier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Michael block needs ~60–65 minutes including case slides, tasks, hold uncertainty while acting, supervision, integration, and space before closing.</a:t>
            </a:r>
          </a:p>
          <a:p>
            <a:pPr>
              <a:defRPr sz="1100">
                <a:latin typeface="Calibri"/>
              </a:defRPr>
            </a:pPr>
            <a:r>
              <a:t>• Private-sector and stepped-care gaps change what “escalation” means but not documentation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NHS and social care thresholds are not identical to counselling thresholds; know your employer’s policy.</a:t>
            </a:r>
          </a:p>
          <a:p>
            <a:pPr>
              <a:defRPr sz="1100">
                <a:latin typeface="Calibri"/>
              </a:defRPr>
            </a:pPr>
            <a:r>
              <a:t>• Duty to warn or protect varies by jurisdiction; training curricula should name local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(Day 2 PM): 60–65 minutes total for case slides, both task slides, and linked discussion.</a:t>
            </a:r>
          </a:p>
          <a:p>
            <a:pPr>
              <a:defRPr sz="1100">
                <a:latin typeface="Calibri"/>
              </a:defRPr>
            </a:pPr>
            <a:r>
              <a:t>• Full narrative and tasks: V4-Michael-Risk.docx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ambiguous risk below crisis thresholds, contradictory hope cues, private-sector context, hold uncertainty while acting.</a:t>
            </a:r>
          </a:p>
          <a:p>
            <a:pPr>
              <a:defRPr sz="1100">
                <a:latin typeface="Calibri"/>
              </a:defRPr>
            </a:pPr>
            <a:r>
              <a:t>• Reasonable clinicians may disagree on escalation timing; accountable reasoning is the learning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 no-show explained as losing the day may reflect cognitive slip in low mood, passive resistance, or both; it widens the file without confirming intent.</a:t>
            </a:r>
          </a:p>
          <a:p>
            <a:pPr>
              <a:defRPr sz="1100">
                <a:latin typeface="Calibri"/>
              </a:defRPr>
            </a:pPr>
            <a:r>
              <a:t>• Contradictory future orientation versus withdrawal is not intent to die; it is ambiguity that competent clinicians read differently.</a:t>
            </a:r>
          </a:p>
          <a:p>
            <a:pPr>
              <a:defRPr sz="1100">
                <a:latin typeface="Calibri"/>
              </a:defRPr>
            </a:pPr>
            <a:r>
              <a:t>• Functional markers anchor risk review when words minimise distress.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Documentation separates observed behaviour, client words, and clinician inference—each line carries different evidential weight.</a:t>
            </a:r>
          </a:p>
          <a:p>
            <a:pPr>
              <a:defRPr sz="1100">
                <a:latin typeface="Calibri"/>
              </a:defRPr>
            </a:pPr>
            <a:r>
              <a:t>• Supervision unpacks whether your anxiety is calibrated to his data or to your own history with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tasks: allow ~30–35 minutes for pair/small-group work across both task slides within the 60–65 minute Michael budget.</a:t>
            </a:r>
          </a:p>
          <a:p>
            <a:pPr>
              <a:defRPr sz="1100">
                <a:latin typeface="Calibri"/>
              </a:defRPr>
            </a:pPr>
            <a:r>
              <a:t>• Overnight flips often involve new intent, substance use, sudden isolation loss, or third-party report of plan.</a:t>
            </a:r>
          </a:p>
          <a:p>
            <a:pPr>
              <a:defRPr sz="1100">
                <a:latin typeface="Calibri"/>
              </a:defRPr>
            </a:pPr>
            <a:r>
              <a:t>• Private clients still merit NHS medical assessment when physical decline or severe depression is suspected.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Four-session arcs might pair behavioural activation with grief processing if risk stays stable.</a:t>
            </a:r>
          </a:p>
          <a:p>
            <a:pPr>
              <a:defRPr sz="1100">
                <a:latin typeface="Calibri"/>
              </a:defRPr>
            </a:pPr>
            <a:r>
              <a:t>• Supervision questions on countertransference reduce false certainty in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Michael block: allow time after tasks for explicit discussion of acting versus waiting with incomplete files.</a:t>
            </a:r>
          </a:p>
          <a:p>
            <a:pPr>
              <a:defRPr sz="1100">
                <a:latin typeface="Calibri"/>
              </a:defRPr>
            </a:pPr>
            <a:r>
              <a:t>• Michael’s file illustrates that reasonable disagreement between clinicians is compatible with accountable individual decisions.</a:t>
            </a:r>
          </a:p>
          <a:p>
            <a:pPr>
              <a:defRPr sz="1100">
                <a:latin typeface="Calibri"/>
              </a:defRPr>
            </a:pPr>
            <a:r>
              <a:t>• Ethical tension stays live; closure narratives are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supervision material supports the final integration and closing; leave ~15–20 minutes for integration + closing + references if the day ends at 17:00.</a:t>
            </a:r>
          </a:p>
          <a:p>
            <a:pPr>
              <a:defRPr sz="1100">
                <a:latin typeface="Calibri"/>
              </a:defRPr>
            </a:pPr>
            <a:r>
              <a:t>• Group and individual supervision differ in confidentiality; bring anonymised facts consistent with your service policy.</a:t>
            </a:r>
          </a:p>
          <a:p>
            <a:pPr>
              <a:defRPr sz="1100">
                <a:latin typeface="Calibri"/>
              </a:defRPr>
            </a:pPr>
            <a:r>
              <a:t>• Supervision minutes can be subpoenaed in some proceedings; content should stay factual and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Pre-closing: integration often runs 10–15 minutes depending on discussion length.</a:t>
            </a:r>
          </a:p>
          <a:p>
            <a:pPr>
              <a:defRPr sz="1100">
                <a:latin typeface="Calibri"/>
              </a:defRPr>
            </a:pPr>
            <a:r>
              <a:t>• Integration links Leah’s shame, Ousmane’s overload, Emily’s dissociation, and Michael’s ambiguity under one risk–formulation framework.</a:t>
            </a:r>
          </a:p>
          <a:p>
            <a:pPr>
              <a:defRPr sz="1100">
                <a:latin typeface="Calibri"/>
              </a:defRPr>
            </a:pPr>
            <a:r>
              <a:t>• Psychosynthesis contributions sit alongside safeguarding law and NHS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Day 2: allow a few minutes for quiet consolidation and checkout consistent with programme norms.</a:t>
            </a:r>
          </a:p>
          <a:p>
            <a:pPr>
              <a:defRPr sz="1100">
                <a:latin typeface="Calibri"/>
              </a:defRPr>
            </a:pPr>
            <a:r>
              <a:t>• Ambivalence, fatigue, or numbness after risk teaching resemble common stress responses and are not by themselves signs of disorder.</a:t>
            </a:r>
          </a:p>
          <a:p>
            <a:pPr>
              <a:defRPr sz="1100">
                <a:latin typeface="Calibri"/>
              </a:defRPr>
            </a:pPr>
            <a:r>
              <a:t>• Trainees are encouraged to use programme pastoral routes and their own supervision where personal material has been stirred.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Final slide: references can be emailed or posted rather than read aloud if time has overrun.</a:t>
            </a:r>
          </a:p>
          <a:p>
            <a:pPr>
              <a:defRPr sz="1100">
                <a:latin typeface="Calibri"/>
              </a:defRPr>
            </a:pPr>
            <a:r>
              <a:t>• First three references are complete as printed; match your programme’s Harvard punctuation if required.</a:t>
            </a:r>
          </a:p>
          <a:p>
            <a:pPr>
              <a:defRPr sz="1100">
                <a:latin typeface="Calibri"/>
              </a:defRPr>
            </a:pPr>
            <a:r>
              <a:t>• Grof and Clarke entries lack publisher and place in this master list; confirm in library catalogues before formal essays.</a:t>
            </a:r>
          </a:p>
          <a:p>
            <a:pPr>
              <a:defRPr sz="1100">
                <a:latin typeface="Calibri"/>
              </a:defRPr>
            </a:pPr>
            <a:r>
              <a:t>• Critical medicalisation literature may be taught separately; only cite with full bibliographic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r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 fontScale="55000" lnSpcReduction="20000"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Weekend rhythm and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Saturday and Sunday: 10:00–17:00 (UK), as contracted for this module.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Each day includes about fifteen minutes meditation, an optional fifteen-minute check-in, teaching blocks, a twenty-minute morning break, lunch (often 13:00–14:00), and a twenty-minute afternoon break.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file, day-one afternoon teaching appears before the lunch slide, then day two; live timetables may reorder blocks while preserving total teaching and break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 fontScale="90000"/>
          </a:bodyPr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Teaching frame: authority, containment,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Authority: clear contracts, accountable risk questions, and decisions you could defend to a regulator or employer.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Containment: pacing, boundaries on depth, and stabilisation before exploratory work where dissociation or shame dominates.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Engagement: active formulation tasks, uncertainty tolerated, and reasoning made visible rather than impressionistic.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Postgraduate learning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bring substantial prior professional and life experience; the standard is formation, not introductory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judgement means reasons tied to observations, questions asked, and record entries—not preference without evidence.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Pairs and small discussion translate theory into decisions you might make under your contract and supervision arrangement.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Diagnosis and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Diagnosis functions as a working hypothesis: a shorthand for clustering symptoms and functioning, open to revision as context emerges.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is evolving and contextual: it links history, relationships, culture, environment, and risk in a narrative you update in supervision.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Neither replaces the other; both can sit in the same file if the reasoning for each is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 follows PET convention for starting teaching days.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Optional check-in of about fifteen minutes: “How do you feel about this material?”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move into the day one morning block: framing, risk principles, and the Leah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>
            <a:normAutofit lnSpcReduction="10000"/>
          </a:bodyPr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Framing, diagnosis and formulation, risk principles, case Leah (shame, family, ND tension, risk).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links: parts, meaning alongside risk, brief I–Self and disidentification.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the morning break before the neurodiversity and Ousmane block.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Psychopathology offers shared language across professions and services when that language is used descriptively rather than as identity.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Meaning and risk are held together: one does not cancel assessment, and assessment does not cancel curiosity about what the client cares about.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is ordinary; paralysis and premature closure are both clinical errors in different directions.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Diagnostic labels describe patterns, not the whole person; clients arrive already shaped by prior assessments and by what families believe those labels mean.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formulation integrates symptoms, history, culture, and environment and can change when new information appears.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Thinking clinically means holding categories lightly enough to notice what does not fit, without denying real impairment or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is dynamic: it shifts with isolation, sleep loss, humiliation, substance use, and relationship rupture, not only with expressed emotion.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Intensity of affect is not a one-to-one map to level of danger; quiet compliance can accompany high-lethality planning.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Direct, respectful enquiry about thoughts, intent, plan, means, and protective factors is standard practice, not an escalation in itself.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Thresholds for NHS crisis or emergency services vary by area and gatekeeping; your local pathway still requires a clear clinical rationale in the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"Leah"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presentation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has left several retail and hospitality jobs within weeks; busy environments, shift changes, and managerial check-ins overwhelm her.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withdraws to her room, reverses sleep, drops contact with friends, and describes low energy, self-criticism, and post-social rumination.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friend raised autism or ADHD; she recognises overload and burnout but refuses assessment, fearing a label would end hope of being “normal.”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Curiosity in the room meets shame and pride; exploration stays descriptive and co-created, not diagnostic.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risk, family pressure, therapy ambivalence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Session two: she denies self-harm; session three after a fight she discloses standing at paracetamol and ibuprofen, wanting everything to stop, then walking away.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cannot say how long she stood there or whether she handled packets; affect flattens when pressed; she minimises and has not told the GP.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Her mother threatened to stop non-essential spending if she does not find stable work by spring; Leah reads that as conditional love.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Part of her wants honesty and structure; part expects to drop therapy as she dropped jobs; there is no out-of-hours crisis cover in this service.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must decide in-session whether same-day GP contact is proportionate or whether that risks betrayal and dropout with risk still unassessed elsewhere.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Sub-personalities and shame (Leah)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parts may hold contradictory positions: one ashamed and hiding risk, one hopeful about therapy, one hostile to parents, one fearful of labels.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Mapping those positions without dramatising can reduce fusion with any single story the client tells in one hour.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often attaches to help-seeking and to risk disclosure; the part that minimises may be trying to preserve dignity.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Suffering can be meaningful in the client’s life story without minimising danger or delaying safety steps.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Non-identification supports witnessing patterns without the therapist fusing with rescue fantasies or with contempt for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decisions remain ordinary, accountable, and documented; meaning-making does not replace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I, Self, and disidentification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An observing stance—naming affect and impulse without fusing with them—supports disidentification in session.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use includes not over-identifying with the client’s narrative or with your own anxiety about getting risk wrong.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Depth and spirit in psychosynthesis still sit inside boundaries, competence, and the duty of care.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perspective (integration)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Distress may reflect fragmentation of subpersonalities; integration is gradual and relationship-dependent.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 precedes exploration when shame, risk, or dissociation are live.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Context and inner process are both in the formulation; neither cancels safeguarding or NHS pathways.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draft a working formulation that holds mood, shame, family context, possible ND-relevant processing differences, and risk—stating explicitly what you do not know and what would change your view.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do you do after the cupboard disclosure (same day / before next session)—including whether to involve GP, breach confidentiality to parents, or use another route—and why?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how you would pace the next six to eight sessions if she remains engaged, and name one question you would take to supervision about either risk or family/system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Morning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neurodiversity, overload, safeguarding, and Ousmane.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schedule; sustained attention drops when breaks are skipped or shortened.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>
            <a:normAutofit lnSpcReduction="10000"/>
          </a:bodyPr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Neurodiversity, executive load, masking, environment, case Ousmane (overload, children, services).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Practical stabilisation before depth; bifocal vision in tasks.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This block in the file precedes the lunch slide; align to your Saturday clock if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 frames difference in processing; impairment is often interaction between person and environment.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functions—planning, inhibition, working memory—explain organisation and timing problems without moral blame.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overload drives shutdown; masking consumes resources and delays recognition, especially where social expectation is high.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Masking and the cost of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Camouflaging effort in work, parenting, or study leads to exhaustion, late collapse, and misrecognition by brief contacts.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present as capable in structured appointments while function at home disintegrates.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should name the price of passing as neurotypical when demand exceeds capacity.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Environment ×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Adjusting context—timing, reminders, sensory load, paperwork support—is part of ethical practice, not a lowering of standards.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When the environment changes, the same person may function markedly differently; formulation updates accordingly.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Liaison with housing, school, or benefits may be as important as insight-oriented work in some weeks.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challenges (neurodiversity)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Difference is frequently misread as poor motivation or non-compliance in services built on uniform expectations.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accumulates through repeated failure narratives from employers, schools, and prior clinicians.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stance needs flexibility without pretending certainty where assessment and support are still pending.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"Ousmane"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overload and contradiction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load: mind goes blank on multi-step tasks, unopened post, phone menus lost once anxiety rises.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is poor; some days he cannot start meals or wash uniforms despite love for his children and fear of judgement.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Possible ADHD was noted before; assessment never completed after long waits and a dropped triage 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Between-session texts may sound desperate while sessions sound minimised; channel use may fall outside your service policy.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ethics, services, shifting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and trust versus duty to children: early school involvement may protect or may drive him away from all support.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waits and unaffordable private assessment limit biological framing even when it would help self-understanding.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GP contact was superficial; mindfulness advice did not address housing or parenting load.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reports takeaways four nights one week, then “mostly proper meals” the next and cannot align details.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choose without unanimity or full information: safeguarding conversation, GP re-referral, stabilisation contract, or another proportionate step—and you record the shifting history.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neurodiversity-related and executive-load factors with poverty, parenting load, shame, and service thresholds—stating what remains unknown.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is your next move after this session (for example consent for school liaison, GP letter, safeguarding discussion, safety plan only)—with brief rationale and what would make you revise it.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sketch a six-session arc balancing practical stabilisation with emotional work, and name one supervision question on safeguarding boundaries or bifocal vision under extreme strain.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structure, routine, written prompts, and graded tasks where they reduce executive demand.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Reduce overwhelm before pushing insight; stabilisation supports later meaning-making.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Referral and advocacy—housing, benefits, school—may sit alongside counselling within role boundaries.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Lunch — 1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Lunch is often scheduled 13:00–14:00; confirm the time in your cohort paperwork.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deck, day two begins after lunch; your venue may instead continue day one into the late afternoon.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0C1D-E9CB-3F45-7B1A-DEC82206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209B2C79-437C-438D-F323-30F03FC02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356978-C859-C914-29F7-7FA129E7A8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 fontScale="90000"/>
          </a:bodyPr>
          <a:lstStyle/>
          <a:p>
            <a:r>
              <a:rPr b="1" dirty="0"/>
              <a:t>DAY TWO</a:t>
            </a:r>
            <a:br>
              <a:rPr dirty="0"/>
            </a:br>
            <a:br>
              <a:rPr lang="en-US" dirty="0"/>
            </a:br>
            <a:r>
              <a:rPr dirty="0"/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B47C6764-C578-0018-CA64-A107405AF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1FAFB15-226E-4D0B-2AC3-14F5FFF621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 fontScale="55000" lnSpcReduction="20000"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78EE7573-BAC9-6F46-CE44-A252A56CC0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50CDA8-5BD7-7185-4ACC-D95EF6628C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05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Check-in of about fifteen minutes: “What did yesterday bring up for you?”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day two morning: trauma, differential with ADHD, dissociation, Emily, neuroplasticity, clinical response.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physiology, trauma versus ADHD overlap, dissociation, Emily case, neuroplasticity, phased response.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afternoon break before Michael and integration themes.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is held in the nervous system as well as in narrative memory; body responses can precede words.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Regulation, perception, and relating change after threat; triggers can flip states quickly.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oscillate between hyperarousal and shutdown; both carry relational and risk implications.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presentation and ADHD —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Inattention, restlessness, sleep disruption, and emotional lability appear in both trauma-related states and ADHD.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Premature single explanations waste time; formulation holds both until history, onset, and response to stabilisation clarify the picture.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assessments are often lengthy; trauma-informed stabilisation can run in parallel without closing either hypothesis.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Dissociation is often protective after overwhelm; it may show as spacing out, depersonalisation, gaps in time, or inconsistent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Subtle dissociation is easy to miss in brief contacts; risk assessment degrades when continuity of self is unstable.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Strong dissociation correlates with higher risk when intent and behaviour are not fully accessible to conscious report.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Rapid depth or transpersonal interpretation is unsafe when fragmentation and risk are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means relationship reliability, predictable structure, and skills for grounding before trauma narrative 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Spiritual emergency literature describes crisis states; it is background reading, not a technique checklist for beginners.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"Emily"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mood, dissociation, inconsistent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Self-harm reportedly “weeks ago” in session one; by session three she cannot tell cutting three days ago from ideation only.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Healed marks on her forearm are shown; she links them to probable dissociation but cannot sequence events.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Detachment episodes last minutes to hours; after one she missed counselling entirely and lost the afternoon.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disconnection examples include hearing a phone without linking it to herself.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risk, services, escalation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is unsure she can stay safe; she fears psychiatric assessment, compulsory leave, or being seen as manipulative.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Family values stoicism; disclosure to them is partial. A flat email arrives asking to cancel the next session while saying she is “okay now.”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 GP collateral. Local crisis services often gate on explicit intent or recent attempt; her presentation is partial and fluctuating.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 tutor emailed asking if she is “engaging”; you have not answered. Escalation might save life or destroy alliance; non-escalation might hide risk.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stabilisation examples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might include brief orientation or grounding in session, a simple sleep or meal routine target, or one negotiated academic boundary such as a supported extension—examples only, not a protocol.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Micro-boundaries on workload reduce overload while trust builds; depth trauma work waits until presence is more reliable.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review frequency increases when self-report is unstable; documentation names what is unknown.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link mood, dissociation, academic pressure, family context, and self-harm—explicitly noting contradictions in her account and what you still cannot know.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given the vague email and unclear recent self-harm, what do you do before the next scheduled contact (outreach, involve others, document and wait)—and what is the ethical trade-off?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stabilisation-first work for the next few sessions if she remains in contact, and one supervision question on escalation thresholds or institutional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Repeated experience strengthens neural and emotional patterns—for better and for worse.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Trauma-linked survival responses become automatic; change tends to be gradual and non-linear.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Insight alone rarely shifts embodied habits without repeated relational and behavioural practice.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Stabilise before exploratory trauma processing when dissociation or risk is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Pace the hour to prevent dysregulation; fewer interpretations when arousal is high.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monitoring continues after clients feel safer because new material often emerges with reduced guarding.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Afternoon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the afternoon block: Michael case, hold uncertainty while acting, supervision as containment, integration, and closing.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under ambiguity (Michael), documentation, supervision, integration, references.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David case removed; Michael carries the acute risk-teaching load for this version.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decisions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Balance autonomy with duty of care; escalate when risk becomes active against defined criteria.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supports proportionate decisions; records show questions, answers, and rationale.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Clear documentation protects clients and practitioners when events are later disputed.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"Michael"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function, contradiction, private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missed his last scheduled session, later explaining he had 'lost track of the day,' which fits with his account but adds to the pattern of inconsistency.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fragments between waking at 3 a.m. and sleeping past midday; eating is patchy; unintended weight loss; hygiene slips on bad weeks.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works from home on a thin contract; daytime isolation is almost total; no occupational health route.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talking therapies use stepped-care thresholds; private counselling may sit outside those pathways while concern remains real.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Sister offered joint session; he refuses, then says maybe later, and does not follow up—another ambivalent data point.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judgement without 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Practitioner unease sits below emergency-service thresholds yet above comfort with simple reassurance.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supports continuing exploratory work; duty of care questions whether minimisation is being colluded with.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Insisting on GP contact now might rupture therapy; deferring might leave medical risk unassessed.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Two clinicians could disagree on timing; you still choose an action before the session ends and record unknowns explicitly.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bereavement, withdrawal, functional change, and the contradictory future hint—stating what supports lower immediate risk and what keeps escalation on the 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act now (for example insist on GP contact or boundary shift) or hold and contract—and what would flip your choice overnight?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use of the next four sessions if he continues, and one supervision question separating your anxiety from his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Hold uncertainty while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does not remove duty to decide: you choose outreach level, frequency, documentation, and consultation on incomplete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Acting can mean a safety plan, GP encouragement, or family contact with consent—not only emergency services.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Waiting with a clear review date differs from passive drift; both should be explicit in notes.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Supervision as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holds uncertainty that cannot be fully processed in the hour with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supports proportionate risk decisions and challenges both rescue and avoidance pulls.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is a professional requirement in most UK training and practice frameworks, not an optional extra when anxious.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Hold meaning and risk together across the weekend’s cases without collapsing into either pure pathology or pure optimism.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Recognise limits of the counselling role relative to medicine, statutory services, and employer duties.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Decision-making, documentation, and supervision together form ethical practice—not intuition alone.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short period of quiet consolidation before leaving can support integration of dense risk and formulation material from the weekend.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Structured peer checkout is optional in many cohorts; psychological safety includes the right not to disclose personal material.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Continued personal activation after risk-focused teaching is a common response; programmes usually signpost pastoral care and supervision rather than large-group therapeutic processing.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Nelson, J.E. (1994) Healing the split: Integrating spirit into our understanding of the mentally ill.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(2002) Psychosynthesis: A psychology of the spirit.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(1997) The primal wound: A transpersonal view of trauma, addiction, and growth.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Grof, S. and Grof, C. (eds) (1989) Spiritual emergency: When personal transformation becomes a crisis.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(2001) Psychosis and spirituality: Exploring the new frontier.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Props1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7163</Words>
  <Application>Microsoft Office PowerPoint</Application>
  <PresentationFormat>Widescreen</PresentationFormat>
  <Paragraphs>406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Arial Narrow</vt:lpstr>
      <vt:lpstr>Calibri</vt:lpstr>
      <vt:lpstr>Calibri Light</vt:lpstr>
      <vt:lpstr>Office Theme</vt:lpstr>
      <vt:lpstr>Psychopathology &amp; synthesis</vt:lpstr>
      <vt:lpstr>Weekend rhythm and time</vt:lpstr>
      <vt:lpstr>Teaching frame: authority, containment, engagement</vt:lpstr>
      <vt:lpstr>Postgraduate learning posture</vt:lpstr>
      <vt:lpstr>Diagnosis and formulation</vt:lpstr>
      <vt:lpstr>Day one — opening</vt:lpstr>
      <vt:lpstr>Day one — morning</vt:lpstr>
      <vt:lpstr>Framing the work</vt:lpstr>
      <vt:lpstr>Working with psychopathology</vt:lpstr>
      <vt:lpstr>Risk — core principles</vt:lpstr>
      <vt:lpstr>Case Study: "Leah"</vt:lpstr>
      <vt:lpstr>Leah — presentation and context</vt:lpstr>
      <vt:lpstr>Leah — risk, family pressure, therapy ambivalence</vt:lpstr>
      <vt:lpstr>Sub-personalities and shame (Leah)</vt:lpstr>
      <vt:lpstr>Meaning alongside risk</vt:lpstr>
      <vt:lpstr>I, Self, and disidentification</vt:lpstr>
      <vt:lpstr>Psychosynthesis perspective (integration)</vt:lpstr>
      <vt:lpstr>Tasks — Leah (1)</vt:lpstr>
      <vt:lpstr>Tasks — Leah (2)</vt:lpstr>
      <vt:lpstr>Morning break — 20 minutes</vt:lpstr>
      <vt:lpstr>Day one — afternoon</vt:lpstr>
      <vt:lpstr>Neurodiversity — clinical view</vt:lpstr>
      <vt:lpstr>Masking and the cost of compensation</vt:lpstr>
      <vt:lpstr>Environment × person</vt:lpstr>
      <vt:lpstr>Clinical challenges (neurodiversity)</vt:lpstr>
      <vt:lpstr>Case Study: "Ousmane"</vt:lpstr>
      <vt:lpstr>Ousmane — overload and contradiction</vt:lpstr>
      <vt:lpstr>Ousmane — ethics, services, shifting account</vt:lpstr>
      <vt:lpstr>Tasks — Ousmane (1)</vt:lpstr>
      <vt:lpstr>Tasks — Ousmane (2)</vt:lpstr>
      <vt:lpstr>Working practically</vt:lpstr>
      <vt:lpstr>Lunch — 1 hour</vt:lpstr>
      <vt:lpstr>DAY TWO  Psychopathology &amp; synthesis</vt:lpstr>
      <vt:lpstr>Day two — opening</vt:lpstr>
      <vt:lpstr>Day two — morning</vt:lpstr>
      <vt:lpstr>Trauma — core understanding</vt:lpstr>
      <vt:lpstr>Trauma presentation and ADHD — overlap</vt:lpstr>
      <vt:lpstr>Dissociation</vt:lpstr>
      <vt:lpstr>Containment before exploration</vt:lpstr>
      <vt:lpstr>Case Study: "Emily"</vt:lpstr>
      <vt:lpstr>Emily — mood, dissociation, inconsistent account</vt:lpstr>
      <vt:lpstr>Emily — risk, services, escalation dilemma</vt:lpstr>
      <vt:lpstr>Emily — stabilisation examples (illustrative)</vt:lpstr>
      <vt:lpstr>Tasks — Emily (1)</vt:lpstr>
      <vt:lpstr>Tasks — Emily (2)</vt:lpstr>
      <vt:lpstr>Neuroplasticity</vt:lpstr>
      <vt:lpstr>Clinical response</vt:lpstr>
      <vt:lpstr>Afternoon break — 20 minutes</vt:lpstr>
      <vt:lpstr>Day two — afternoon</vt:lpstr>
      <vt:lpstr>Risk decisions in practice</vt:lpstr>
      <vt:lpstr>Case Study: "Michael"</vt:lpstr>
      <vt:lpstr>Michael — function, contradiction, private context</vt:lpstr>
      <vt:lpstr>Michael — judgement without certainty</vt:lpstr>
      <vt:lpstr>Tasks — Michael (1)</vt:lpstr>
      <vt:lpstr>Tasks — Michael (2)</vt:lpstr>
      <vt:lpstr>Hold uncertainty while acting</vt:lpstr>
      <vt:lpstr>Supervision as containment</vt:lpstr>
      <vt:lpstr>Integration</vt:lpstr>
      <vt:lpstr>Closing reflection</vt:lpstr>
      <vt:lpstr>Selected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17</cp:revision>
  <dcterms:created xsi:type="dcterms:W3CDTF">2020-02-24T12:13:07Z</dcterms:created>
  <dcterms:modified xsi:type="dcterms:W3CDTF">2026-04-10T09:46:08Z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