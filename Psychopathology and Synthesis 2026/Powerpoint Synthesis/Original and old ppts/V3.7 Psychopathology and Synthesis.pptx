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8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961" autoAdjust="0"/>
  </p:normalViewPr>
  <p:slideViewPr>
    <p:cSldViewPr snapToGrid="0" snapToObjects="1">
      <p:cViewPr varScale="1">
        <p:scale>
          <a:sx n="82" d="100"/>
          <a:sy n="82" d="100"/>
        </p:scale>
        <p:origin x="1572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89E3C-BDF6-495E-999C-2053CD31C59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92CAD-18E0-45A5-9779-C0ED0612B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44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Psychopathology supports communication, formulation, and risk awareness.</a:t>
            </a:r>
          </a:p>
          <a:p>
            <a:r>
              <a:t>Meaning-making is important but does not replace risk assessment.</a:t>
            </a:r>
          </a:p>
          <a:p>
            <a:r>
              <a:t>Clinical work requires holding uncertainty while still making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Risk fluctuates and must be reviewed regularly.</a:t>
            </a:r>
          </a:p>
          <a:p>
            <a:r>
              <a:t>Absence of a plan does not equal absence of risk.</a:t>
            </a:r>
          </a:p>
          <a:p>
            <a:r>
              <a:t>Direct questioning supports clarity and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Pattern suggests avoidance leading to reduced functioning and increased shame.</a:t>
            </a:r>
          </a:p>
          <a:p>
            <a:r>
              <a:t>Anxiety appears social and performance-based with rumination.</a:t>
            </a:r>
          </a:p>
          <a:p>
            <a:r>
              <a:t>Risk is present and requires direct assessment and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thoughts, intent, and access to means.</a:t>
            </a:r>
          </a:p>
          <a:p>
            <a:r>
              <a:t>Identify maintaining cycle (overwhelm → avoidance → shame).</a:t>
            </a:r>
          </a:p>
          <a:p>
            <a:r>
              <a:t>Focus on stabilisation, reducing isolation, and small behavioural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Distress may reflect disconnection between parts of the self.</a:t>
            </a:r>
          </a:p>
          <a:p>
            <a:r>
              <a:t>Containment and stabilisation precede deeper exploration.</a:t>
            </a:r>
          </a:p>
          <a:p>
            <a:r>
              <a:t>Integration is gradual and relational.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Neurodiversity may influence behaviour, emotion regulation, and functioning.</a:t>
            </a:r>
          </a:p>
          <a:p>
            <a:r>
              <a:t>Masking can increase exhaustion and shame.</a:t>
            </a:r>
          </a:p>
          <a:p>
            <a:r>
              <a:t>Context and environment are key to understanding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Formulation can proceed without diagnostic certainty.</a:t>
            </a:r>
          </a:p>
          <a:p>
            <a:r>
              <a:t>Focus on functioning, environment, and client experience.</a:t>
            </a:r>
          </a:p>
          <a:p>
            <a:r>
              <a:t>Avoid over-pathologising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Trauma affects arousal, regulation, and perception.</a:t>
            </a:r>
          </a:p>
          <a:p>
            <a:r>
              <a:t>Dissociation can reduce overwhelm but limit awareness.</a:t>
            </a:r>
          </a:p>
          <a:p>
            <a:r>
              <a:t>Interventions should prioritise safety and stabilisation.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Signs include spacing out, time loss, or emotional numbing.</a:t>
            </a:r>
          </a:p>
          <a:p>
            <a:r>
              <a:t>Recognition is essential for appropriate response.</a:t>
            </a:r>
          </a:p>
          <a:p>
            <a:r>
              <a:t>Grounding supports reorientation.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Neuroplasticity explains both change and persistence of patterns.</a:t>
            </a:r>
          </a:p>
          <a:p>
            <a:r>
              <a:t>Rigid patterns may require gradual modification.</a:t>
            </a:r>
          </a:p>
          <a:p>
            <a:r>
              <a:t>Some interventions are outside counselling scope and medically supervised.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Explore thoughts, intent, means, and protective factors.</a:t>
            </a:r>
          </a:p>
          <a:p>
            <a:r>
              <a:t>Ambivalence can shift rapidly.</a:t>
            </a:r>
          </a:p>
          <a:p>
            <a:r>
              <a:t>Clear documentation supports continuity of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Risk requires active management and possible escalation.</a:t>
            </a:r>
          </a:p>
          <a:p>
            <a:r>
              <a:t>Context and history inform formulation.</a:t>
            </a:r>
          </a:p>
          <a:p>
            <a:r>
              <a:t>Support networks and supervision are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Clinical work requires balancing understanding with action.</a:t>
            </a:r>
          </a:p>
          <a:p>
            <a:r>
              <a:t>Therapist responsibility includes recognising limits and seeking support.</a:t>
            </a:r>
          </a:p>
          <a:p>
            <a:r>
              <a:t>Reflection supports ongoing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767971" y="857250"/>
            <a:ext cx="6376029" cy="30347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504010" y="1470093"/>
            <a:ext cx="5637704" cy="1846771"/>
          </a:xfrm>
        </p:spPr>
        <p:txBody>
          <a:bodyPr anchor="ctr" anchorCtr="0">
            <a:normAutofit/>
          </a:bodyPr>
          <a:lstStyle/>
          <a:p>
            <a:pPr lvl="0"/>
            <a:r>
              <a:rPr lang="en-US" sz="2400" dirty="0"/>
              <a:t>Psychopathology and Synthesis</a:t>
            </a:r>
            <a:endParaRPr lang="en-GB" sz="21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147934" y="3892012"/>
            <a:ext cx="5996066" cy="601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37874" y="4006259"/>
            <a:ext cx="5801195" cy="397764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APRIL 2026 – </a:t>
            </a:r>
            <a:r>
              <a:rPr lang="en-US" sz="2000" b="1" i="1" dirty="0">
                <a:solidFill>
                  <a:schemeClr val="bg1"/>
                </a:solidFill>
              </a:rPr>
              <a:t>v3.7</a:t>
            </a:r>
            <a:endParaRPr lang="en-GB" b="1" i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646" y="4663401"/>
            <a:ext cx="4362137" cy="11678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857250"/>
            <a:ext cx="3429001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2BD19-4DF7-5F94-5E2F-8CA3F3DF6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doing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Psychopathology as a working language</a:t>
            </a:r>
          </a:p>
          <a:p>
            <a:r>
              <a:t>Balancing meaning with safety</a:t>
            </a:r>
          </a:p>
          <a:p>
            <a:r>
              <a:t>Working with uncertainty and complexity</a:t>
            </a:r>
          </a:p>
          <a:p>
            <a:r>
              <a:t>Psychosynthesis as a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t>Risk – key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t>Risk is dynamic and relational</a:t>
            </a:r>
          </a:p>
          <a:p>
            <a:r>
              <a:t>Intensity ≠ level of danger</a:t>
            </a:r>
          </a:p>
          <a:p>
            <a:r>
              <a:t>Quiet risk is often missed</a:t>
            </a:r>
          </a:p>
          <a:p>
            <a:r>
              <a:t>Direct enquiry is essential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“Leah”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Repeated work breakdown linked to overwhelm and anxiety</a:t>
            </a:r>
          </a:p>
          <a:p>
            <a:r>
              <a:t>Increasing withdrawal, low mood, and persistent shame</a:t>
            </a:r>
          </a:p>
          <a:p>
            <a:r>
              <a:t>Emerging risk: passive death wishes and proximity to means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Task: “Leah” – First Two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Assessment priorities and immediate risks</a:t>
            </a:r>
          </a:p>
          <a:p>
            <a:r>
              <a:t>Initial formulation (mood, anxiety, context, ND question)</a:t>
            </a:r>
          </a:p>
          <a:p>
            <a:r>
              <a:t>Plan for sessions 1–2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t>Psychosynthesis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t>Fragmentation and disidentification</a:t>
            </a:r>
          </a:p>
          <a:p>
            <a:r>
              <a:t>Parts and subpersonalities</a:t>
            </a:r>
          </a:p>
          <a:p>
            <a:r>
              <a:t>Need for containment</a:t>
            </a:r>
          </a:p>
          <a:p>
            <a:r>
              <a:t>Integration over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 – 20 MINUTES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87756-32F5-1255-2BEB-30A3A641E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PM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BBB6A-4A35-37C5-F921-2F204D757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Difference in processing and regulation</a:t>
            </a:r>
          </a:p>
          <a:p>
            <a:r>
              <a:t>Masking and adaptation</a:t>
            </a:r>
          </a:p>
          <a:p>
            <a:r>
              <a:t>Overlap with trauma and stress</a:t>
            </a:r>
          </a:p>
          <a:p>
            <a:r>
              <a:t>Context shapes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discussion – neurodiversity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Distinguishing difference from disorder</a:t>
            </a:r>
          </a:p>
          <a:p>
            <a:r>
              <a:t>Identifying support needs</a:t>
            </a:r>
          </a:p>
          <a:p>
            <a:r>
              <a:t>Understanding shame and misinterpretation</a:t>
            </a:r>
          </a:p>
          <a:p>
            <a:r>
              <a:t>Working without fixed labels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LUNCH – 1 HOUR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C8F6C-D026-2D75-67C0-7E197EA79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5F58D-4DB3-1EEA-7ECC-BDD042964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t>Trauma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t>Stored in body and nervous system</a:t>
            </a:r>
          </a:p>
          <a:p>
            <a:r>
              <a:t>Window of tolerance</a:t>
            </a:r>
          </a:p>
          <a:p>
            <a:r>
              <a:t>Dissociation as protection</a:t>
            </a:r>
          </a:p>
          <a:p>
            <a:r>
              <a:t>Pacing is essential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t>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t>Loss of continuity or presence</a:t>
            </a:r>
          </a:p>
          <a:p>
            <a:r>
              <a:t>Can be subtle or overt</a:t>
            </a:r>
          </a:p>
          <a:p>
            <a:r>
              <a:t>Often missed clinically</a:t>
            </a:r>
          </a:p>
          <a:p>
            <a:r>
              <a:t>Requires grounding and pacing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Neuroplasticity, Trauma &amp; Psychedelics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Patterns reinforced through repetition</a:t>
            </a:r>
          </a:p>
          <a:p>
            <a:r>
              <a:t>Trauma can create rigid responses</a:t>
            </a:r>
          </a:p>
          <a:p>
            <a:r>
              <a:t>Flexibility can support change</a:t>
            </a:r>
          </a:p>
          <a:p>
            <a:r>
              <a:t>Specialist interventions exist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 – 20 MINUTES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F3D6D-F8F0-9854-B878-91B9C0D80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PM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AB43F-6F58-69BB-3684-A9F7B668A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t>Suicide and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t>Direct enquiry is necessary</a:t>
            </a:r>
          </a:p>
          <a:p>
            <a:r>
              <a:t>Ambivalence is common</a:t>
            </a:r>
          </a:p>
          <a:p>
            <a:r>
              <a:t>Risk can escalate quickly</a:t>
            </a:r>
          </a:p>
          <a:p>
            <a:r>
              <a:t>Documentation and supervision are essential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t>Case Study: “David”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t>High stress and overwhelm</a:t>
            </a:r>
          </a:p>
          <a:p>
            <a:r>
              <a:t>Emerging risk behaviours</a:t>
            </a:r>
          </a:p>
          <a:p>
            <a:r>
              <a:t>History influencing current state</a:t>
            </a:r>
          </a:p>
          <a:p>
            <a:r>
              <a:t>Unclear but present risk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t>Balancing meaning and risk</a:t>
            </a:r>
          </a:p>
          <a:p>
            <a:r>
              <a:t>Working within limits</a:t>
            </a:r>
          </a:p>
          <a:p>
            <a:r>
              <a:t>Clear next steps</a:t>
            </a:r>
          </a:p>
          <a:p>
            <a:r>
              <a:t>Ongoing reflection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629</Words>
  <Application>Microsoft Office PowerPoint</Application>
  <PresentationFormat>On-screen Show (4:3)</PresentationFormat>
  <Paragraphs>112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Psychopathology and Synthesis</vt:lpstr>
      <vt:lpstr>DAY 1 – AM</vt:lpstr>
      <vt:lpstr>What we are doing</vt:lpstr>
      <vt:lpstr>Risk – key principles</vt:lpstr>
      <vt:lpstr>Case Study: “Leah”</vt:lpstr>
      <vt:lpstr>Task: “Leah” – First Two Sessions</vt:lpstr>
      <vt:lpstr>Psychosynthesis perspective</vt:lpstr>
      <vt:lpstr>BREAK – 20 MINUTES</vt:lpstr>
      <vt:lpstr>DAY 1 – PM</vt:lpstr>
      <vt:lpstr>Neurodiversity</vt:lpstr>
      <vt:lpstr>Case discussion – neurodiversity</vt:lpstr>
      <vt:lpstr>LUNCH – 1 HOUR</vt:lpstr>
      <vt:lpstr>DAY 2 – AM</vt:lpstr>
      <vt:lpstr>Trauma</vt:lpstr>
      <vt:lpstr>Dissociation</vt:lpstr>
      <vt:lpstr>Neuroplasticity, Trauma &amp; Psychedelics</vt:lpstr>
      <vt:lpstr>BREAK – 20 MINUTES</vt:lpstr>
      <vt:lpstr>DAY 2 – PM</vt:lpstr>
      <vt:lpstr>Suicide and risk</vt:lpstr>
      <vt:lpstr>Case Study: “David”</vt:lpstr>
      <vt:lpstr>Integration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Mike Bryant</cp:lastModifiedBy>
  <cp:revision>3</cp:revision>
  <dcterms:created xsi:type="dcterms:W3CDTF">2013-01-27T09:14:16Z</dcterms:created>
  <dcterms:modified xsi:type="dcterms:W3CDTF">2026-04-08T08:00:50Z</dcterms:modified>
  <cp:category/>
</cp:coreProperties>
</file>