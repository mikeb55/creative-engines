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387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418" r:id="rId34"/>
    <p:sldId id="419" r:id="rId35"/>
    <p:sldId id="420" r:id="rId36"/>
    <p:sldId id="421" r:id="rId37"/>
    <p:sldId id="422" r:id="rId3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208" autoAdjust="0"/>
  </p:normalViewPr>
  <p:slideViewPr>
    <p:cSldViewPr snapToGrid="0">
      <p:cViewPr varScale="1">
        <p:scale>
          <a:sx n="78" d="100"/>
          <a:sy n="78" d="100"/>
        </p:scale>
        <p:origin x="183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026" y="1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6" y="4474399"/>
            <a:ext cx="5607368" cy="3660150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755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026" y="8829755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 clearly: most of you are anxious about getting this wrong – that is normal.</a:t>
            </a:r>
          </a:p>
          <a:p>
            <a:r>
              <a:rPr dirty="0"/>
              <a:t>Say: you are not here to diagnose – you are here to think and respond.</a:t>
            </a:r>
          </a:p>
          <a:p>
            <a:r>
              <a:rPr dirty="0"/>
              <a:t>Reinforce: uncertainty is part of clinical work, not failure.</a:t>
            </a:r>
          </a:p>
          <a:p>
            <a:r>
              <a:rPr dirty="0"/>
              <a:t>Set expectation: we will sit in not knowing and still make decisions.</a:t>
            </a:r>
          </a:p>
          <a:p>
            <a:r>
              <a:rPr dirty="0"/>
              <a:t>Keep tone grounded – avoid abstract language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concrete example: writing to a GP or speaking in supervision.</a:t>
            </a:r>
          </a:p>
          <a:p>
            <a:r>
              <a:t>Say: diagnosis is a tool – not a truth about the person.</a:t>
            </a:r>
          </a:p>
          <a:p>
            <a:r>
              <a:t>Highlight tension: over-pathologising vs rejecting diagnosis entirely.</a:t>
            </a:r>
          </a:p>
          <a:p>
            <a:r>
              <a:t>Bring it back to responsibility – this is about communicating risk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two clear contrasting examples (loud vs quiet risk).</a:t>
            </a:r>
          </a:p>
          <a:p>
            <a:r>
              <a:t>Say: the loudest client is not always the most dangerous.</a:t>
            </a:r>
          </a:p>
          <a:p>
            <a:r>
              <a:t>Name avoidance directly – students will recognise themselves.</a:t>
            </a:r>
          </a:p>
          <a:p>
            <a:r>
              <a:t>Say: avoiding the question increases risk, it does not reduce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slowly and deliberately.</a:t>
            </a:r>
          </a:p>
          <a:p>
            <a:r>
              <a:t>Do not interpret or reassure.</a:t>
            </a:r>
          </a:p>
          <a:p>
            <a:r>
              <a:t>Watch for rescuing responses from the group.</a:t>
            </a:r>
          </a:p>
          <a:p>
            <a:r>
              <a:t>Let the discomfort sit – do not move too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for concrete answers – not theory.</a:t>
            </a:r>
          </a:p>
          <a:p>
            <a:r>
              <a:t>Separate meaning-making from risk management.</a:t>
            </a:r>
          </a:p>
          <a:p>
            <a:r>
              <a:t>Challenge reassurance and avoidance.</a:t>
            </a:r>
          </a:p>
          <a:p>
            <a:r>
              <a:t>Keep bringing them back to: what would you actually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https://www.youtube.com/watch?v=syjEN3peCJw (0:00–6:30)</a:t>
            </a:r>
          </a:p>
          <a:p>
            <a:r>
              <a:t>Explain: this reframes voices as meaningful, not random pathology.</a:t>
            </a:r>
          </a:p>
          <a:p>
            <a:r>
              <a:t>After:</a:t>
            </a:r>
          </a:p>
          <a:p>
            <a:r>
              <a:t>- What assumptions did you make earlier?</a:t>
            </a:r>
          </a:p>
          <a:p>
            <a:r>
              <a:t>- What changed?</a:t>
            </a:r>
          </a:p>
          <a:p>
            <a:r>
              <a:t>Link directly back to Terri: meaning does not remove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Nelson (Healing the Split) briefly.</a:t>
            </a:r>
          </a:p>
          <a:p>
            <a:r>
              <a:t>Say: this is meaningful, but not necessarily safe.</a:t>
            </a:r>
          </a:p>
          <a:p>
            <a:r>
              <a:t>Explicitly warn against romanticising breakdown.</a:t>
            </a:r>
          </a:p>
          <a:p>
            <a:r>
              <a:t>Anchor everything in containment and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functioning does not mean coping.</a:t>
            </a:r>
          </a:p>
          <a:p>
            <a:r>
              <a:t>Challenge deficit assumptions directly.</a:t>
            </a:r>
          </a:p>
          <a:p>
            <a:r>
              <a:t>Give real examples – lateness, shutdown, overwhelm.</a:t>
            </a:r>
          </a:p>
          <a:p>
            <a:r>
              <a:t>Keep it grounded in what you see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https://www.youtube.com/watch?v=RbwRrVw-CRo (2:00–6:00)</a:t>
            </a:r>
          </a:p>
          <a:p>
            <a:r>
              <a:t>Explain: this is what you do NOT see clinically.</a:t>
            </a:r>
          </a:p>
          <a:p>
            <a:r>
              <a:t>After:</a:t>
            </a:r>
          </a:p>
          <a:p>
            <a:r>
              <a:t>- What would you misread?</a:t>
            </a:r>
          </a:p>
          <a:p>
            <a:r>
              <a:t>- Where might shame sit?</a:t>
            </a:r>
          </a:p>
          <a:p>
            <a:r>
              <a:t>Link straight into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let them jump to ADHD label immediately.</a:t>
            </a:r>
          </a:p>
          <a:p>
            <a:r>
              <a:t>Bring in context – poverty, stress, parenting.</a:t>
            </a:r>
          </a:p>
          <a:p>
            <a:r>
              <a:t>Highlight shame as central, not secondary.</a:t>
            </a:r>
          </a:p>
          <a:p>
            <a:r>
              <a:t>Hold ambiguity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beyond labels.</a:t>
            </a:r>
          </a:p>
          <a:p>
            <a:r>
              <a:t>Encourage disagreement in the room.</a:t>
            </a:r>
          </a:p>
          <a:p>
            <a:r>
              <a:t>Say: what would help this client THIS WEEK?</a:t>
            </a:r>
          </a:p>
          <a:p>
            <a:r>
              <a:t>Keep it practical – not conceptual.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difference does not equal pathology.</a:t>
            </a:r>
          </a:p>
          <a:p>
            <a:r>
              <a:t>Link to psychosynthesis – multiplicity and parts.</a:t>
            </a:r>
          </a:p>
          <a:p>
            <a:r>
              <a:t>Balance with risk – do not romanticise.</a:t>
            </a:r>
          </a:p>
          <a:p>
            <a:r>
              <a:t>Keep tone grounded, not ideological.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language simple and embodied.</a:t>
            </a:r>
          </a:p>
          <a:p>
            <a:r>
              <a:t>Say: not everything should be opened.</a:t>
            </a:r>
          </a:p>
          <a:p>
            <a:r>
              <a:t>Use relatable examples (shutdown, overwhelm).</a:t>
            </a:r>
          </a:p>
          <a:p>
            <a:r>
              <a:t>Emphasise pacing over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tension build.</a:t>
            </a:r>
          </a:p>
          <a:p>
            <a:r>
              <a:t>Do not interpret too quickly.</a:t>
            </a:r>
          </a:p>
          <a:p>
            <a:r>
              <a:t>Watch anxiety in the room.</a:t>
            </a:r>
          </a:p>
          <a:p>
            <a:r>
              <a:t>Stay grounded – do not rescue.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Force decisions.</a:t>
            </a:r>
          </a:p>
          <a:p>
            <a:r>
              <a:t>Reject vague answers.</a:t>
            </a:r>
          </a:p>
          <a:p>
            <a:r>
              <a:t>Say: you have to choose.</a:t>
            </a:r>
          </a:p>
          <a:p>
            <a:r>
              <a:t>Highlight responsibility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https://www.youtube.com/watch?v=ZV1-BMQEgG4 (1:30–6:00)</a:t>
            </a:r>
          </a:p>
          <a:p>
            <a:r>
              <a:t>Explain: helps you recognise what is often missed.</a:t>
            </a:r>
          </a:p>
          <a:p>
            <a:r>
              <a:t>After:</a:t>
            </a:r>
          </a:p>
          <a:p>
            <a:r>
              <a:t>- What would you notice now?</a:t>
            </a:r>
          </a:p>
          <a:p>
            <a:r>
              <a:t>- What did you miss earlier?</a:t>
            </a:r>
          </a:p>
          <a:p>
            <a:r>
              <a:t>Link back to Emily.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therapy works through repetition and relationship over time.</a:t>
            </a:r>
          </a:p>
          <a:p>
            <a:r>
              <a:t>Say: trauma patterns can become deeply reinforced.</a:t>
            </a:r>
          </a:p>
          <a:p>
            <a:r>
              <a:t>Say: more flexibility can also mean instability.</a:t>
            </a:r>
          </a:p>
          <a:p>
            <a:r>
              <a:t>Introduce psychedelics as emerging research – NOT practice.</a:t>
            </a:r>
          </a:p>
          <a:p>
            <a:r>
              <a:t>Say clearly: this is not something you offer as a counsellor.</a:t>
            </a:r>
          </a:p>
          <a:p>
            <a:r>
              <a:t>Do NOT present as solution.</a:t>
            </a:r>
          </a:p>
          <a:p>
            <a:r>
              <a:t>Do NOT invite debate.</a:t>
            </a:r>
          </a:p>
          <a:p>
            <a:r>
              <a:t>Return to: our work = containment, pacing,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Drop this mid-discussion.</a:t>
            </a:r>
          </a:p>
          <a:p>
            <a:r>
              <a:t>Watch shift in thinking.</a:t>
            </a:r>
          </a:p>
          <a:p>
            <a:r>
              <a:t>Push re-evaluation.</a:t>
            </a:r>
          </a:p>
          <a:p>
            <a:r>
              <a:t>Highlight escalation and increased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https://www.youtube.com/@hearingvoicesnetworkengland (3–5 min clip)</a:t>
            </a:r>
          </a:p>
          <a:p>
            <a:r>
              <a:t>Explain: voices can be meaningful AND distressing.</a:t>
            </a:r>
          </a:p>
          <a:p>
            <a:r>
              <a:t>After:</a:t>
            </a:r>
          </a:p>
          <a:p>
            <a:r>
              <a:t>- What feels meaningful?</a:t>
            </a:r>
          </a:p>
          <a:p>
            <a:r>
              <a:t>- What concerns you?</a:t>
            </a:r>
          </a:p>
          <a:p>
            <a:r>
              <a:t>Hold both sides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Play: https://www.youtube.com/watch?v=-3jLiU1FgiQ</a:t>
            </a:r>
          </a:p>
          <a:p>
            <a:r>
              <a:t>Explain: this models how to ask clearly.</a:t>
            </a:r>
          </a:p>
          <a:p>
            <a:r>
              <a:t>After:</a:t>
            </a:r>
          </a:p>
          <a:p>
            <a:r>
              <a:t>- What language stood out?</a:t>
            </a:r>
          </a:p>
          <a:p>
            <a:r>
              <a:t>- What might you avoid saying?</a:t>
            </a:r>
          </a:p>
          <a:p>
            <a:r>
              <a:t>Shift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dilemma land fully.</a:t>
            </a:r>
          </a:p>
          <a:p>
            <a:r>
              <a:t>Do not resolve quickly.</a:t>
            </a:r>
          </a:p>
          <a:p>
            <a:r>
              <a:t>Hold silence if needed.</a:t>
            </a:r>
          </a:p>
          <a:p>
            <a:r>
              <a:t>This should feel uncomfortable.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for concrete steps.</a:t>
            </a:r>
          </a:p>
          <a:p>
            <a:r>
              <a:t>Say: what would you do after session TODAY?</a:t>
            </a:r>
          </a:p>
          <a:p>
            <a:r>
              <a:t>Highlight supervision as essential.</a:t>
            </a:r>
          </a:p>
          <a:p>
            <a:r>
              <a:t>Reject vague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gently.</a:t>
            </a:r>
          </a:p>
          <a:p>
            <a:r>
              <a:t>Encourage empathy.</a:t>
            </a:r>
          </a:p>
          <a:p>
            <a:r>
              <a:t>Observe what they notice first.</a:t>
            </a:r>
          </a:p>
          <a:p>
            <a:r>
              <a:t>Avoid early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Increase complexity.</a:t>
            </a:r>
          </a:p>
          <a:p>
            <a:r>
              <a:t>Ask: what has changed?</a:t>
            </a:r>
          </a:p>
          <a:p>
            <a:r>
              <a:t>Encourage formulation thinking.</a:t>
            </a:r>
          </a:p>
          <a:p>
            <a:r>
              <a:t>Hold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now you have to decide.</a:t>
            </a:r>
          </a:p>
          <a:p>
            <a:r>
              <a:t>Do not rescue them.</a:t>
            </a:r>
          </a:p>
          <a:p>
            <a:r>
              <a:t>Push responsibility.</a:t>
            </a:r>
          </a:p>
          <a:p>
            <a:r>
              <a:t>Hold discomfort.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Bring entire weekend together.</a:t>
            </a:r>
          </a:p>
          <a:p>
            <a:r>
              <a:t>Say: this is the work.</a:t>
            </a:r>
          </a:p>
          <a:p>
            <a:r>
              <a:t>Highlight responsibility and limits.</a:t>
            </a:r>
          </a:p>
          <a:p>
            <a:r>
              <a:t>End with reflection – do not rush.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r>
              <a:rPr lang="en-US" sz="4400" dirty="0"/>
              <a:t>Psychopathology and Synthesis</a:t>
            </a:r>
            <a:br>
              <a:rPr lang="en-US" sz="4400" dirty="0"/>
            </a:br>
            <a:endParaRPr lang="en-GB" sz="44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April 2026 - </a:t>
            </a:r>
            <a:r>
              <a:rPr lang="en-US" sz="1400" i="1" dirty="0"/>
              <a:t>V3.6</a:t>
            </a:r>
            <a:endParaRPr lang="en-GB" b="1" i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 this weekend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Psychopathology as thinking tool – not identity</a:t>
            </a:r>
          </a:p>
          <a:p>
            <a:r>
              <a:rPr dirty="0"/>
              <a:t>Working with risk, complexity and uncertainty</a:t>
            </a:r>
          </a:p>
          <a:p>
            <a:r>
              <a:rPr dirty="0"/>
              <a:t>Holding meaning without losing safety</a:t>
            </a:r>
          </a:p>
          <a:p>
            <a:r>
              <a:rPr dirty="0"/>
              <a:t>Psychosynthesis as a clinical—not </a:t>
            </a:r>
            <a:r>
              <a:rPr dirty="0" err="1"/>
              <a:t>idealised</a:t>
            </a:r>
            <a:r>
              <a:rPr dirty="0"/>
              <a:t>—framework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Psychopathology – working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Shared clinical language across systems </a:t>
            </a:r>
            <a:br>
              <a:rPr dirty="0"/>
            </a:br>
            <a:r>
              <a:rPr dirty="0"/>
              <a:t>(e.g., GP / psychiatry / crisis teams)</a:t>
            </a:r>
          </a:p>
          <a:p>
            <a:r>
              <a:rPr dirty="0"/>
              <a:t>Describes patterns – does not define the person</a:t>
            </a:r>
          </a:p>
          <a:p>
            <a:r>
              <a:rPr dirty="0"/>
              <a:t>Supports risk assessment, formulation and referral</a:t>
            </a:r>
          </a:p>
          <a:p>
            <a:r>
              <a:rPr dirty="0"/>
              <a:t>Always partial – never the whole story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– what trainees often get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Confusing intensity of emotion with actual danger</a:t>
            </a:r>
          </a:p>
          <a:p>
            <a:r>
              <a:rPr dirty="0"/>
              <a:t>Missing quieter, more contained forms of risk</a:t>
            </a:r>
          </a:p>
          <a:p>
            <a:r>
              <a:rPr dirty="0"/>
              <a:t>Over-</a:t>
            </a:r>
            <a:r>
              <a:rPr dirty="0" err="1"/>
              <a:t>pathologising</a:t>
            </a:r>
            <a:r>
              <a:rPr dirty="0"/>
              <a:t> unusual but non-risky experience</a:t>
            </a:r>
          </a:p>
          <a:p>
            <a:r>
              <a:rPr dirty="0"/>
              <a:t>Avoiding direct questions about suicide or harm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Postpartum period – increasing confusion and distress</a:t>
            </a:r>
          </a:p>
          <a:p>
            <a:r>
              <a:rPr dirty="0"/>
              <a:t>Reports baby feels unreal and not hers</a:t>
            </a:r>
          </a:p>
          <a:p>
            <a:r>
              <a:rPr dirty="0"/>
              <a:t>Severe sleep deprivation over several days</a:t>
            </a:r>
          </a:p>
          <a:p>
            <a:r>
              <a:rPr dirty="0"/>
              <a:t>Fear she may harm the child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 psychologically?</a:t>
            </a:r>
          </a:p>
          <a:p>
            <a:r>
              <a:t>What concerns you clinically right now?</a:t>
            </a:r>
          </a:p>
          <a:p>
            <a:r>
              <a:t>What would you do in your first session?</a:t>
            </a:r>
          </a:p>
          <a:p>
            <a:r>
              <a:t>What would you avoid doing?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Longden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Lived experience of voices</a:t>
            </a:r>
          </a:p>
          <a:p>
            <a:r>
              <a:t>Meaning and distress co-exist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Psychosynthesis – the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 or loosening of self-boundaries</a:t>
            </a:r>
          </a:p>
          <a:p>
            <a:r>
              <a:t>Overwhelming material entering awareness</a:t>
            </a:r>
          </a:p>
          <a:p>
            <a:r>
              <a:t>Loss of integration ≠ loss of meaning</a:t>
            </a:r>
          </a:p>
          <a:p>
            <a:r>
              <a:t>Containment before exploration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– advanced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Autism / ADHD as differences in processing and regulation</a:t>
            </a:r>
          </a:p>
          <a:p>
            <a:r>
              <a:t>Masking as adaptive survival strategy</a:t>
            </a:r>
          </a:p>
          <a:p>
            <a:r>
              <a:t>Sensory overwhelm as real physiological experience</a:t>
            </a:r>
          </a:p>
          <a:p>
            <a:r>
              <a:t>Overlap with trauma, attachment and stress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Autism lived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experience is often invisible</a:t>
            </a:r>
          </a:p>
          <a:p>
            <a:r>
              <a:t>Masking and overload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Case Study: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Chronic disorganisation and missed appointments</a:t>
            </a:r>
          </a:p>
          <a:p>
            <a:r>
              <a:t>Executive dysfunction and task paralysis</a:t>
            </a:r>
          </a:p>
          <a:p>
            <a:r>
              <a:t>Financial stress and housing risk</a:t>
            </a:r>
          </a:p>
          <a:p>
            <a:r>
              <a:t>High shame and self-criticism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might be misread as pathology?</a:t>
            </a:r>
          </a:p>
          <a:p>
            <a:r>
              <a:t>What might be adaptive or protective?</a:t>
            </a:r>
          </a:p>
          <a:p>
            <a:r>
              <a:t>What are the real risks?</a:t>
            </a:r>
          </a:p>
          <a:p>
            <a:r>
              <a:t>What would actually help?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Nick Walker – Neurodiversity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Autistic therapist and writer</a:t>
            </a:r>
          </a:p>
          <a:p>
            <a:r>
              <a:t>Key figure in neurodiversity paradigm</a:t>
            </a:r>
          </a:p>
          <a:p>
            <a:r>
              <a:t>Frames autism as difference, not disorder</a:t>
            </a:r>
          </a:p>
          <a:p>
            <a:r>
              <a:t>Challenges deficit-based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LUNCH – 1 HOUR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and the nervous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Trauma is held in the body, not just memory</a:t>
            </a:r>
          </a:p>
          <a:p>
            <a:r>
              <a:t>Window of tolerance: hyper / hypo arousal</a:t>
            </a:r>
          </a:p>
          <a:p>
            <a:r>
              <a:t>Dissociation as protective response</a:t>
            </a:r>
          </a:p>
          <a:p>
            <a:r>
              <a:t>Therapy can destabilise if poorly timed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Scenario: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Self-harm and dissociation increasing</a:t>
            </a:r>
          </a:p>
          <a:p>
            <a:r>
              <a:t>Reports losing time in sessions</a:t>
            </a:r>
          </a:p>
          <a:p>
            <a:r>
              <a:t>Academic + family pressure escalating</a:t>
            </a:r>
          </a:p>
          <a:p>
            <a:r>
              <a:t>Ambivalent about therapy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concerns you most right now?</a:t>
            </a:r>
          </a:p>
          <a:p>
            <a:r>
              <a:t>What would you prioritise next session?</a:t>
            </a:r>
          </a:p>
          <a:p>
            <a:r>
              <a:t>Do you escalate or continue?</a:t>
            </a:r>
          </a:p>
          <a:p>
            <a:r>
              <a:t>What are the risks if you get this wrong?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First-person description</a:t>
            </a:r>
          </a:p>
          <a:p>
            <a:r>
              <a:t>Subtle clinical signs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Neuroplasticity, Trauma &amp; Psychedelics (Context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Brains change through repetition (plasticity)</a:t>
            </a:r>
          </a:p>
          <a:p>
            <a:r>
              <a:t>Trauma can reinforce rigid patterns</a:t>
            </a:r>
          </a:p>
          <a:p>
            <a:r>
              <a:t>More plasticity is not always helpful</a:t>
            </a:r>
          </a:p>
          <a:p>
            <a:r>
              <a:t>Psychedelics may increase flexibility</a:t>
            </a:r>
          </a:p>
          <a:p>
            <a:r>
              <a:t>Outside counsellor scope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INFORMATION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last session</a:t>
            </a:r>
          </a:p>
          <a:p>
            <a:r>
              <a:t>Dissociation lasting hours</a:t>
            </a:r>
          </a:p>
          <a:p>
            <a:r>
              <a:t>Increasing isolation</a:t>
            </a:r>
          </a:p>
          <a:p>
            <a:r>
              <a:t>Reports not trusting herself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Hearing Voices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and distress together</a:t>
            </a:r>
          </a:p>
          <a:p>
            <a:r>
              <a:t>Ambiguity of experience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Suicide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questioning</a:t>
            </a:r>
          </a:p>
          <a:p>
            <a:r>
              <a:t>Calm, grounded tone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Severe anxiety following promotion</a:t>
            </a:r>
          </a:p>
          <a:p>
            <a:r>
              <a:t>Stockpiling medication</a:t>
            </a:r>
          </a:p>
          <a:p>
            <a:r>
              <a:t>History of trauma</a:t>
            </a:r>
          </a:p>
          <a:p>
            <a:r>
              <a:t>Feels trapped and overwhelmed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you continue or escalate?</a:t>
            </a:r>
          </a:p>
          <a:p>
            <a:r>
              <a:t>What immediate action is required?</a:t>
            </a:r>
          </a:p>
          <a:p>
            <a:r>
              <a:t>What would you document?</a:t>
            </a:r>
          </a:p>
          <a:p>
            <a:r>
              <a:t>What support would you seek?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Case Study: ‘Michael’ – Stage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Grief and isolation</a:t>
            </a:r>
          </a:p>
          <a:p>
            <a:r>
              <a:t>Possible neurodivergence</a:t>
            </a:r>
          </a:p>
          <a:p>
            <a:r>
              <a:t>Relational distance</a:t>
            </a:r>
          </a:p>
          <a:p>
            <a:r>
              <a:t>Difficulty expressing emotion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withdrawal</a:t>
            </a:r>
          </a:p>
          <a:p>
            <a:r>
              <a:t>Family conflict</a:t>
            </a:r>
          </a:p>
          <a:p>
            <a:r>
              <a:t>Rigid patterns</a:t>
            </a:r>
          </a:p>
          <a:p>
            <a:r>
              <a:t>Decline in functioning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Refuses external support</a:t>
            </a:r>
          </a:p>
          <a:p>
            <a:r>
              <a:t>Safeguarding concerns</a:t>
            </a:r>
          </a:p>
          <a:p>
            <a:r>
              <a:t>Therapist feels pressure</a:t>
            </a:r>
          </a:p>
          <a:p>
            <a:r>
              <a:t>Risk unclear but present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your role?</a:t>
            </a:r>
          </a:p>
          <a:p>
            <a:r>
              <a:t>Where are your limits?</a:t>
            </a:r>
          </a:p>
          <a:p>
            <a:r>
              <a:t>What is the next step?</a:t>
            </a:r>
          </a:p>
          <a:p>
            <a:r>
              <a:t>How do you hold meaning AND risk?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6904e643-86ad-4f5e-a7f4-4b2e1f854ed1"/>
    <ds:schemaRef ds:uri="http://schemas.microsoft.com/office/2006/metadata/properties"/>
    <ds:schemaRef ds:uri="http://schemas.openxmlformats.org/package/2006/metadata/core-properties"/>
    <ds:schemaRef ds:uri="a1fa2a2e-ccb8-4b97-81d1-52fad927bd6d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1573</Words>
  <Application>Microsoft Office PowerPoint</Application>
  <PresentationFormat>Widescreen</PresentationFormat>
  <Paragraphs>250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Psychopathology and Synthesis </vt:lpstr>
      <vt:lpstr>DAY 1 – AM</vt:lpstr>
      <vt:lpstr>What we are doing this weekend</vt:lpstr>
      <vt:lpstr>Psychopathology – working definition</vt:lpstr>
      <vt:lpstr>Risk – what trainees often get wrong</vt:lpstr>
      <vt:lpstr>Risk Case Study: ‘Terri’</vt:lpstr>
      <vt:lpstr>Task – ‘Terri’</vt:lpstr>
      <vt:lpstr>VIDEO – Longden</vt:lpstr>
      <vt:lpstr>Psychosynthesis – the split</vt:lpstr>
      <vt:lpstr>BREAK – 20 MINUTES</vt:lpstr>
      <vt:lpstr>DAY 1 – PM</vt:lpstr>
      <vt:lpstr>Neurodiversity – advanced framing</vt:lpstr>
      <vt:lpstr>VIDEO – Autism lived experience</vt:lpstr>
      <vt:lpstr>Neurodiversity Case Study: ‘Ousmane’</vt:lpstr>
      <vt:lpstr>Task – ‘Ousmane’</vt:lpstr>
      <vt:lpstr>Nick Walker – Neurodiversity</vt:lpstr>
      <vt:lpstr>LUNCH – 1 HOUR</vt:lpstr>
      <vt:lpstr>DAY 2 – AM</vt:lpstr>
      <vt:lpstr>Trauma and the nervous system</vt:lpstr>
      <vt:lpstr>Trauma Scenario: ‘Emily’</vt:lpstr>
      <vt:lpstr>Task – ‘Emily’</vt:lpstr>
      <vt:lpstr>VIDEO – Dissociation</vt:lpstr>
      <vt:lpstr>Neuroplasticity, Trauma &amp; Psychedelics (Context Only)</vt:lpstr>
      <vt:lpstr>NEW INFORMATION – ‘Emily’</vt:lpstr>
      <vt:lpstr>BREAK – 20 MINUTES</vt:lpstr>
      <vt:lpstr>DAY 2 – PM</vt:lpstr>
      <vt:lpstr>VIDEO – Hearing Voices</vt:lpstr>
      <vt:lpstr>VIDEO – Suicide conversation</vt:lpstr>
      <vt:lpstr>Risk Case Study: ‘David’</vt:lpstr>
      <vt:lpstr>Task – ‘David’</vt:lpstr>
      <vt:lpstr>Integration Case Study: ‘Michael’ – Stage 1</vt:lpstr>
      <vt:lpstr>Stage 2 – ‘Michael’</vt:lpstr>
      <vt:lpstr>Stage 3 – ‘Michael’</vt:lpstr>
      <vt:lpstr>Final Integration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17</cp:revision>
  <cp:lastPrinted>2026-04-07T18:00:04Z</cp:lastPrinted>
  <dcterms:created xsi:type="dcterms:W3CDTF">2020-02-24T12:13:07Z</dcterms:created>
  <dcterms:modified xsi:type="dcterms:W3CDTF">2026-04-08T06:25:20Z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